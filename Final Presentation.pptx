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9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BA33B5-1111-431E-95E6-1CD0EC93978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47BB2-36F8-44AE-B524-EA39334F6C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906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AB89D-57C3-4E72-B309-F3497A4DE701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26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41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E6D01-CC9E-46A0-BA2B-3BDD6F9E96A3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79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EC22-26CF-4980-836F-5A832F42D43A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379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2D8C-D7CA-4D24-840B-6108995923DC}" type="datetime1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641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C69B9-81AF-4D6F-9B89-AD543E69A99F}" type="datetime1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84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97DA5-715C-472F-A49F-FFBCB32E9725}" type="datetime1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457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163C0-6A53-46B2-B924-0F90AACA1367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46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75CE9-64D9-4AF6-B2A8-CEAE19C2F2C6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620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82134-595F-452E-B7C5-AD73B8A84D48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743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F26DA-1DDA-4076-89A5-57BC415E51EE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62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FE1BC6-1B75-4BF5-8267-724BE6A69557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306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501D6-15DB-25FD-3CF5-1ABEBAC7A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7417" y="136525"/>
            <a:ext cx="10557165" cy="2387600"/>
          </a:xfrm>
        </p:spPr>
        <p:txBody>
          <a:bodyPr>
            <a:normAutofit/>
          </a:bodyPr>
          <a:lstStyle/>
          <a:p>
            <a:r>
              <a:rPr 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Strengthening Privacy in Federated Learning via Key-Switchable Homomorphic Encryption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FCC0A5-DCB8-9C46-C746-6982BCD5D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Mohamad Ibrahim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</a:t>
            </a:r>
          </a:p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Dr. Khalil Haris</a:t>
            </a:r>
          </a:p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Dr. Chantal Hajjar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113BF-A3E5-9395-80CB-FC6610E71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950E2-7710-4A3C-AA40-CFA0D1EB7486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2BD75-F8FF-8786-712A-08CEBACF9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 dirty="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F37C7-9944-B57C-7A42-2CC879353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</a:t>
            </a:fld>
            <a:endParaRPr lang="en-US" sz="1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5003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8435A-E379-97CD-B488-C7600E775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2B071-766A-4F69-8B1F-256BC3458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Federated Learning (FL): overview and setup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Homomorphic encryption (HE): basics and importance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Risks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xMK CKKS scheme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Domingo Ferrer with Key switching scheme (DF-KS)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80634-4EB8-9010-7360-4F77A3923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59127-721E-964B-37B1-FEB269A26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8831E-6B6D-C702-88E1-2F48D91A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2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5844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CC28-055B-5BCC-5B75-CFBA7A6F8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96606-D3FE-8C31-56D1-8203E3C12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1. Context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6B36F-1F6D-C2CB-E960-53D0FB63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D7801C-37DF-5A1A-D406-1B016822F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1A284-D67D-5916-2DCE-EDD54133E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3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5833F6A-493F-B4F3-7E85-516F443DB0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8024938"/>
              </p:ext>
            </p:extLst>
          </p:nvPr>
        </p:nvGraphicFramePr>
        <p:xfrm>
          <a:off x="1424995" y="2263265"/>
          <a:ext cx="9342006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716">
                  <a:extLst>
                    <a:ext uri="{9D8B030D-6E8A-4147-A177-3AD203B41FA5}">
                      <a16:colId xmlns:a16="http://schemas.microsoft.com/office/drawing/2014/main" val="1367472347"/>
                    </a:ext>
                  </a:extLst>
                </a:gridCol>
                <a:gridCol w="7330290">
                  <a:extLst>
                    <a:ext uri="{9D8B030D-6E8A-4147-A177-3AD203B41FA5}">
                      <a16:colId xmlns:a16="http://schemas.microsoft.com/office/drawing/2014/main" val="2189071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Article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Defines special categories data and prohibit processing them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8593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Mandates protection for all personal data including special categories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3792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Prohibit the transfer of data outside unless the protection is ensured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13273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F1E07AC-459A-4CDE-489B-E4C4DFBEC732}"/>
              </a:ext>
            </a:extLst>
          </p:cNvPr>
          <p:cNvSpPr txBox="1"/>
          <p:nvPr/>
        </p:nvSpPr>
        <p:spPr>
          <a:xfrm>
            <a:off x="2488620" y="1776921"/>
            <a:ext cx="7214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GDPR: European law stands for General Data Protection Regulation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13CCBB-D665-1BE4-D49D-598B9F3CB232}"/>
              </a:ext>
            </a:extLst>
          </p:cNvPr>
          <p:cNvSpPr txBox="1"/>
          <p:nvPr/>
        </p:nvSpPr>
        <p:spPr>
          <a:xfrm>
            <a:off x="2067790" y="4000500"/>
            <a:ext cx="776201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 category 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healthcare dataset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Protect data 		weight and bias/gradient generated by the model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Transfer			FL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Protection 		 HE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056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03BC9-7FA2-5EB5-D51C-E3CCF75E0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CA9F6-E05F-169F-F399-11CC52BE9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2. FL overview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BE578-3ACB-4B7F-EF36-AC3B7021E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E5FAA-A466-7374-9100-8947A075A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AD662-510B-E631-E28B-4263E7A29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4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athematical model&#10;&#10;Description automatically generated">
            <a:extLst>
              <a:ext uri="{FF2B5EF4-FFF2-40B4-BE49-F238E27FC236}">
                <a16:creationId xmlns:a16="http://schemas.microsoft.com/office/drawing/2014/main" id="{781654E1-98C0-A7B0-0D13-5AF51E239D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34" y="1451445"/>
            <a:ext cx="10368531" cy="4904905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604605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04FEA-C8C8-380E-038D-5AAE8556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29348-CB60-AC36-2A32-7914B8BC2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2. FL Setup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2A48BA-6EAC-C0D8-725C-35B4EC187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E6065-AC09-602E-D79C-4D159544D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D05E-41B2-0EE6-FEC4-88386111E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5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985E4A-2A94-DBCC-B5F3-5ADADC984B28}"/>
              </a:ext>
            </a:extLst>
          </p:cNvPr>
          <p:cNvSpPr txBox="1"/>
          <p:nvPr/>
        </p:nvSpPr>
        <p:spPr>
          <a:xfrm>
            <a:off x="3093676" y="1519377"/>
            <a:ext cx="600464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FL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process where client devices train models locally while a server performs aggregation of their updates.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449123A-7E4A-EE81-98DB-EAF617C6A7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52845"/>
              </p:ext>
            </p:extLst>
          </p:nvPr>
        </p:nvGraphicFramePr>
        <p:xfrm>
          <a:off x="2031999" y="2438559"/>
          <a:ext cx="8128000" cy="316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8600">
                  <a:extLst>
                    <a:ext uri="{9D8B030D-6E8A-4147-A177-3AD203B41FA5}">
                      <a16:colId xmlns:a16="http://schemas.microsoft.com/office/drawing/2014/main" val="3519420797"/>
                    </a:ext>
                  </a:extLst>
                </a:gridCol>
                <a:gridCol w="5359400">
                  <a:extLst>
                    <a:ext uri="{9D8B030D-6E8A-4147-A177-3AD203B41FA5}">
                      <a16:colId xmlns:a16="http://schemas.microsoft.com/office/drawing/2014/main" val="34844363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Setup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855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PIMA Indian diabetes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7574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Size of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900 samples (8 features)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6166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FedAVG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263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 with 10 epoch/client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0511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Rounds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4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40% (client 1), 40% (client 2), 20% (testing data)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5727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Planned improvements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Larger dataset with Neural Network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94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9509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C335-141F-BF4E-6897-7C477D67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DA040-7487-BC47-CB4D-2FBC9F5DF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3. HE overview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B40BAF-A0C8-A57D-1F4E-859F98255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616A8-72DC-0C72-CC95-60E6F97FC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33CF0-9E85-E7AC-3E51-61DF28561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6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61CB90-DC87-185B-A792-096B69133B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7801" y="2270929"/>
            <a:ext cx="3684443" cy="385581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FB4CBE-4C84-8F45-8432-B0073048B7F1}"/>
              </a:ext>
            </a:extLst>
          </p:cNvPr>
          <p:cNvSpPr txBox="1"/>
          <p:nvPr/>
        </p:nvSpPr>
        <p:spPr>
          <a:xfrm>
            <a:off x="1358394" y="1579655"/>
            <a:ext cx="94752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HE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form of encryption that permits computation over encrypted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7D092C-74E1-4436-D0A8-FCE63C7DC3F3}"/>
                  </a:ext>
                </a:extLst>
              </p:cNvPr>
              <p:cNvSpPr txBox="1"/>
              <p:nvPr/>
            </p:nvSpPr>
            <p:spPr>
              <a:xfrm>
                <a:off x="1310024" y="3017092"/>
                <a:ext cx="379463" cy="8238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𝐸𝑛𝑐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7D092C-74E1-4436-D0A8-FCE63C7DC3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024" y="3017092"/>
                <a:ext cx="379463" cy="823815"/>
              </a:xfrm>
              <a:prstGeom prst="rect">
                <a:avLst/>
              </a:prstGeom>
              <a:blipFill>
                <a:blip r:embed="rId3"/>
                <a:stretch>
                  <a:fillRect r="-10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428E5467-083E-D1C9-AC5B-10451C28F3A4}"/>
              </a:ext>
            </a:extLst>
          </p:cNvPr>
          <p:cNvSpPr txBox="1"/>
          <p:nvPr/>
        </p:nvSpPr>
        <p:spPr>
          <a:xfrm>
            <a:off x="1310024" y="4924402"/>
            <a:ext cx="50231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type of encryption usually requires all ciphertexts from all clients to use the same key.</a:t>
            </a:r>
          </a:p>
        </p:txBody>
      </p:sp>
    </p:spTree>
    <p:extLst>
      <p:ext uri="{BB962C8B-B14F-4D97-AF65-F5344CB8AC3E}">
        <p14:creationId xmlns:p14="http://schemas.microsoft.com/office/powerpoint/2010/main" val="195906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E9BC9-152D-8B2A-D07F-3C806C6EF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C5A90-F2E3-7E7F-277A-0A5A1B9EB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3. HE importance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71EEF-C6F0-5322-F970-F9F14909B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D8D8B-723D-F76C-42E4-A79364E60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78B36-D754-9F74-F9E0-4A075FE61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7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graph&#10;&#10;Description automatically generated">
            <a:extLst>
              <a:ext uri="{FF2B5EF4-FFF2-40B4-BE49-F238E27FC236}">
                <a16:creationId xmlns:a16="http://schemas.microsoft.com/office/drawing/2014/main" id="{FDE6A174-6B3B-5E6B-6ADA-DA071284A5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130" y="1465119"/>
            <a:ext cx="10595739" cy="4755198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745040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FBC-3BE5-4D85-69E8-01D27165E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A4908-86A1-70B0-B604-04EC58397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3. HE importance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B6A57-D075-FDFB-85FD-5813E4452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E5426-F640-BF81-E0C2-3129CD666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787096-D441-AC1D-017B-5F34F438C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8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E34C148-E6D3-8FAC-BB52-9D3829DE1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0068384"/>
              </p:ext>
            </p:extLst>
          </p:nvPr>
        </p:nvGraphicFramePr>
        <p:xfrm>
          <a:off x="1245754" y="2438400"/>
          <a:ext cx="9700492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7448">
                  <a:extLst>
                    <a:ext uri="{9D8B030D-6E8A-4147-A177-3AD203B41FA5}">
                      <a16:colId xmlns:a16="http://schemas.microsoft.com/office/drawing/2014/main" val="349534385"/>
                    </a:ext>
                  </a:extLst>
                </a:gridCol>
                <a:gridCol w="6993044">
                  <a:extLst>
                    <a:ext uri="{9D8B030D-6E8A-4147-A177-3AD203B41FA5}">
                      <a16:colId xmlns:a16="http://schemas.microsoft.com/office/drawing/2014/main" val="6874053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Importance of HE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28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Allows local training on plaintext data with no need of encryption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429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 aggregation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Ensure computation on ciphertext and prevent access to local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557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Prevent leakage of sensitive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7088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Security and 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Protect against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membership inference, and curious server attacks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715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9386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120AC-D51C-4255-7F2B-06C95F191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66A63-F586-3C73-AAA9-D7CF5E8B3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4. Security Risks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56002-5221-562A-4735-50EC67FF0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93134-EEEA-A6AB-B613-8138B6E65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E1DB9-44B5-119F-BE6E-D325C4493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9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68AA409-83A1-A515-C6A0-9FDEE52D7D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983716"/>
              </p:ext>
            </p:extLst>
          </p:nvPr>
        </p:nvGraphicFramePr>
        <p:xfrm>
          <a:off x="1646381" y="2225040"/>
          <a:ext cx="8899237" cy="240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493">
                  <a:extLst>
                    <a:ext uri="{9D8B030D-6E8A-4147-A177-3AD203B41FA5}">
                      <a16:colId xmlns:a16="http://schemas.microsoft.com/office/drawing/2014/main" val="3179830144"/>
                    </a:ext>
                  </a:extLst>
                </a:gridCol>
                <a:gridCol w="5469744">
                  <a:extLst>
                    <a:ext uri="{9D8B030D-6E8A-4147-A177-3AD203B41FA5}">
                      <a16:colId xmlns:a16="http://schemas.microsoft.com/office/drawing/2014/main" val="9799616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14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Honest-but-curious clients</a:t>
                      </a:r>
                    </a:p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Client will follow the protocol correctly but will exploit opportunities to access private data, leading to privacy leakage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257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compromise 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 clients share one decryption key; compromising a single device reveals this key. This means one breach compromise the entire FL network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507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42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955DE-7627-88A6-1460-A7CB4646F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247C6-3C0D-9834-2EA5-2F9333177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5. xMK CKKS scheme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A1F5B-536E-5A72-DFA5-8B883D08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C93F6-E952-740B-15F5-B8E36C55D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8D7C3-C912-D4E7-1A55-F485BED2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10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1973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AC3-B6BF-34D6-2A51-F2496D75A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59C1D-A3CF-356C-121C-3D71559F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6. DF-KS scheme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247AC-A59C-EFCB-806B-F6470678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75A95-9DDB-55BE-4D19-5F3E93726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E6A41-B4DF-61D5-40D7-935B5DFEC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11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4332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F8CB7-1187-2B19-957B-4228CEE3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65DCD-C9F3-A7DA-CAD2-39A097CDC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7. Analysis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2B0E3-7A23-0387-01CC-4E0B03DCB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124DB-4F1D-F57F-CDFC-0D8CCC255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2F43C-0107-7827-63A7-CDE0A181F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12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822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0CD0-553C-58B0-4194-9A11F686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0B355-A2AD-B402-0F0E-836926DC5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8. Conclusion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073AD-0C2A-BEC9-2FD4-A90F7EDE2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11/17/2025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07A54-8739-FB4A-A6EE-01059CE90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84BB7-F6EB-38F7-B820-1F6E1A7A8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13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0109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332</TotalTime>
  <Words>468</Words>
  <Application>Microsoft Office PowerPoint</Application>
  <PresentationFormat>Widescreen</PresentationFormat>
  <Paragraphs>115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Arial</vt:lpstr>
      <vt:lpstr>Calibri</vt:lpstr>
      <vt:lpstr>Calibri Light</vt:lpstr>
      <vt:lpstr>Cambria Math</vt:lpstr>
      <vt:lpstr>Times New Roman</vt:lpstr>
      <vt:lpstr>Wingdings</vt:lpstr>
      <vt:lpstr>Office 2013 - 2022 Theme</vt:lpstr>
      <vt:lpstr>Strengthening Privacy in Federated Learning via Key-Switchable Homomorphic Encryption</vt:lpstr>
      <vt:lpstr>Content</vt:lpstr>
      <vt:lpstr>1. Context</vt:lpstr>
      <vt:lpstr>2. FL overview</vt:lpstr>
      <vt:lpstr>2. FL Setup</vt:lpstr>
      <vt:lpstr>3. HE overview</vt:lpstr>
      <vt:lpstr>3. HE importance</vt:lpstr>
      <vt:lpstr>3. HE importance</vt:lpstr>
      <vt:lpstr>4. Security Risks</vt:lpstr>
      <vt:lpstr>5. xMK CKKS scheme</vt:lpstr>
      <vt:lpstr>6. DF-KS scheme</vt:lpstr>
      <vt:lpstr>7. Analysis</vt:lpstr>
      <vt:lpstr>8.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Ibrahim</dc:creator>
  <cp:lastModifiedBy>Mohamad Ibrahim</cp:lastModifiedBy>
  <cp:revision>9</cp:revision>
  <dcterms:created xsi:type="dcterms:W3CDTF">2025-11-17T08:12:27Z</dcterms:created>
  <dcterms:modified xsi:type="dcterms:W3CDTF">2025-11-17T18:49:50Z</dcterms:modified>
</cp:coreProperties>
</file>