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0" r:id="rId12"/>
    <p:sldId id="275" r:id="rId13"/>
    <p:sldId id="273" r:id="rId14"/>
    <p:sldId id="267" r:id="rId15"/>
    <p:sldId id="276" r:id="rId16"/>
    <p:sldId id="271" r:id="rId17"/>
    <p:sldId id="274" r:id="rId18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9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BA33B5-1111-431E-95E6-1CD0EC93978C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47BB2-36F8-44AE-B524-EA39334F6C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906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AB89D-57C3-4E72-B309-F3497A4DE701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6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41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E6D01-CC9E-46A0-BA2B-3BDD6F9E96A3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79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EC22-26CF-4980-836F-5A832F42D43A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379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2D8C-D7CA-4D24-840B-6108995923DC}" type="datetime1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641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C69B9-81AF-4D6F-9B89-AD543E69A99F}" type="datetime1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8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97DA5-715C-472F-A49F-FFBCB32E9725}" type="datetime1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457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163C0-6A53-46B2-B924-0F90AACA1367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46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75CE9-64D9-4AF6-B2A8-CEAE19C2F2C6}" type="datetime1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620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82134-595F-452E-B7C5-AD73B8A84D48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743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F26DA-1DDA-4076-89A5-57BC415E51EE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62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FE1BC6-1B75-4BF5-8267-724BE6A69557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Key switchable HE for FL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59E849-A344-4026-A8F6-1F4993DF7F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306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18" Type="http://schemas.openxmlformats.org/officeDocument/2006/relationships/image" Target="../media/image55.png"/><Relationship Id="rId3" Type="http://schemas.openxmlformats.org/officeDocument/2006/relationships/image" Target="../media/image40.png"/><Relationship Id="rId21" Type="http://schemas.openxmlformats.org/officeDocument/2006/relationships/image" Target="../media/image58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" Type="http://schemas.openxmlformats.org/officeDocument/2006/relationships/image" Target="../media/image39.png"/><Relationship Id="rId16" Type="http://schemas.openxmlformats.org/officeDocument/2006/relationships/image" Target="../media/image53.png"/><Relationship Id="rId20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Relationship Id="rId22" Type="http://schemas.openxmlformats.org/officeDocument/2006/relationships/image" Target="../media/image5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501D6-15DB-25FD-3CF5-1ABEBAC7A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7417" y="136525"/>
            <a:ext cx="10557165" cy="2387600"/>
          </a:xfrm>
        </p:spPr>
        <p:txBody>
          <a:bodyPr>
            <a:normAutofit/>
          </a:bodyPr>
          <a:lstStyle/>
          <a:p>
            <a:r>
              <a:rPr lang="en-US" sz="4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Strengthening Privacy in Federated Learning via Key-Switchable Homomorphic Encryption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FCC0A5-DCB8-9C46-C746-6982BCD5DF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Mohamad Ibrahim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Dr. Khalil Haris</a:t>
            </a:r>
          </a:p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Dr. Chantal Hajjar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113BF-A3E5-9395-80CB-FC6610E71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950E2-7710-4A3C-AA40-CFA0D1EB7486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2BD75-F8FF-8786-712A-08CEBACF9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 dirty="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F37C7-9944-B57C-7A42-2CC879353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</a:t>
            </a:fld>
            <a:endParaRPr lang="en-US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5003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435A-E379-97CD-B488-C7600E775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2B071-766A-4F69-8B1F-256BC3458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Federated Learning (FL): overview and setup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Homomorphic encryption (HE): basics and importance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Risks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xMK CKKS scheme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Domingo Ferrer with Key switching scheme (DF-KS)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and conclusion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80634-4EB8-9010-7360-4F77A3923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359127-721E-964B-37B1-FEB269A26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8831E-6B6D-C702-88E1-2F48D91A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2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5844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CC28-055B-5BCC-5B75-CFBA7A6F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96606-D3FE-8C31-56D1-8203E3C12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1. Context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6B36F-1F6D-C2CB-E960-53D0FB63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D7801C-37DF-5A1A-D406-1B016822F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1A284-D67D-5916-2DCE-EDD54133E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3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5833F6A-493F-B4F3-7E85-516F443DB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8024938"/>
              </p:ext>
            </p:extLst>
          </p:nvPr>
        </p:nvGraphicFramePr>
        <p:xfrm>
          <a:off x="1424995" y="2263265"/>
          <a:ext cx="9342006" cy="158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716">
                  <a:extLst>
                    <a:ext uri="{9D8B030D-6E8A-4147-A177-3AD203B41FA5}">
                      <a16:colId xmlns:a16="http://schemas.microsoft.com/office/drawing/2014/main" val="1367472347"/>
                    </a:ext>
                  </a:extLst>
                </a:gridCol>
                <a:gridCol w="7330290">
                  <a:extLst>
                    <a:ext uri="{9D8B030D-6E8A-4147-A177-3AD203B41FA5}">
                      <a16:colId xmlns:a16="http://schemas.microsoft.com/office/drawing/2014/main" val="2189071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Article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Defines special categories data and prohibit processing them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8593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Mandates protection for all personal data including special categories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792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Prohibit the transfer of data outside unless the protection is ensured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132734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F1E07AC-459A-4CDE-489B-E4C4DFBEC732}"/>
              </a:ext>
            </a:extLst>
          </p:cNvPr>
          <p:cNvSpPr txBox="1"/>
          <p:nvPr/>
        </p:nvSpPr>
        <p:spPr>
          <a:xfrm>
            <a:off x="2488620" y="1776921"/>
            <a:ext cx="7214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GDPR: European law stands for General Data Protection Regulation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13CCBB-D665-1BE4-D49D-598B9F3CB232}"/>
              </a:ext>
            </a:extLst>
          </p:cNvPr>
          <p:cNvSpPr txBox="1"/>
          <p:nvPr/>
        </p:nvSpPr>
        <p:spPr>
          <a:xfrm>
            <a:off x="2067790" y="4000500"/>
            <a:ext cx="776201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 category 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healthcare dataset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Protect data 		weight and bias/gradient generated by the model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Transfer			FL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Protection 		 HE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056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03BC9-7FA2-5EB5-D51C-E3CCF75E0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CA9F6-E05F-169F-F399-11CC52BE9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2. FL overview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BE578-3ACB-4B7F-EF36-AC3B7021E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E5FAA-A466-7374-9100-8947A075A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AD662-510B-E631-E28B-4263E7A29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4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athematical model&#10;&#10;Description automatically generated">
            <a:extLst>
              <a:ext uri="{FF2B5EF4-FFF2-40B4-BE49-F238E27FC236}">
                <a16:creationId xmlns:a16="http://schemas.microsoft.com/office/drawing/2014/main" id="{781654E1-98C0-A7B0-0D13-5AF51E239D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34" y="1451445"/>
            <a:ext cx="10368531" cy="4904905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604605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04FEA-C8C8-380E-038D-5AAE8556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29348-CB60-AC36-2A32-7914B8BC2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2. FL Setup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2A48BA-6EAC-C0D8-725C-35B4EC187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E6065-AC09-602E-D79C-4D159544D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05E-41B2-0EE6-FEC4-88386111E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5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985E4A-2A94-DBCC-B5F3-5ADADC984B28}"/>
              </a:ext>
            </a:extLst>
          </p:cNvPr>
          <p:cNvSpPr txBox="1"/>
          <p:nvPr/>
        </p:nvSpPr>
        <p:spPr>
          <a:xfrm>
            <a:off x="3093676" y="1519377"/>
            <a:ext cx="600464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FL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process where client devices train models locally while a server performs aggregation of their updates.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449123A-7E4A-EE81-98DB-EAF617C6A7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52845"/>
              </p:ext>
            </p:extLst>
          </p:nvPr>
        </p:nvGraphicFramePr>
        <p:xfrm>
          <a:off x="2031999" y="2438559"/>
          <a:ext cx="8128000" cy="316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8600">
                  <a:extLst>
                    <a:ext uri="{9D8B030D-6E8A-4147-A177-3AD203B41FA5}">
                      <a16:colId xmlns:a16="http://schemas.microsoft.com/office/drawing/2014/main" val="3519420797"/>
                    </a:ext>
                  </a:extLst>
                </a:gridCol>
                <a:gridCol w="5359400">
                  <a:extLst>
                    <a:ext uri="{9D8B030D-6E8A-4147-A177-3AD203B41FA5}">
                      <a16:colId xmlns:a16="http://schemas.microsoft.com/office/drawing/2014/main" val="34844363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Setup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855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PIMA Indian diabetes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7574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Size of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900 samples (8 features)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6166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FedAVG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263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 with 10 epoch/client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0511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Rounds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4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40% (client 1), 40% (client 2), 20% (testing data)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5727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Planned improvements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Larger dataset with Neural Network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694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9509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C335-141F-BF4E-6897-7C477D67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DA040-7487-BC47-CB4D-2FBC9F5DF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3. HE overview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B40BAF-A0C8-A57D-1F4E-859F98255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616A8-72DC-0C72-CC95-60E6F97FC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33CF0-9E85-E7AC-3E51-61DF28561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6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61CB90-DC87-185B-A792-096B69133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801" y="2270929"/>
            <a:ext cx="3684443" cy="385581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FB4CBE-4C84-8F45-8432-B0073048B7F1}"/>
              </a:ext>
            </a:extLst>
          </p:cNvPr>
          <p:cNvSpPr txBox="1"/>
          <p:nvPr/>
        </p:nvSpPr>
        <p:spPr>
          <a:xfrm>
            <a:off x="1358394" y="1579655"/>
            <a:ext cx="94752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HE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form of encryption that permits computation over encrypted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7D092C-74E1-4436-D0A8-FCE63C7DC3F3}"/>
                  </a:ext>
                </a:extLst>
              </p:cNvPr>
              <p:cNvSpPr txBox="1"/>
              <p:nvPr/>
            </p:nvSpPr>
            <p:spPr>
              <a:xfrm>
                <a:off x="1310024" y="3017092"/>
                <a:ext cx="379463" cy="8238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𝐸𝑛𝑐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7D092C-74E1-4436-D0A8-FCE63C7DC3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024" y="3017092"/>
                <a:ext cx="379463" cy="823815"/>
              </a:xfrm>
              <a:prstGeom prst="rect">
                <a:avLst/>
              </a:prstGeom>
              <a:blipFill>
                <a:blip r:embed="rId3"/>
                <a:stretch>
                  <a:fillRect r="-10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428E5467-083E-D1C9-AC5B-10451C28F3A4}"/>
              </a:ext>
            </a:extLst>
          </p:cNvPr>
          <p:cNvSpPr txBox="1"/>
          <p:nvPr/>
        </p:nvSpPr>
        <p:spPr>
          <a:xfrm>
            <a:off x="1310024" y="4924402"/>
            <a:ext cx="50231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type of encryption usually requires all ciphertexts from all clients to use the same key.</a:t>
            </a:r>
          </a:p>
        </p:txBody>
      </p:sp>
    </p:spTree>
    <p:extLst>
      <p:ext uri="{BB962C8B-B14F-4D97-AF65-F5344CB8AC3E}">
        <p14:creationId xmlns:p14="http://schemas.microsoft.com/office/powerpoint/2010/main" val="195906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E9BC9-152D-8B2A-D07F-3C806C6EF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C5A90-F2E3-7E7F-277A-0A5A1B9EB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3. HE importance</a:t>
            </a:r>
            <a:endPara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71EEF-C6F0-5322-F970-F9F14909B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8D8B-723D-F76C-42E4-A79364E60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78B36-D754-9F74-F9E0-4A075FE61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7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graph&#10;&#10;Description automatically generated">
            <a:extLst>
              <a:ext uri="{FF2B5EF4-FFF2-40B4-BE49-F238E27FC236}">
                <a16:creationId xmlns:a16="http://schemas.microsoft.com/office/drawing/2014/main" id="{FDE6A174-6B3B-5E6B-6ADA-DA071284A5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130" y="1465119"/>
            <a:ext cx="10595739" cy="4755198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745040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49FBC-3BE5-4D85-69E8-01D27165E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A4908-86A1-70B0-B604-04EC58397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3. HE importance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B6A57-D075-FDFB-85FD-5813E4452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E5426-F640-BF81-E0C2-3129CD66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87096-D441-AC1D-017B-5F34F438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8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E34C148-E6D3-8FAC-BB52-9D3829DE1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068384"/>
              </p:ext>
            </p:extLst>
          </p:nvPr>
        </p:nvGraphicFramePr>
        <p:xfrm>
          <a:off x="1245754" y="2438400"/>
          <a:ext cx="9700492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7448">
                  <a:extLst>
                    <a:ext uri="{9D8B030D-6E8A-4147-A177-3AD203B41FA5}">
                      <a16:colId xmlns:a16="http://schemas.microsoft.com/office/drawing/2014/main" val="349534385"/>
                    </a:ext>
                  </a:extLst>
                </a:gridCol>
                <a:gridCol w="6993044">
                  <a:extLst>
                    <a:ext uri="{9D8B030D-6E8A-4147-A177-3AD203B41FA5}">
                      <a16:colId xmlns:a16="http://schemas.microsoft.com/office/drawing/2014/main" val="6874053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Importance of 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28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Allows local training on plaintext data with no need of encryption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429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 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Ensure computation on ciphertext and prevent access to local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557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Prevent leakage of sensitive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7088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Security and 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Protect against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membership inference, and curious server attacks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715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9386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120AC-D51C-4255-7F2B-06C95F191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66A63-F586-3C73-AAA9-D7CF5E8B3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4. Security Risks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56002-5221-562A-4735-50EC67FF0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93134-EEEA-A6AB-B613-8138B6E65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E1DB9-44B5-119F-BE6E-D325C4493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9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68AA409-83A1-A515-C6A0-9FDEE52D7D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983716"/>
              </p:ext>
            </p:extLst>
          </p:nvPr>
        </p:nvGraphicFramePr>
        <p:xfrm>
          <a:off x="1646381" y="2225040"/>
          <a:ext cx="8899237" cy="240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493">
                  <a:extLst>
                    <a:ext uri="{9D8B030D-6E8A-4147-A177-3AD203B41FA5}">
                      <a16:colId xmlns:a16="http://schemas.microsoft.com/office/drawing/2014/main" val="3179830144"/>
                    </a:ext>
                  </a:extLst>
                </a:gridCol>
                <a:gridCol w="5469744">
                  <a:extLst>
                    <a:ext uri="{9D8B030D-6E8A-4147-A177-3AD203B41FA5}">
                      <a16:colId xmlns:a16="http://schemas.microsoft.com/office/drawing/2014/main" val="979961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14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Honest-but-curious clients</a:t>
                      </a:r>
                    </a:p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Client will follow the protocol correctly but will exploit opportunities to access private data, leading to privacy leakage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257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compromise 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 clients share one decryption key; compromising a single device reveals this key. This means one breach compromise the entire FL network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507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42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955DE-7627-88A6-1460-A7CB4646F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247C6-3C0D-9834-2EA5-2F9333177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4. Security risks (Solutions design)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A1F5B-536E-5A72-DFA5-8B883D08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C93F6-E952-740B-15F5-B8E36C55D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8D7C3-C912-D4E7-1A55-F485BED2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10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2FD60D-A06E-833B-6718-DB1F362CD7A1}"/>
              </a:ext>
            </a:extLst>
          </p:cNvPr>
          <p:cNvSpPr/>
          <p:nvPr/>
        </p:nvSpPr>
        <p:spPr>
          <a:xfrm>
            <a:off x="391391" y="2911710"/>
            <a:ext cx="4959096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Modification of the CKKS scheme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06E254-1B64-4BAF-4E98-6C5735F31E4E}"/>
              </a:ext>
            </a:extLst>
          </p:cNvPr>
          <p:cNvSpPr/>
          <p:nvPr/>
        </p:nvSpPr>
        <p:spPr>
          <a:xfrm>
            <a:off x="3888347" y="3802276"/>
            <a:ext cx="4415305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 homomorphic properties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94C5B-6ACC-7F6D-291B-FFD6775162C0}"/>
              </a:ext>
            </a:extLst>
          </p:cNvPr>
          <p:cNvSpPr/>
          <p:nvPr/>
        </p:nvSpPr>
        <p:spPr>
          <a:xfrm>
            <a:off x="3888347" y="4497857"/>
            <a:ext cx="4415305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Solve the mentioned security risks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61EDD-3E27-C12E-3806-5FED6EDA65B8}"/>
              </a:ext>
            </a:extLst>
          </p:cNvPr>
          <p:cNvSpPr/>
          <p:nvPr/>
        </p:nvSpPr>
        <p:spPr>
          <a:xfrm>
            <a:off x="3888347" y="5193118"/>
            <a:ext cx="4415305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the FL network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04438BD-8109-7BEE-DDDE-A79E1C565172}"/>
              </a:ext>
            </a:extLst>
          </p:cNvPr>
          <p:cNvSpPr/>
          <p:nvPr/>
        </p:nvSpPr>
        <p:spPr>
          <a:xfrm>
            <a:off x="1572491" y="2226069"/>
            <a:ext cx="2596896" cy="355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xMK CKKS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7142F3-FA1D-7F1B-47EF-8828E27A7760}"/>
              </a:ext>
            </a:extLst>
          </p:cNvPr>
          <p:cNvSpPr txBox="1"/>
          <p:nvPr/>
        </p:nvSpPr>
        <p:spPr>
          <a:xfrm>
            <a:off x="557437" y="3984838"/>
            <a:ext cx="2743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CKKS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lattice-based approximate homomorphic encryption scheme based on the Ring Learning With Errors (RLWE) problem.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876FC7-EACC-8C36-76E4-A97B0C378560}"/>
              </a:ext>
            </a:extLst>
          </p:cNvPr>
          <p:cNvSpPr/>
          <p:nvPr/>
        </p:nvSpPr>
        <p:spPr>
          <a:xfrm>
            <a:off x="6841513" y="2911710"/>
            <a:ext cx="4959096" cy="3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a symmetric encryption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4E2D7F8-0CD0-8539-C197-C8F70F74036E}"/>
              </a:ext>
            </a:extLst>
          </p:cNvPr>
          <p:cNvSpPr/>
          <p:nvPr/>
        </p:nvSpPr>
        <p:spPr>
          <a:xfrm>
            <a:off x="8022615" y="2226069"/>
            <a:ext cx="2596896" cy="35518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DF-KS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B499701-928B-A9BA-CDE5-CB85A2B54F51}"/>
              </a:ext>
            </a:extLst>
          </p:cNvPr>
          <p:cNvCxnSpPr>
            <a:stCxn id="11" idx="4"/>
            <a:endCxn id="7" idx="0"/>
          </p:cNvCxnSpPr>
          <p:nvPr/>
        </p:nvCxnSpPr>
        <p:spPr>
          <a:xfrm>
            <a:off x="2870939" y="2581254"/>
            <a:ext cx="0" cy="330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254581-D497-B86D-A13C-94C18E1AFE3A}"/>
              </a:ext>
            </a:extLst>
          </p:cNvPr>
          <p:cNvCxnSpPr>
            <a:stCxn id="14" idx="4"/>
            <a:endCxn id="12" idx="0"/>
          </p:cNvCxnSpPr>
          <p:nvPr/>
        </p:nvCxnSpPr>
        <p:spPr>
          <a:xfrm flipH="1">
            <a:off x="9321061" y="2581254"/>
            <a:ext cx="2" cy="330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2FDAFA-55E7-955C-A1DB-0C6ED149FDD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870939" y="3276835"/>
            <a:ext cx="863934" cy="432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53A9C73-1A5B-0C3A-82C1-A21EE8B926EA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8457125" y="3276835"/>
            <a:ext cx="863936" cy="432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Left Brace 26">
            <a:extLst>
              <a:ext uri="{FF2B5EF4-FFF2-40B4-BE49-F238E27FC236}">
                <a16:creationId xmlns:a16="http://schemas.microsoft.com/office/drawing/2014/main" id="{CB5AAC31-A505-97FF-20E5-F3D2BBB65D3B}"/>
              </a:ext>
            </a:extLst>
          </p:cNvPr>
          <p:cNvSpPr/>
          <p:nvPr/>
        </p:nvSpPr>
        <p:spPr>
          <a:xfrm>
            <a:off x="3581400" y="3627836"/>
            <a:ext cx="306947" cy="1930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36B9E981-B7E5-7F4F-57A6-B477D1347EB0}"/>
              </a:ext>
            </a:extLst>
          </p:cNvPr>
          <p:cNvSpPr/>
          <p:nvPr/>
        </p:nvSpPr>
        <p:spPr>
          <a:xfrm rot="10800000">
            <a:off x="8303652" y="3627835"/>
            <a:ext cx="306947" cy="193040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1E2322A-262F-A3CF-6A27-A4AD5603F5CB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1929037" y="3276835"/>
            <a:ext cx="0" cy="708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6B7C08F-4D62-AFD5-9589-138ADA4D1862}"/>
              </a:ext>
            </a:extLst>
          </p:cNvPr>
          <p:cNvSpPr txBox="1"/>
          <p:nvPr/>
        </p:nvSpPr>
        <p:spPr>
          <a:xfrm>
            <a:off x="8378591" y="1778941"/>
            <a:ext cx="18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5A39F8A-BD2E-6416-C193-AB65F52C7123}"/>
              </a:ext>
            </a:extLst>
          </p:cNvPr>
          <p:cNvSpPr txBox="1"/>
          <p:nvPr/>
        </p:nvSpPr>
        <p:spPr>
          <a:xfrm>
            <a:off x="2057254" y="1778941"/>
            <a:ext cx="1627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design</a:t>
            </a:r>
          </a:p>
        </p:txBody>
      </p:sp>
    </p:spTree>
    <p:extLst>
      <p:ext uri="{BB962C8B-B14F-4D97-AF65-F5344CB8AC3E}">
        <p14:creationId xmlns:p14="http://schemas.microsoft.com/office/powerpoint/2010/main" val="401197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BE8D1-43A7-D0E2-57C6-E85F221C4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A80A8-2B17-C03B-53F5-000FFFB8C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5. xMK CKKS scheme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7B959-652F-5ACF-3669-8C8CBC6D2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38964-964B-F06E-70FD-1F8808C1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B2B4A-E4F9-5A9F-85F4-F12FFA68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11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6A3D58-CB8F-B08E-C052-A071D3D7EBD7}"/>
                  </a:ext>
                </a:extLst>
              </p:cNvPr>
              <p:cNvSpPr txBox="1"/>
              <p:nvPr/>
            </p:nvSpPr>
            <p:spPr>
              <a:xfrm>
                <a:off x="4364250" y="2604184"/>
                <a:ext cx="20434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b="0" i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6A3D58-CB8F-B08E-C052-A071D3D7EB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4250" y="2604184"/>
                <a:ext cx="204347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6EB6EC5-2544-F3C0-D306-D30F14429E3F}"/>
                  </a:ext>
                </a:extLst>
              </p:cNvPr>
              <p:cNvSpPr txBox="1"/>
              <p:nvPr/>
            </p:nvSpPr>
            <p:spPr>
              <a:xfrm>
                <a:off x="4480560" y="2058712"/>
                <a:ext cx="19476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encryption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𝒎</m:t>
                        </m:r>
                      </m:e>
                      <m:sub>
                        <m:r>
                          <a:rPr lang="en-US" sz="18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𝒊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6EB6EC5-2544-F3C0-D306-D30F14429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560" y="2058712"/>
                <a:ext cx="1947672" cy="369332"/>
              </a:xfrm>
              <a:prstGeom prst="rect">
                <a:avLst/>
              </a:prstGeom>
              <a:blipFill>
                <a:blip r:embed="rId3"/>
                <a:stretch>
                  <a:fillRect l="-2500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A0CE98F-695F-39AA-73CC-889C260A7A0C}"/>
                  </a:ext>
                </a:extLst>
              </p:cNvPr>
              <p:cNvSpPr txBox="1"/>
              <p:nvPr/>
            </p:nvSpPr>
            <p:spPr>
              <a:xfrm>
                <a:off x="4386210" y="5604245"/>
                <a:ext cx="2242912" cy="3840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[0]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A0CE98F-695F-39AA-73CC-889C260A7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6210" y="5604245"/>
                <a:ext cx="2242912" cy="384080"/>
              </a:xfrm>
              <a:prstGeom prst="rect">
                <a:avLst/>
              </a:prstGeom>
              <a:blipFill>
                <a:blip r:embed="rId4"/>
                <a:stretch>
                  <a:fillRect t="-7937" b="-15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897B99-832D-5DF6-0AE2-BEE39A66837E}"/>
                  </a:ext>
                </a:extLst>
              </p:cNvPr>
              <p:cNvSpPr txBox="1"/>
              <p:nvPr/>
            </p:nvSpPr>
            <p:spPr>
              <a:xfrm>
                <a:off x="4454028" y="2987944"/>
                <a:ext cx="3907397" cy="12262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acc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nary>
                      <m:r>
                        <a:rPr lang="en-US" b="0" i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897B99-832D-5DF6-0AE2-BEE39A668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4028" y="2987944"/>
                <a:ext cx="3907397" cy="122623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0DEDB-DA18-FF81-2B46-EED792626448}"/>
                  </a:ext>
                </a:extLst>
              </p:cNvPr>
              <p:cNvSpPr txBox="1"/>
              <p:nvPr/>
            </p:nvSpPr>
            <p:spPr>
              <a:xfrm>
                <a:off x="4306130" y="4450136"/>
                <a:ext cx="3425121" cy="9766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b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acc>
                                <m:accPr>
                                  <m:chr m:val="̃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b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𝑚𝑜𝑑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e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b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b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𝑚𝑜𝑑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0DEDB-DA18-FF81-2B46-EED792626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6130" y="4450136"/>
                <a:ext cx="3425121" cy="9766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428FDD9-2F5B-FC42-516C-9D29259A0F61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428232" y="2232001"/>
            <a:ext cx="2677875" cy="11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4E0D2EA-303D-F0E8-66CD-138AEC8F28DD}"/>
              </a:ext>
            </a:extLst>
          </p:cNvPr>
          <p:cNvCxnSpPr>
            <a:stCxn id="12" idx="3"/>
          </p:cNvCxnSpPr>
          <p:nvPr/>
        </p:nvCxnSpPr>
        <p:spPr>
          <a:xfrm flipV="1">
            <a:off x="6407726" y="2784764"/>
            <a:ext cx="2698381" cy="4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C489DF-6339-3FFC-B591-E074C0CFFF2F}"/>
              </a:ext>
            </a:extLst>
          </p:cNvPr>
          <p:cNvCxnSpPr/>
          <p:nvPr/>
        </p:nvCxnSpPr>
        <p:spPr>
          <a:xfrm flipV="1">
            <a:off x="6428232" y="3269371"/>
            <a:ext cx="2698381" cy="4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66029FA-266F-3D02-95D2-8E78C614168F}"/>
              </a:ext>
            </a:extLst>
          </p:cNvPr>
          <p:cNvCxnSpPr>
            <a:cxnSpLocks/>
          </p:cNvCxnSpPr>
          <p:nvPr/>
        </p:nvCxnSpPr>
        <p:spPr>
          <a:xfrm>
            <a:off x="7777422" y="5002826"/>
            <a:ext cx="13491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7FE1D8-6E2C-0F43-5B4A-67BABAB5ACD5}"/>
                  </a:ext>
                </a:extLst>
              </p:cNvPr>
              <p:cNvSpPr txBox="1"/>
              <p:nvPr/>
            </p:nvSpPr>
            <p:spPr>
              <a:xfrm>
                <a:off x="9237518" y="2047335"/>
                <a:ext cx="22756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Plain text of device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7FE1D8-6E2C-0F43-5B4A-67BABAB5A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18" y="2047335"/>
                <a:ext cx="2275609" cy="369332"/>
              </a:xfrm>
              <a:prstGeom prst="rect">
                <a:avLst/>
              </a:prstGeom>
              <a:blipFill>
                <a:blip r:embed="rId7"/>
                <a:stretch>
                  <a:fillRect l="-2139"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C47019F-5CD8-370B-7498-F8F2CE8FDB56}"/>
                  </a:ext>
                </a:extLst>
              </p:cNvPr>
              <p:cNvSpPr txBox="1"/>
              <p:nvPr/>
            </p:nvSpPr>
            <p:spPr>
              <a:xfrm>
                <a:off x="9237517" y="2618612"/>
                <a:ext cx="22756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Public key of device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C47019F-5CD8-370B-7498-F8F2CE8FD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17" y="2618612"/>
                <a:ext cx="2275609" cy="369332"/>
              </a:xfrm>
              <a:prstGeom prst="rect">
                <a:avLst/>
              </a:prstGeom>
              <a:blipFill>
                <a:blip r:embed="rId8"/>
                <a:stretch>
                  <a:fillRect l="-2139"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56F0D30-807C-79F7-B438-C8FC1338570A}"/>
                  </a:ext>
                </a:extLst>
              </p:cNvPr>
              <p:cNvSpPr txBox="1"/>
              <p:nvPr/>
            </p:nvSpPr>
            <p:spPr>
              <a:xfrm>
                <a:off x="1343891" y="2297300"/>
                <a:ext cx="227560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Private key of device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56F0D30-807C-79F7-B438-C8FC133857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3891" y="2297300"/>
                <a:ext cx="2275609" cy="369332"/>
              </a:xfrm>
              <a:prstGeom prst="rect">
                <a:avLst/>
              </a:prstGeom>
              <a:blipFill>
                <a:blip r:embed="rId9"/>
                <a:stretch>
                  <a:fillRect l="-2139"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C5D7CE-76E7-6600-7E4D-F93AC2FE5408}"/>
              </a:ext>
            </a:extLst>
          </p:cNvPr>
          <p:cNvCxnSpPr>
            <a:cxnSpLocks/>
            <a:endCxn id="18" idx="1"/>
          </p:cNvCxnSpPr>
          <p:nvPr/>
        </p:nvCxnSpPr>
        <p:spPr>
          <a:xfrm rot="10800000">
            <a:off x="1343892" y="2481966"/>
            <a:ext cx="3934691" cy="496112"/>
          </a:xfrm>
          <a:prstGeom prst="bentConnector3">
            <a:avLst>
              <a:gd name="adj1" fmla="val 10581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44358B4-09B8-FCDA-284A-E7327070CD43}"/>
              </a:ext>
            </a:extLst>
          </p:cNvPr>
          <p:cNvCxnSpPr/>
          <p:nvPr/>
        </p:nvCxnSpPr>
        <p:spPr>
          <a:xfrm flipV="1">
            <a:off x="5278583" y="2888673"/>
            <a:ext cx="0" cy="848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DE909E0-5999-C00B-F5F9-D134E2946C6E}"/>
              </a:ext>
            </a:extLst>
          </p:cNvPr>
          <p:cNvSpPr txBox="1"/>
          <p:nvPr/>
        </p:nvSpPr>
        <p:spPr>
          <a:xfrm>
            <a:off x="9237516" y="3084705"/>
            <a:ext cx="243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Aggregated public keys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7E75749-2079-03DA-8052-3087DAA89796}"/>
                  </a:ext>
                </a:extLst>
              </p:cNvPr>
              <p:cNvSpPr txBox="1"/>
              <p:nvPr/>
            </p:nvSpPr>
            <p:spPr>
              <a:xfrm>
                <a:off x="9237516" y="4576230"/>
                <a:ext cx="1349191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Ciphertext of the plain text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7E75749-2079-03DA-8052-3087DAA89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16" y="4576230"/>
                <a:ext cx="1349191" cy="923330"/>
              </a:xfrm>
              <a:prstGeom prst="rect">
                <a:avLst/>
              </a:prstGeom>
              <a:blipFill>
                <a:blip r:embed="rId10"/>
                <a:stretch>
                  <a:fillRect l="-3604" t="-3974" b="-9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9789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EB21-65D8-CA24-7EDE-B1A83B3A0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32853-1E9A-2FF3-50FA-F0957EF28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5. xMK CKKS scheme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A5AEC-C1F3-DC33-C1F0-F0860E821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44AA3-F58C-0DD4-A697-302CD67C8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81231-50F8-785A-6A7B-97F4F019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12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92F7DD-D3A6-6902-C2CF-F858461B593D}"/>
              </a:ext>
            </a:extLst>
          </p:cNvPr>
          <p:cNvSpPr txBox="1"/>
          <p:nvPr/>
        </p:nvSpPr>
        <p:spPr>
          <a:xfrm>
            <a:off x="4018096" y="2116415"/>
            <a:ext cx="3390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additive homomorphic property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85D0A3-24AF-3EB6-4638-CB0BB2E4C207}"/>
                  </a:ext>
                </a:extLst>
              </p:cNvPr>
              <p:cNvSpPr txBox="1"/>
              <p:nvPr/>
            </p:nvSpPr>
            <p:spPr>
              <a:xfrm>
                <a:off x="3290455" y="2604491"/>
                <a:ext cx="4862945" cy="9916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𝑠𝑢𝑚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𝑠𝑢𝑚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𝑠𝑢𝑚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</m:oMath>
                  </m:oMathPara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                       =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bSup>
                            </m:e>
                          </m:nary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bSup>
                            </m:e>
                          </m:nary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85D0A3-24AF-3EB6-4638-CB0BB2E4C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0455" y="2604491"/>
                <a:ext cx="4862945" cy="9916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E6F22AE7-4C3B-DF7A-3E52-8B7D4806A967}"/>
              </a:ext>
            </a:extLst>
          </p:cNvPr>
          <p:cNvSpPr txBox="1"/>
          <p:nvPr/>
        </p:nvSpPr>
        <p:spPr>
          <a:xfrm>
            <a:off x="4242124" y="3902548"/>
            <a:ext cx="143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decryption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A9BB84F-9B62-5060-DC39-1EF64B5151DB}"/>
                  </a:ext>
                </a:extLst>
              </p:cNvPr>
              <p:cNvSpPr txBox="1"/>
              <p:nvPr/>
            </p:nvSpPr>
            <p:spPr>
              <a:xfrm>
                <a:off x="4018096" y="4399515"/>
                <a:ext cx="2915412" cy="369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𝑠𝑢𝑚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i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A9BB84F-9B62-5060-DC39-1EF64B515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8096" y="4399515"/>
                <a:ext cx="2915412" cy="369588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4951A-F973-2155-A3E8-608DBE5074B2}"/>
                  </a:ext>
                </a:extLst>
              </p:cNvPr>
              <p:cNvSpPr txBox="1"/>
              <p:nvPr/>
            </p:nvSpPr>
            <p:spPr>
              <a:xfrm>
                <a:off x="4110228" y="4969998"/>
                <a:ext cx="3930535" cy="6592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𝑠𝑢𝑚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≈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4951A-F973-2155-A3E8-608DBE507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0228" y="4969998"/>
                <a:ext cx="3930535" cy="6592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8284D53-AA98-1E5B-7CE3-5C14F97AEA11}"/>
              </a:ext>
            </a:extLst>
          </p:cNvPr>
          <p:cNvCxnSpPr>
            <a:stCxn id="32" idx="3"/>
          </p:cNvCxnSpPr>
          <p:nvPr/>
        </p:nvCxnSpPr>
        <p:spPr>
          <a:xfrm>
            <a:off x="8153400" y="3100332"/>
            <a:ext cx="876300" cy="6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1FCF821-F432-4497-0073-A79D4BD31727}"/>
              </a:ext>
            </a:extLst>
          </p:cNvPr>
          <p:cNvCxnSpPr/>
          <p:nvPr/>
        </p:nvCxnSpPr>
        <p:spPr>
          <a:xfrm>
            <a:off x="6985463" y="4596639"/>
            <a:ext cx="876300" cy="6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BC62DDC-43DB-2F7A-7C2E-B4674F82DED3}"/>
              </a:ext>
            </a:extLst>
          </p:cNvPr>
          <p:cNvCxnSpPr>
            <a:stCxn id="38" idx="3"/>
          </p:cNvCxnSpPr>
          <p:nvPr/>
        </p:nvCxnSpPr>
        <p:spPr>
          <a:xfrm flipV="1">
            <a:off x="8040763" y="5299639"/>
            <a:ext cx="120714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3EEF76A-2291-027B-85E8-7C1D7CBDDD70}"/>
              </a:ext>
            </a:extLst>
          </p:cNvPr>
          <p:cNvSpPr txBox="1"/>
          <p:nvPr/>
        </p:nvSpPr>
        <p:spPr>
          <a:xfrm>
            <a:off x="9029700" y="2915666"/>
            <a:ext cx="2524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Aggregated ciphertexts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6EEC09-4FD6-15DC-D093-EE19DD1BEB0A}"/>
              </a:ext>
            </a:extLst>
          </p:cNvPr>
          <p:cNvSpPr txBox="1"/>
          <p:nvPr/>
        </p:nvSpPr>
        <p:spPr>
          <a:xfrm>
            <a:off x="7913719" y="4381424"/>
            <a:ext cx="1207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shares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7C4B2B-94F5-E17A-FC29-A213F3B956A3}"/>
              </a:ext>
            </a:extLst>
          </p:cNvPr>
          <p:cNvSpPr txBox="1"/>
          <p:nvPr/>
        </p:nvSpPr>
        <p:spPr>
          <a:xfrm>
            <a:off x="9247909" y="5114973"/>
            <a:ext cx="2524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Aggregated plain texts</a:t>
            </a:r>
          </a:p>
        </p:txBody>
      </p:sp>
    </p:spTree>
    <p:extLst>
      <p:ext uri="{BB962C8B-B14F-4D97-AF65-F5344CB8AC3E}">
        <p14:creationId xmlns:p14="http://schemas.microsoft.com/office/powerpoint/2010/main" val="1958286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C7D48-8B9B-FCDB-B752-0AE41C6F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E2CF5-8EFA-FA33-2C67-3E2D9FDE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5. xMK CKKS scheme (network)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F7DA0-D8C1-F2CC-7283-14F653D2D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8DF9B-E645-487D-46AD-A81236207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4F829-5E77-FEDC-7A02-068999A7B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13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00329A-7DFF-180B-8598-BE27790A966E}"/>
              </a:ext>
            </a:extLst>
          </p:cNvPr>
          <p:cNvSpPr/>
          <p:nvPr/>
        </p:nvSpPr>
        <p:spPr>
          <a:xfrm>
            <a:off x="1423555" y="2141971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7605A61-550D-1FD1-53E8-25456B37EE01}"/>
              </a:ext>
            </a:extLst>
          </p:cNvPr>
          <p:cNvSpPr/>
          <p:nvPr/>
        </p:nvSpPr>
        <p:spPr>
          <a:xfrm>
            <a:off x="1423555" y="3584298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858A046-895D-06D2-5E8E-502EA3D92C94}"/>
              </a:ext>
            </a:extLst>
          </p:cNvPr>
          <p:cNvCxnSpPr>
            <a:stCxn id="7" idx="6"/>
          </p:cNvCxnSpPr>
          <p:nvPr/>
        </p:nvCxnSpPr>
        <p:spPr>
          <a:xfrm flipV="1">
            <a:off x="2805544" y="2365375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296FA9-2E25-02D5-5A1B-3286886738FB}"/>
              </a:ext>
            </a:extLst>
          </p:cNvPr>
          <p:cNvCxnSpPr/>
          <p:nvPr/>
        </p:nvCxnSpPr>
        <p:spPr>
          <a:xfrm flipV="1">
            <a:off x="2805544" y="3807701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8A7C34B-3BD8-44FA-86AC-64F09474C242}"/>
                  </a:ext>
                </a:extLst>
              </p:cNvPr>
              <p:cNvSpPr txBox="1"/>
              <p:nvPr/>
            </p:nvSpPr>
            <p:spPr>
              <a:xfrm>
                <a:off x="2953615" y="2005845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8A7C34B-3BD8-44FA-86AC-64F09474C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615" y="2005845"/>
                <a:ext cx="47971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9A5813-243F-8948-55E0-A04B52065DFE}"/>
                  </a:ext>
                </a:extLst>
              </p:cNvPr>
              <p:cNvSpPr txBox="1"/>
              <p:nvPr/>
            </p:nvSpPr>
            <p:spPr>
              <a:xfrm>
                <a:off x="2953614" y="3450793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99A5813-243F-8948-55E0-A04B52065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614" y="3450793"/>
                <a:ext cx="47971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F777-653E-D346-51DF-FF21785E575A}"/>
                  </a:ext>
                </a:extLst>
              </p:cNvPr>
              <p:cNvSpPr txBox="1"/>
              <p:nvPr/>
            </p:nvSpPr>
            <p:spPr>
              <a:xfrm>
                <a:off x="3581399" y="2173495"/>
                <a:ext cx="479714" cy="383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F777-653E-D346-51DF-FF21785E5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399" y="2173495"/>
                <a:ext cx="479714" cy="383759"/>
              </a:xfrm>
              <a:prstGeom prst="rect">
                <a:avLst/>
              </a:prstGeom>
              <a:blipFill>
                <a:blip r:embed="rId4"/>
                <a:stretch>
                  <a:fillRect t="-4839" r="-17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174805-DDAD-3571-E85B-26AEA8E7F805}"/>
                  </a:ext>
                </a:extLst>
              </p:cNvPr>
              <p:cNvSpPr txBox="1"/>
              <p:nvPr/>
            </p:nvSpPr>
            <p:spPr>
              <a:xfrm>
                <a:off x="3558883" y="3615821"/>
                <a:ext cx="479714" cy="383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174805-DDAD-3571-E85B-26AEA8E7F8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8883" y="3615821"/>
                <a:ext cx="479714" cy="383759"/>
              </a:xfrm>
              <a:prstGeom prst="rect">
                <a:avLst/>
              </a:prstGeom>
              <a:blipFill>
                <a:blip r:embed="rId5"/>
                <a:stretch>
                  <a:fillRect t="-4762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0C67E10-EB04-B9C1-7C87-498080CEA329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4061113" y="2365375"/>
            <a:ext cx="18928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7A7EA18-72B0-0273-D0C2-8166E81E3F9E}"/>
              </a:ext>
            </a:extLst>
          </p:cNvPr>
          <p:cNvCxnSpPr>
            <a:cxnSpLocks/>
          </p:cNvCxnSpPr>
          <p:nvPr/>
        </p:nvCxnSpPr>
        <p:spPr>
          <a:xfrm>
            <a:off x="4061113" y="3802799"/>
            <a:ext cx="1892878" cy="4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B3DA5BE-ABD3-13C5-98FA-6415B76EFB73}"/>
                  </a:ext>
                </a:extLst>
              </p:cNvPr>
              <p:cNvSpPr txBox="1"/>
              <p:nvPr/>
            </p:nvSpPr>
            <p:spPr>
              <a:xfrm>
                <a:off x="3883602" y="1845985"/>
                <a:ext cx="1905000" cy="4294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B3DA5BE-ABD3-13C5-98FA-6415B76EF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02" y="1845985"/>
                <a:ext cx="1905000" cy="429413"/>
              </a:xfrm>
              <a:prstGeom prst="rect">
                <a:avLst/>
              </a:prstGeom>
              <a:blipFill>
                <a:blip r:embed="rId6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5DFCF55-7C0D-EF20-D252-9B6D9E266735}"/>
                  </a:ext>
                </a:extLst>
              </p:cNvPr>
              <p:cNvSpPr txBox="1"/>
              <p:nvPr/>
            </p:nvSpPr>
            <p:spPr>
              <a:xfrm>
                <a:off x="3883602" y="3263467"/>
                <a:ext cx="1905000" cy="4460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5DFCF55-7C0D-EF20-D252-9B6D9E266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02" y="3263467"/>
                <a:ext cx="1905000" cy="446020"/>
              </a:xfrm>
              <a:prstGeom prst="rect">
                <a:avLst/>
              </a:prstGeom>
              <a:blipFill>
                <a:blip r:embed="rId7"/>
                <a:stretch>
                  <a:fillRect b="-4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7F173170-2DAB-625B-804C-30BBA2F9749B}"/>
              </a:ext>
            </a:extLst>
          </p:cNvPr>
          <p:cNvSpPr/>
          <p:nvPr/>
        </p:nvSpPr>
        <p:spPr>
          <a:xfrm>
            <a:off x="8423566" y="2872608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69B7B5A-8C50-C7E7-2113-A2A7B7325F71}"/>
              </a:ext>
            </a:extLst>
          </p:cNvPr>
          <p:cNvCxnSpPr>
            <a:cxnSpLocks/>
            <a:endCxn id="28" idx="2"/>
          </p:cNvCxnSpPr>
          <p:nvPr/>
        </p:nvCxnSpPr>
        <p:spPr>
          <a:xfrm>
            <a:off x="6826827" y="2375177"/>
            <a:ext cx="1596739" cy="720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4A43350-D30E-0706-9F92-C0FA2335EC3A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6826827" y="3096013"/>
            <a:ext cx="1596739" cy="7208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7AA48CD-9239-B6AD-EF7D-39E24854A6D0}"/>
                  </a:ext>
                </a:extLst>
              </p:cNvPr>
              <p:cNvSpPr txBox="1"/>
              <p:nvPr/>
            </p:nvSpPr>
            <p:spPr>
              <a:xfrm>
                <a:off x="5864994" y="2173495"/>
                <a:ext cx="10768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7AA48CD-9239-B6AD-EF7D-39E24854A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994" y="2173495"/>
                <a:ext cx="1076811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04A99B7-59C6-90F9-E519-07ABCCAFDB0C}"/>
                  </a:ext>
                </a:extLst>
              </p:cNvPr>
              <p:cNvSpPr txBox="1"/>
              <p:nvPr/>
            </p:nvSpPr>
            <p:spPr>
              <a:xfrm>
                <a:off x="5864993" y="3615343"/>
                <a:ext cx="10768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04A99B7-59C6-90F9-E519-07ABCCAFD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993" y="3615343"/>
                <a:ext cx="1076811" cy="369332"/>
              </a:xfrm>
              <a:prstGeom prst="rect">
                <a:avLst/>
              </a:prstGeom>
              <a:blipFill>
                <a:blip r:embed="rId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2EC9249-027C-75F8-19A4-6DF1311C304A}"/>
              </a:ext>
            </a:extLst>
          </p:cNvPr>
          <p:cNvCxnSpPr>
            <a:cxnSpLocks/>
            <a:stCxn id="28" idx="6"/>
          </p:cNvCxnSpPr>
          <p:nvPr/>
        </p:nvCxnSpPr>
        <p:spPr>
          <a:xfrm>
            <a:off x="9805555" y="3096013"/>
            <a:ext cx="17261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56B37C4-8D8F-F151-4734-8807FFA7F602}"/>
                  </a:ext>
                </a:extLst>
              </p:cNvPr>
              <p:cNvSpPr txBox="1"/>
              <p:nvPr/>
            </p:nvSpPr>
            <p:spPr>
              <a:xfrm>
                <a:off x="9805555" y="2772016"/>
                <a:ext cx="17261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𝑠𝑢𝑚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56B37C4-8D8F-F151-4734-8807FFA7F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5555" y="2772016"/>
                <a:ext cx="1726114" cy="276999"/>
              </a:xfrm>
              <a:prstGeom prst="rect">
                <a:avLst/>
              </a:prstGeom>
              <a:blipFill>
                <a:blip r:embed="rId10"/>
                <a:stretch>
                  <a:fillRect l="-2827" r="-70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FA0E661-E4AA-6CA1-2305-5AFA3B5D45ED}"/>
              </a:ext>
            </a:extLst>
          </p:cNvPr>
          <p:cNvCxnSpPr/>
          <p:nvPr/>
        </p:nvCxnSpPr>
        <p:spPr>
          <a:xfrm>
            <a:off x="11531669" y="3096012"/>
            <a:ext cx="0" cy="18812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FFCDEFE4-B270-7ADF-21E0-E9ED0395A9DA}"/>
              </a:ext>
            </a:extLst>
          </p:cNvPr>
          <p:cNvCxnSpPr>
            <a:endCxn id="8" idx="2"/>
          </p:cNvCxnSpPr>
          <p:nvPr/>
        </p:nvCxnSpPr>
        <p:spPr>
          <a:xfrm rot="10800000">
            <a:off x="1423555" y="3807703"/>
            <a:ext cx="10108114" cy="1169542"/>
          </a:xfrm>
          <a:prstGeom prst="bentConnector3">
            <a:avLst>
              <a:gd name="adj1" fmla="val 1022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E4FF0F4-B533-DBC4-304E-2626EC101D4E}"/>
                  </a:ext>
                </a:extLst>
              </p:cNvPr>
              <p:cNvSpPr txBox="1"/>
              <p:nvPr/>
            </p:nvSpPr>
            <p:spPr>
              <a:xfrm>
                <a:off x="4637807" y="4317962"/>
                <a:ext cx="3872348" cy="6592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𝑠𝑢𝑚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E4FF0F4-B533-DBC4-304E-2626EC101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7807" y="4317962"/>
                <a:ext cx="3872348" cy="65928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7D68D40A-FDC0-62DA-069E-9AA6CD46BD85}"/>
              </a:ext>
            </a:extLst>
          </p:cNvPr>
          <p:cNvCxnSpPr>
            <a:endCxn id="7" idx="2"/>
          </p:cNvCxnSpPr>
          <p:nvPr/>
        </p:nvCxnSpPr>
        <p:spPr>
          <a:xfrm rot="5400000" flipH="1" flipV="1">
            <a:off x="597134" y="2973588"/>
            <a:ext cx="1434633" cy="2182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431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AC3-B6BF-34D6-2A51-F2496D75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59C1D-A3CF-356C-121C-3D71559F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6. DF-KS scheme (DF)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247AC-A59C-EFCB-806B-F6470678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75A95-9DDB-55BE-4D19-5F3E93726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E6A41-B4DF-61D5-40D7-935B5DFEC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14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A6F46-60D2-C34F-B8F6-DAA30D501674}"/>
                  </a:ext>
                </a:extLst>
              </p:cNvPr>
              <p:cNvSpPr txBox="1"/>
              <p:nvPr/>
            </p:nvSpPr>
            <p:spPr>
              <a:xfrm>
                <a:off x="4135167" y="2912662"/>
                <a:ext cx="2568425" cy="6649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A6F46-60D2-C34F-B8F6-DAA30D501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5167" y="2912662"/>
                <a:ext cx="2568425" cy="664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02F879-92F1-F307-DD92-CF46DA67BEE4}"/>
                  </a:ext>
                </a:extLst>
              </p:cNvPr>
              <p:cNvSpPr txBox="1"/>
              <p:nvPr/>
            </p:nvSpPr>
            <p:spPr>
              <a:xfrm>
                <a:off x="4234989" y="2459264"/>
                <a:ext cx="2770632" cy="3745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</a:rPr>
                  <a:t>[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3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</a:rPr>
                  <a:t>]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Arial" panose="020B0604020202020204" pitchFamily="34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]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sz="18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02F879-92F1-F307-DD92-CF46DA67B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89" y="2459264"/>
                <a:ext cx="2770632" cy="374590"/>
              </a:xfrm>
              <a:prstGeom prst="rect">
                <a:avLst/>
              </a:prstGeom>
              <a:blipFill>
                <a:blip r:embed="rId3"/>
                <a:stretch>
                  <a:fillRect l="-1982" t="-8065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1B3A63-2EC2-C94C-FC2D-431FCB765B4D}"/>
                  </a:ext>
                </a:extLst>
              </p:cNvPr>
              <p:cNvSpPr txBox="1"/>
              <p:nvPr/>
            </p:nvSpPr>
            <p:spPr>
              <a:xfrm>
                <a:off x="4335573" y="3641341"/>
                <a:ext cx="1992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𝑠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=[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𝑟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𝑑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Arial" panose="020B0604020202020204" pitchFamily="34" charset="0"/>
                      </a:rPr>
                      <m:t>]</m:t>
                    </m:r>
                  </m:oMath>
                </a14:m>
                <a:r>
                  <a:rPr lang="en-US" sz="1800" dirty="0">
                    <a:effectLst/>
                    <a:latin typeface="Arial" panose="020B0604020202020204" pitchFamily="34" charset="0"/>
                    <a:ea typeface="Calibri" panose="020F0502020204030204" pitchFamily="34" charset="0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1B3A63-2EC2-C94C-FC2D-431FCB765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5573" y="3641341"/>
                <a:ext cx="1992630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B3D8DA-506B-4774-15FB-D212AFA7A6DD}"/>
                  </a:ext>
                </a:extLst>
              </p:cNvPr>
              <p:cNvSpPr txBox="1"/>
              <p:nvPr/>
            </p:nvSpPr>
            <p:spPr>
              <a:xfrm>
                <a:off x="4038600" y="4180849"/>
                <a:ext cx="38364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B3D8DA-506B-4774-15FB-D212AFA7A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0" y="4180849"/>
                <a:ext cx="383646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D1A9C36-D860-657B-0057-34A08743AEAE}"/>
                  </a:ext>
                </a:extLst>
              </p:cNvPr>
              <p:cNvSpPr txBox="1"/>
              <p:nvPr/>
            </p:nvSpPr>
            <p:spPr>
              <a:xfrm>
                <a:off x="4234989" y="2082630"/>
                <a:ext cx="18680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encryption of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𝒂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D1A9C36-D860-657B-0057-34A08743A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89" y="2082630"/>
                <a:ext cx="1868078" cy="369332"/>
              </a:xfrm>
              <a:prstGeom prst="rect">
                <a:avLst/>
              </a:prstGeom>
              <a:blipFill>
                <a:blip r:embed="rId6"/>
                <a:stretch>
                  <a:fillRect l="-2941" t="-1166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4160B4-F434-CD79-0AC7-9791B925A1B0}"/>
              </a:ext>
            </a:extLst>
          </p:cNvPr>
          <p:cNvCxnSpPr>
            <a:stCxn id="15" idx="3"/>
          </p:cNvCxnSpPr>
          <p:nvPr/>
        </p:nvCxnSpPr>
        <p:spPr>
          <a:xfrm flipV="1">
            <a:off x="6103067" y="2265218"/>
            <a:ext cx="1555033" cy="20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B286C17-82F0-F8D3-0D72-F8305FA33FB7}"/>
              </a:ext>
            </a:extLst>
          </p:cNvPr>
          <p:cNvCxnSpPr/>
          <p:nvPr/>
        </p:nvCxnSpPr>
        <p:spPr>
          <a:xfrm flipV="1">
            <a:off x="6703592" y="3259156"/>
            <a:ext cx="1555033" cy="20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C9D8E52-35DD-BA93-7941-47253C6C1585}"/>
              </a:ext>
            </a:extLst>
          </p:cNvPr>
          <p:cNvCxnSpPr/>
          <p:nvPr/>
        </p:nvCxnSpPr>
        <p:spPr>
          <a:xfrm flipV="1">
            <a:off x="6255467" y="3826007"/>
            <a:ext cx="1555033" cy="20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A5ACB7-22CA-23DF-78DD-88C82C23F7C8}"/>
              </a:ext>
            </a:extLst>
          </p:cNvPr>
          <p:cNvCxnSpPr/>
          <p:nvPr/>
        </p:nvCxnSpPr>
        <p:spPr>
          <a:xfrm flipV="1">
            <a:off x="7658100" y="4353046"/>
            <a:ext cx="1555033" cy="20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433DA3-3F7E-540C-56D6-C06B061B6E58}"/>
              </a:ext>
            </a:extLst>
          </p:cNvPr>
          <p:cNvSpPr txBox="1"/>
          <p:nvPr/>
        </p:nvSpPr>
        <p:spPr>
          <a:xfrm>
            <a:off x="7810500" y="2088716"/>
            <a:ext cx="1063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Plain text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7C4314-1343-765E-D791-D7AAEE224002}"/>
              </a:ext>
            </a:extLst>
          </p:cNvPr>
          <p:cNvSpPr txBox="1"/>
          <p:nvPr/>
        </p:nvSpPr>
        <p:spPr>
          <a:xfrm>
            <a:off x="8258625" y="3089329"/>
            <a:ext cx="3441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 of the Plain text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F19E4B-D43D-D72B-BB99-F9B6DCA7A00F}"/>
              </a:ext>
            </a:extLst>
          </p:cNvPr>
          <p:cNvSpPr txBox="1"/>
          <p:nvPr/>
        </p:nvSpPr>
        <p:spPr>
          <a:xfrm>
            <a:off x="7904016" y="3635235"/>
            <a:ext cx="1309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Secret key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F409A3-D1CC-46A2-1C20-4D819295EDC3}"/>
              </a:ext>
            </a:extLst>
          </p:cNvPr>
          <p:cNvSpPr txBox="1"/>
          <p:nvPr/>
        </p:nvSpPr>
        <p:spPr>
          <a:xfrm>
            <a:off x="9213133" y="4196680"/>
            <a:ext cx="1309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cipher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4332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4C1B2-8775-37CA-1384-170BCFBEE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C49C0-BD71-2509-BD71-14BA6EF5E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6. DF-KS scheme (DF)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7C493-DE57-2B31-4B31-2DC911712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255ED-3FC0-B0FF-5E6E-C9FC3C227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C3B51-5F3F-D570-BC6B-EBAAD01CB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15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DC9293-5F79-E67C-19F2-E64B92428EC2}"/>
                  </a:ext>
                </a:extLst>
              </p:cNvPr>
              <p:cNvSpPr txBox="1"/>
              <p:nvPr/>
            </p:nvSpPr>
            <p:spPr>
              <a:xfrm>
                <a:off x="3555457" y="2586440"/>
                <a:ext cx="3654067" cy="3837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𝑖𝑛𝑣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</m:t>
                      </m:r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DC9293-5F79-E67C-19F2-E64B92428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5457" y="2586440"/>
                <a:ext cx="3654067" cy="383759"/>
              </a:xfrm>
              <a:prstGeom prst="rect">
                <a:avLst/>
              </a:prstGeom>
              <a:blipFill>
                <a:blip r:embed="rId2"/>
                <a:stretch>
                  <a:fillRect b="-15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0501AF1-802F-41E4-E79E-F86A1669ADF3}"/>
              </a:ext>
            </a:extLst>
          </p:cNvPr>
          <p:cNvSpPr txBox="1"/>
          <p:nvPr/>
        </p:nvSpPr>
        <p:spPr>
          <a:xfrm>
            <a:off x="3848169" y="2267012"/>
            <a:ext cx="1534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decryption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A9A3FB-03F6-6809-F214-3597740AB138}"/>
                  </a:ext>
                </a:extLst>
              </p:cNvPr>
              <p:cNvSpPr txBox="1"/>
              <p:nvPr/>
            </p:nvSpPr>
            <p:spPr>
              <a:xfrm>
                <a:off x="3733245" y="2996715"/>
                <a:ext cx="3768991" cy="6649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𝑛𝑣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EA9A3FB-03F6-6809-F214-3597740AB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245" y="2996715"/>
                <a:ext cx="3768991" cy="6649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CF335D6-6356-2DF5-A361-C33F2E616A30}"/>
              </a:ext>
            </a:extLst>
          </p:cNvPr>
          <p:cNvSpPr txBox="1"/>
          <p:nvPr/>
        </p:nvSpPr>
        <p:spPr>
          <a:xfrm>
            <a:off x="3848169" y="3816436"/>
            <a:ext cx="3654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additive homomorphic property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1A0C5A2-133C-C4EA-2860-BD046167FBB9}"/>
                  </a:ext>
                </a:extLst>
              </p:cNvPr>
              <p:cNvSpPr txBox="1"/>
              <p:nvPr/>
            </p:nvSpPr>
            <p:spPr>
              <a:xfrm>
                <a:off x="3365961" y="4304229"/>
                <a:ext cx="654073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 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,…, 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1A0C5A2-133C-C4EA-2860-BD046167F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961" y="4304229"/>
                <a:ext cx="654073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9930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FAA59-6D6A-F318-FAEE-B973C7886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5F437-BFA0-A779-125A-0DADEE79E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6. DF-KS scheme (KS)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8E0A2C-BE4E-6D23-A531-6B0CEB1AE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57C72-B43F-5C30-5D3F-D345C606C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16234-5E67-A82B-6B7F-6DFF617CE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16</a:t>
            </a:fld>
            <a:endParaRPr lang="en-US" sz="1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EEEA03-575A-1C88-F756-385F0917BBC5}"/>
                  </a:ext>
                </a:extLst>
              </p:cNvPr>
              <p:cNvSpPr txBox="1"/>
              <p:nvPr/>
            </p:nvSpPr>
            <p:spPr>
              <a:xfrm>
                <a:off x="1213104" y="3763382"/>
                <a:ext cx="24444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𝑑𝑒𝑐</m:t>
                          </m:r>
                        </m:e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𝑑𝑒𝑐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EEEA03-575A-1C88-F756-385F0917B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3104" y="3763382"/>
                <a:ext cx="244449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C80E21-BD49-2042-46A9-B2CA0EF5FDE8}"/>
                  </a:ext>
                </a:extLst>
              </p:cNvPr>
              <p:cNvSpPr txBox="1"/>
              <p:nvPr/>
            </p:nvSpPr>
            <p:spPr>
              <a:xfrm>
                <a:off x="5274685" y="3763382"/>
                <a:ext cx="132259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5C80E21-BD49-2042-46A9-B2CA0EF5F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685" y="3763382"/>
                <a:ext cx="132259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F8FC3C-10F3-10B0-1D3B-7AA1BDF646BC}"/>
                  </a:ext>
                </a:extLst>
              </p:cNvPr>
              <p:cNvSpPr txBox="1"/>
              <p:nvPr/>
            </p:nvSpPr>
            <p:spPr>
              <a:xfrm>
                <a:off x="8812115" y="3669062"/>
                <a:ext cx="1173341" cy="5579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F8FC3C-10F3-10B0-1D3B-7AA1BDF64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2115" y="3669062"/>
                <a:ext cx="1173341" cy="5579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0B8E581-3942-B757-28FC-9BE70F5D4B7B}"/>
                  </a:ext>
                </a:extLst>
              </p:cNvPr>
              <p:cNvSpPr txBox="1"/>
              <p:nvPr/>
            </p:nvSpPr>
            <p:spPr>
              <a:xfrm>
                <a:off x="8434924" y="4349574"/>
                <a:ext cx="2918876" cy="369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 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𝑖𝑛𝑣𝑒𝑟𝑠𝑒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0B8E581-3942-B757-28FC-9BE70F5D4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4924" y="4349574"/>
                <a:ext cx="2918876" cy="369588"/>
              </a:xfrm>
              <a:prstGeom prst="rect">
                <a:avLst/>
              </a:prstGeom>
              <a:blipFill>
                <a:blip r:embed="rId5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0369764-E40A-7514-CF8F-F0489970C29A}"/>
              </a:ext>
            </a:extLst>
          </p:cNvPr>
          <p:cNvSpPr txBox="1"/>
          <p:nvPr/>
        </p:nvSpPr>
        <p:spPr>
          <a:xfrm>
            <a:off x="2838450" y="2247002"/>
            <a:ext cx="6515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technique that transforms data encrypted under one key into an equivalent ciphertext under another key without decrypting it.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5C5DE4-618B-882F-373D-7469EFCF6EA6}"/>
              </a:ext>
            </a:extLst>
          </p:cNvPr>
          <p:cNvCxnSpPr/>
          <p:nvPr/>
        </p:nvCxnSpPr>
        <p:spPr>
          <a:xfrm>
            <a:off x="6231082" y="4052455"/>
            <a:ext cx="0" cy="666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82A8560-6791-DAD7-202E-65F901903880}"/>
              </a:ext>
            </a:extLst>
          </p:cNvPr>
          <p:cNvCxnSpPr>
            <a:stCxn id="12" idx="1"/>
          </p:cNvCxnSpPr>
          <p:nvPr/>
        </p:nvCxnSpPr>
        <p:spPr>
          <a:xfrm rot="10800000" flipV="1">
            <a:off x="4530437" y="3948047"/>
            <a:ext cx="744249" cy="883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B1403F4-DE68-1196-55EC-4B477A8B7250}"/>
              </a:ext>
            </a:extLst>
          </p:cNvPr>
          <p:cNvCxnSpPr>
            <a:cxnSpLocks/>
            <a:stCxn id="16" idx="1"/>
          </p:cNvCxnSpPr>
          <p:nvPr/>
        </p:nvCxnSpPr>
        <p:spPr>
          <a:xfrm rot="10800000" flipV="1">
            <a:off x="7974719" y="3948048"/>
            <a:ext cx="837396" cy="12530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AB4A7D-B982-A4E6-DA6A-82B875438727}"/>
              </a:ext>
            </a:extLst>
          </p:cNvPr>
          <p:cNvSpPr txBox="1"/>
          <p:nvPr/>
        </p:nvSpPr>
        <p:spPr>
          <a:xfrm>
            <a:off x="3581400" y="4831772"/>
            <a:ext cx="173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cipher 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D4CC0B-95D5-BFD4-7981-42A80B476255}"/>
              </a:ext>
            </a:extLst>
          </p:cNvPr>
          <p:cNvSpPr txBox="1"/>
          <p:nvPr/>
        </p:nvSpPr>
        <p:spPr>
          <a:xfrm>
            <a:off x="5550002" y="4831772"/>
            <a:ext cx="173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cipher 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A6304D-F509-6D62-54A9-602A0DC69911}"/>
              </a:ext>
            </a:extLst>
          </p:cNvPr>
          <p:cNvSpPr txBox="1"/>
          <p:nvPr/>
        </p:nvSpPr>
        <p:spPr>
          <a:xfrm>
            <a:off x="7523018" y="5197615"/>
            <a:ext cx="1496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matrix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995BA35-0B07-4A43-760C-BEA3C58C2EB2}"/>
              </a:ext>
            </a:extLst>
          </p:cNvPr>
          <p:cNvCxnSpPr/>
          <p:nvPr/>
        </p:nvCxnSpPr>
        <p:spPr>
          <a:xfrm>
            <a:off x="3581400" y="3763382"/>
            <a:ext cx="0" cy="22737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23F88A9-2829-E920-2FA5-0E6C097FA944}"/>
              </a:ext>
            </a:extLst>
          </p:cNvPr>
          <p:cNvCxnSpPr/>
          <p:nvPr/>
        </p:nvCxnSpPr>
        <p:spPr>
          <a:xfrm>
            <a:off x="7288747" y="3669062"/>
            <a:ext cx="0" cy="23680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51286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BCF31-3D02-91F6-BE62-3A726CFC6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953E3-E28F-2156-E9AF-645DDC17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6. DF-KS scheme (network)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1F8A7-911F-57BF-8129-F14CC120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A08DB-20B0-7A22-C050-5AD98E258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8DA2FC-12EC-A074-533E-A1D909A77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17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795F2DA-DDB8-6457-A87E-446E20CF2BB8}"/>
              </a:ext>
            </a:extLst>
          </p:cNvPr>
          <p:cNvSpPr/>
          <p:nvPr/>
        </p:nvSpPr>
        <p:spPr>
          <a:xfrm>
            <a:off x="3799611" y="2183027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DC9F02-ACBA-91C3-D10E-36939D4375A4}"/>
              </a:ext>
            </a:extLst>
          </p:cNvPr>
          <p:cNvSpPr/>
          <p:nvPr/>
        </p:nvSpPr>
        <p:spPr>
          <a:xfrm>
            <a:off x="3799611" y="3625354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Client 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841C4F3-EDD1-5D03-8A8D-9637E97E7A25}"/>
              </a:ext>
            </a:extLst>
          </p:cNvPr>
          <p:cNvCxnSpPr>
            <a:stCxn id="3" idx="6"/>
          </p:cNvCxnSpPr>
          <p:nvPr/>
        </p:nvCxnSpPr>
        <p:spPr>
          <a:xfrm flipV="1">
            <a:off x="5181600" y="2406431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29727E-DBE3-0A52-B8F6-426DE2147C69}"/>
              </a:ext>
            </a:extLst>
          </p:cNvPr>
          <p:cNvCxnSpPr/>
          <p:nvPr/>
        </p:nvCxnSpPr>
        <p:spPr>
          <a:xfrm flipV="1">
            <a:off x="5181600" y="3848757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E657159-CC78-BD69-1911-EEF5BA93D8A1}"/>
                  </a:ext>
                </a:extLst>
              </p:cNvPr>
              <p:cNvSpPr txBox="1"/>
              <p:nvPr/>
            </p:nvSpPr>
            <p:spPr>
              <a:xfrm>
                <a:off x="5329671" y="2046901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E657159-CC78-BD69-1911-EEF5BA93D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9671" y="2046901"/>
                <a:ext cx="47971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789455-5A98-6BB4-851D-39B3E675F044}"/>
                  </a:ext>
                </a:extLst>
              </p:cNvPr>
              <p:cNvSpPr txBox="1"/>
              <p:nvPr/>
            </p:nvSpPr>
            <p:spPr>
              <a:xfrm>
                <a:off x="5329670" y="3491849"/>
                <a:ext cx="4797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789455-5A98-6BB4-851D-39B3E675F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9670" y="3491849"/>
                <a:ext cx="47971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151CD8-782B-4CB3-EF9E-7DFC6748BDDB}"/>
                  </a:ext>
                </a:extLst>
              </p:cNvPr>
              <p:cNvSpPr txBox="1"/>
              <p:nvPr/>
            </p:nvSpPr>
            <p:spPr>
              <a:xfrm>
                <a:off x="5957455" y="2214551"/>
                <a:ext cx="710046" cy="396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151CD8-782B-4CB3-EF9E-7DFC6748B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7455" y="2214551"/>
                <a:ext cx="710046" cy="396712"/>
              </a:xfrm>
              <a:prstGeom prst="rect">
                <a:avLst/>
              </a:prstGeom>
              <a:blipFill>
                <a:blip r:embed="rId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0322F0-BE74-3087-A3B8-DBD475E17728}"/>
                  </a:ext>
                </a:extLst>
              </p:cNvPr>
              <p:cNvSpPr txBox="1"/>
              <p:nvPr/>
            </p:nvSpPr>
            <p:spPr>
              <a:xfrm>
                <a:off x="5934939" y="3656877"/>
                <a:ext cx="479714" cy="396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0322F0-BE74-3087-A3B8-DBD475E17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939" y="3656877"/>
                <a:ext cx="479714" cy="396712"/>
              </a:xfrm>
              <a:prstGeom prst="rect">
                <a:avLst/>
              </a:prstGeom>
              <a:blipFill>
                <a:blip r:embed="rId5"/>
                <a:stretch>
                  <a:fillRect r="-32051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0DBA2D7-C3F7-EA29-73EB-3144A7C7E867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6667501" y="2412907"/>
            <a:ext cx="6719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840E4E9-02D1-BB4D-2F9B-E9F15DF1C6D1}"/>
              </a:ext>
            </a:extLst>
          </p:cNvPr>
          <p:cNvCxnSpPr>
            <a:cxnSpLocks/>
          </p:cNvCxnSpPr>
          <p:nvPr/>
        </p:nvCxnSpPr>
        <p:spPr>
          <a:xfrm flipV="1">
            <a:off x="6562722" y="3855233"/>
            <a:ext cx="776719" cy="2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2259A6-C539-8E55-F279-CFC343C302A7}"/>
                  </a:ext>
                </a:extLst>
              </p:cNvPr>
              <p:cNvSpPr txBox="1"/>
              <p:nvPr/>
            </p:nvSpPr>
            <p:spPr>
              <a:xfrm>
                <a:off x="6646288" y="1982995"/>
                <a:ext cx="710046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2259A6-C539-8E55-F279-CFC343C30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6288" y="1982995"/>
                <a:ext cx="710046" cy="3931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9CA96-D46A-2E5C-1CEE-8516444509A0}"/>
                  </a:ext>
                </a:extLst>
              </p:cNvPr>
              <p:cNvSpPr txBox="1"/>
              <p:nvPr/>
            </p:nvSpPr>
            <p:spPr>
              <a:xfrm>
                <a:off x="6707338" y="3381999"/>
                <a:ext cx="551392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9CA96-D46A-2E5C-1CEE-851644450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7338" y="3381999"/>
                <a:ext cx="551392" cy="393121"/>
              </a:xfrm>
              <a:prstGeom prst="rect">
                <a:avLst/>
              </a:prstGeom>
              <a:blipFill>
                <a:blip r:embed="rId7"/>
                <a:stretch>
                  <a:fillRect r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964DF923-87CA-8B28-D664-7A40821CBDAA}"/>
              </a:ext>
            </a:extLst>
          </p:cNvPr>
          <p:cNvSpPr/>
          <p:nvPr/>
        </p:nvSpPr>
        <p:spPr>
          <a:xfrm>
            <a:off x="8960431" y="2904090"/>
            <a:ext cx="1381989" cy="44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CA66E5-68DF-B7F3-0561-4004C545CC45}"/>
                  </a:ext>
                </a:extLst>
              </p:cNvPr>
              <p:cNvSpPr txBox="1"/>
              <p:nvPr/>
            </p:nvSpPr>
            <p:spPr>
              <a:xfrm>
                <a:off x="7335121" y="2214551"/>
                <a:ext cx="582569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CA66E5-68DF-B7F3-0561-4004C545C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121" y="2214551"/>
                <a:ext cx="582569" cy="393121"/>
              </a:xfrm>
              <a:prstGeom prst="rect">
                <a:avLst/>
              </a:prstGeom>
              <a:blipFill>
                <a:blip r:embed="rId8"/>
                <a:stretch>
                  <a:fillRect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310AC97-4354-877E-F743-4C0F6C5D0F0D}"/>
                  </a:ext>
                </a:extLst>
              </p:cNvPr>
              <p:cNvSpPr txBox="1"/>
              <p:nvPr/>
            </p:nvSpPr>
            <p:spPr>
              <a:xfrm>
                <a:off x="7386548" y="3676515"/>
                <a:ext cx="479714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310AC97-4354-877E-F743-4C0F6C5D0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6548" y="3676515"/>
                <a:ext cx="479714" cy="393121"/>
              </a:xfrm>
              <a:prstGeom prst="rect">
                <a:avLst/>
              </a:prstGeom>
              <a:blipFill>
                <a:blip r:embed="rId9"/>
                <a:stretch>
                  <a:fillRect r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2BC403E-EF1E-9C18-F0EB-9E6DB07870CB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10342420" y="3127495"/>
            <a:ext cx="16441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8E2EBF-FADD-782C-2178-F5290C892050}"/>
                  </a:ext>
                </a:extLst>
              </p:cNvPr>
              <p:cNvSpPr txBox="1"/>
              <p:nvPr/>
            </p:nvSpPr>
            <p:spPr>
              <a:xfrm>
                <a:off x="10435032" y="2796892"/>
                <a:ext cx="15124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8E2EBF-FADD-782C-2178-F5290C892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5032" y="2796892"/>
                <a:ext cx="1512465" cy="276999"/>
              </a:xfrm>
              <a:prstGeom prst="rect">
                <a:avLst/>
              </a:prstGeom>
              <a:blipFill>
                <a:blip r:embed="rId10"/>
                <a:stretch>
                  <a:fillRect l="-3629" t="-4444" r="-806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FE4E5A-50B2-ABCE-B22A-94089C13EF84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939714" y="2409670"/>
            <a:ext cx="1223105" cy="559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1377282-1D8B-CB3C-7303-F17C0CFBF501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7834935" y="3285465"/>
            <a:ext cx="1327884" cy="5692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41D7A05-1D43-7601-1DD0-CA42EA1E4998}"/>
                  </a:ext>
                </a:extLst>
              </p:cNvPr>
              <p:cNvSpPr txBox="1"/>
              <p:nvPr/>
            </p:nvSpPr>
            <p:spPr>
              <a:xfrm>
                <a:off x="8005524" y="2179555"/>
                <a:ext cx="71004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41D7A05-1D43-7601-1DD0-CA42EA1E4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524" y="2179555"/>
                <a:ext cx="710046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0AB07E7-ED2F-6497-7FA4-19D4422F7B76}"/>
                  </a:ext>
                </a:extLst>
              </p:cNvPr>
              <p:cNvSpPr txBox="1"/>
              <p:nvPr/>
            </p:nvSpPr>
            <p:spPr>
              <a:xfrm>
                <a:off x="8180366" y="3534044"/>
                <a:ext cx="55139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0AB07E7-ED2F-6497-7FA4-19D4422F7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366" y="3534044"/>
                <a:ext cx="551392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4A31B7-2839-04EB-0889-57EF621ED0AD}"/>
                  </a:ext>
                </a:extLst>
              </p:cNvPr>
              <p:cNvSpPr txBox="1"/>
              <p:nvPr/>
            </p:nvSpPr>
            <p:spPr>
              <a:xfrm>
                <a:off x="1009222" y="2203041"/>
                <a:ext cx="710046" cy="4529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𝐾𝑆</m:t>
                              </m:r>
                            </m:e>
                            <m:sub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4A31B7-2839-04EB-0889-57EF621ED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222" y="2203041"/>
                <a:ext cx="710046" cy="452945"/>
              </a:xfrm>
              <a:prstGeom prst="rect">
                <a:avLst/>
              </a:prstGeom>
              <a:blipFill>
                <a:blip r:embed="rId13"/>
                <a:stretch>
                  <a:fillRect r="-9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3C8812-8A47-21AB-0F31-0A8E75507F8E}"/>
                  </a:ext>
                </a:extLst>
              </p:cNvPr>
              <p:cNvSpPr txBox="1"/>
              <p:nvPr/>
            </p:nvSpPr>
            <p:spPr>
              <a:xfrm>
                <a:off x="986708" y="3676551"/>
                <a:ext cx="772399" cy="453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𝐾𝑆</m:t>
                              </m:r>
                            </m:e>
                            <m:sub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3C8812-8A47-21AB-0F31-0A8E75507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08" y="3676551"/>
                <a:ext cx="772399" cy="45365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8657610-5F99-1DD7-52FD-01FB92534E3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1719268" y="2429514"/>
            <a:ext cx="682046" cy="3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94DF79B-60C0-4698-8728-4DFD50E0C8D7}"/>
              </a:ext>
            </a:extLst>
          </p:cNvPr>
          <p:cNvCxnSpPr>
            <a:cxnSpLocks/>
          </p:cNvCxnSpPr>
          <p:nvPr/>
        </p:nvCxnSpPr>
        <p:spPr>
          <a:xfrm flipV="1">
            <a:off x="1614492" y="3874907"/>
            <a:ext cx="776719" cy="2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381E5C4-5323-1C83-7B2D-4EEB366C2B01}"/>
                  </a:ext>
                </a:extLst>
              </p:cNvPr>
              <p:cNvSpPr txBox="1"/>
              <p:nvPr/>
            </p:nvSpPr>
            <p:spPr>
              <a:xfrm>
                <a:off x="1669244" y="1958875"/>
                <a:ext cx="710046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381E5C4-5323-1C83-7B2D-4EEB366C2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244" y="1958875"/>
                <a:ext cx="710046" cy="39312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2F3AA2E-1F52-DF24-06D2-E89045AB5B81}"/>
                  </a:ext>
                </a:extLst>
              </p:cNvPr>
              <p:cNvSpPr txBox="1"/>
              <p:nvPr/>
            </p:nvSpPr>
            <p:spPr>
              <a:xfrm>
                <a:off x="1759108" y="3401673"/>
                <a:ext cx="551392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2F3AA2E-1F52-DF24-06D2-E89045AB5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9108" y="3401673"/>
                <a:ext cx="551392" cy="39312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0C1E03-9ACA-49E5-A301-355ABA0303A7}"/>
              </a:ext>
            </a:extLst>
          </p:cNvPr>
          <p:cNvCxnSpPr/>
          <p:nvPr/>
        </p:nvCxnSpPr>
        <p:spPr>
          <a:xfrm flipV="1">
            <a:off x="3022656" y="2421435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69E8E01-E2BE-4156-6FE5-1C4C43C28E9F}"/>
              </a:ext>
            </a:extLst>
          </p:cNvPr>
          <p:cNvCxnSpPr/>
          <p:nvPr/>
        </p:nvCxnSpPr>
        <p:spPr>
          <a:xfrm flipV="1">
            <a:off x="3022656" y="3863761"/>
            <a:ext cx="77585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86E6A0B-61C6-A3D0-910C-C172FDED5F45}"/>
                  </a:ext>
                </a:extLst>
              </p:cNvPr>
              <p:cNvSpPr txBox="1"/>
              <p:nvPr/>
            </p:nvSpPr>
            <p:spPr>
              <a:xfrm>
                <a:off x="3170727" y="2061905"/>
                <a:ext cx="479713" cy="391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86E6A0B-61C6-A3D0-910C-C172FDED5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727" y="2061905"/>
                <a:ext cx="479713" cy="391902"/>
              </a:xfrm>
              <a:prstGeom prst="rect">
                <a:avLst/>
              </a:prstGeom>
              <a:blipFill>
                <a:blip r:embed="rId17"/>
                <a:stretch>
                  <a:fillRect r="-31646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D2875BE-36EF-E3BC-7AA6-690590282C2E}"/>
                  </a:ext>
                </a:extLst>
              </p:cNvPr>
              <p:cNvSpPr txBox="1"/>
              <p:nvPr/>
            </p:nvSpPr>
            <p:spPr>
              <a:xfrm>
                <a:off x="3170726" y="3506853"/>
                <a:ext cx="479713" cy="391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D2875BE-36EF-E3BC-7AA6-690590282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726" y="3506853"/>
                <a:ext cx="479713" cy="391902"/>
              </a:xfrm>
              <a:prstGeom prst="rect">
                <a:avLst/>
              </a:prstGeom>
              <a:blipFill>
                <a:blip r:embed="rId18"/>
                <a:stretch>
                  <a:fillRect r="-31646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BEEF99E-8EFA-1425-F094-D53309054DA5}"/>
                  </a:ext>
                </a:extLst>
              </p:cNvPr>
              <p:cNvSpPr txBox="1"/>
              <p:nvPr/>
            </p:nvSpPr>
            <p:spPr>
              <a:xfrm>
                <a:off x="2400214" y="2208075"/>
                <a:ext cx="710046" cy="396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BEEF99E-8EFA-1425-F094-D53309054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0214" y="2208075"/>
                <a:ext cx="710046" cy="396712"/>
              </a:xfrm>
              <a:prstGeom prst="rect">
                <a:avLst/>
              </a:prstGeom>
              <a:blipFill>
                <a:blip r:embed="rId19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19E8480-FE9D-B2E2-7172-92C191886353}"/>
                  </a:ext>
                </a:extLst>
              </p:cNvPr>
              <p:cNvSpPr txBox="1"/>
              <p:nvPr/>
            </p:nvSpPr>
            <p:spPr>
              <a:xfrm>
                <a:off x="2377698" y="3650401"/>
                <a:ext cx="479714" cy="3967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19E8480-FE9D-B2E2-7172-92C191886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7698" y="3650401"/>
                <a:ext cx="479714" cy="396712"/>
              </a:xfrm>
              <a:prstGeom prst="rect">
                <a:avLst/>
              </a:prstGeom>
              <a:blipFill>
                <a:blip r:embed="rId20"/>
                <a:stretch>
                  <a:fillRect r="-3038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7AB0D5C-1ADF-DC7E-88DA-4F50F0E45C42}"/>
              </a:ext>
            </a:extLst>
          </p:cNvPr>
          <p:cNvCxnSpPr>
            <a:cxnSpLocks/>
          </p:cNvCxnSpPr>
          <p:nvPr/>
        </p:nvCxnSpPr>
        <p:spPr>
          <a:xfrm>
            <a:off x="11986608" y="3127494"/>
            <a:ext cx="0" cy="18289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4949861-7127-C2A8-816D-A0B17B0270D5}"/>
              </a:ext>
            </a:extLst>
          </p:cNvPr>
          <p:cNvCxnSpPr/>
          <p:nvPr/>
        </p:nvCxnSpPr>
        <p:spPr>
          <a:xfrm flipH="1">
            <a:off x="758536" y="4956464"/>
            <a:ext cx="112280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299A20EC-DFB2-A214-892F-7B5821046988}"/>
              </a:ext>
            </a:extLst>
          </p:cNvPr>
          <p:cNvCxnSpPr>
            <a:endCxn id="41" idx="1"/>
          </p:cNvCxnSpPr>
          <p:nvPr/>
        </p:nvCxnSpPr>
        <p:spPr>
          <a:xfrm rot="5400000" flipH="1" flipV="1">
            <a:off x="-379596" y="3567646"/>
            <a:ext cx="2526950" cy="2506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A066E91-A9BB-B3E0-F94D-BFB00E2FEEB9}"/>
              </a:ext>
            </a:extLst>
          </p:cNvPr>
          <p:cNvCxnSpPr>
            <a:endCxn id="42" idx="1"/>
          </p:cNvCxnSpPr>
          <p:nvPr/>
        </p:nvCxnSpPr>
        <p:spPr>
          <a:xfrm>
            <a:off x="758536" y="3898755"/>
            <a:ext cx="228172" cy="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40B71D0-C470-E727-C7F0-53404251095C}"/>
                  </a:ext>
                </a:extLst>
              </p:cNvPr>
              <p:cNvSpPr txBox="1"/>
              <p:nvPr/>
            </p:nvSpPr>
            <p:spPr>
              <a:xfrm>
                <a:off x="2728938" y="2567556"/>
                <a:ext cx="420327" cy="795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40B71D0-C470-E727-C7F0-534042510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8938" y="2567556"/>
                <a:ext cx="420327" cy="79560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12D5516-416A-A755-475C-EDF657EBC3F0}"/>
                  </a:ext>
                </a:extLst>
              </p:cNvPr>
              <p:cNvSpPr txBox="1"/>
              <p:nvPr/>
            </p:nvSpPr>
            <p:spPr>
              <a:xfrm>
                <a:off x="2728937" y="3974626"/>
                <a:ext cx="420327" cy="795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12D5516-416A-A755-475C-EDF657EBC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8937" y="3974626"/>
                <a:ext cx="420327" cy="79560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5323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F8CB7-1187-2B19-957B-4228CEE3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65DCD-C9F3-A7DA-CAD2-39A097CDC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7. Analysis and conclusion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2B0E3-7A23-0387-01CC-4E0B03DCB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124DB-4F1D-F57F-CDFC-0D8CCC25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2F43C-0107-7827-63A7-CDE0A181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18</a:t>
            </a:fld>
            <a:endParaRPr lang="en-US" sz="1400" dirty="0">
              <a:solidFill>
                <a:schemeClr val="tx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457BA2-7511-9E2C-08B1-D37B5AFFF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613546"/>
              </p:ext>
            </p:extLst>
          </p:nvPr>
        </p:nvGraphicFramePr>
        <p:xfrm>
          <a:off x="1630795" y="2226348"/>
          <a:ext cx="893040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6382">
                  <a:extLst>
                    <a:ext uri="{9D8B030D-6E8A-4147-A177-3AD203B41FA5}">
                      <a16:colId xmlns:a16="http://schemas.microsoft.com/office/drawing/2014/main" val="2385199005"/>
                    </a:ext>
                  </a:extLst>
                </a:gridCol>
                <a:gridCol w="3480954">
                  <a:extLst>
                    <a:ext uri="{9D8B030D-6E8A-4147-A177-3AD203B41FA5}">
                      <a16:colId xmlns:a16="http://schemas.microsoft.com/office/drawing/2014/main" val="813551274"/>
                    </a:ext>
                  </a:extLst>
                </a:gridCol>
                <a:gridCol w="3803073">
                  <a:extLst>
                    <a:ext uri="{9D8B030D-6E8A-4147-A177-3AD203B41FA5}">
                      <a16:colId xmlns:a16="http://schemas.microsoft.com/office/drawing/2014/main" val="3126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1916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xMK CKKS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.Decryption on server side only</a:t>
                      </a:r>
                    </a:p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.Decryption is not possible if one client is missing</a:t>
                      </a:r>
                    </a:p>
                    <a:p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.Immune to plaintext/ciphertext couple attack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419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DF-KS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.Vulnerable to plaintext/ciphertext couple attack</a:t>
                      </a:r>
                    </a:p>
                    <a:p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.Decryption happens on client side</a:t>
                      </a:r>
                    </a:p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.If one client goes missing decryption remains possible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676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822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0CD0-553C-58B0-4194-9A11F686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0B355-A2AD-B402-0F0E-836926DC5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2673" y="2339398"/>
            <a:ext cx="4928754" cy="132556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b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QA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073AD-0C2A-BEC9-2FD4-A90F7EDE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DA9AE-1E4E-4CF6-B35A-04249EFC3058}" type="datetime1">
              <a:rPr lang="en-US" sz="1600" smtClean="0">
                <a:solidFill>
                  <a:schemeClr val="tx1"/>
                </a:solidFill>
              </a:rPr>
              <a:t>11/19/2025</a:t>
            </a:fld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07A54-8739-FB4A-A6EE-01059CE90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600">
                <a:solidFill>
                  <a:schemeClr val="tx1"/>
                </a:solidFill>
              </a:rPr>
              <a:t>Key switchable HE for FL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84BB7-F6EB-38F7-B820-1F6E1A7A8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9E849-A344-4026-A8F6-1F4993DF7FB9}" type="slidenum">
              <a:rPr lang="en-US" sz="1400" smtClean="0">
                <a:solidFill>
                  <a:schemeClr val="tx1"/>
                </a:solidFill>
              </a:rPr>
              <a:t>19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109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603</TotalTime>
  <Words>971</Words>
  <Application>Microsoft Office PowerPoint</Application>
  <PresentationFormat>Widescreen</PresentationFormat>
  <Paragraphs>240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Cambria Math</vt:lpstr>
      <vt:lpstr>Times New Roman</vt:lpstr>
      <vt:lpstr>Wingdings</vt:lpstr>
      <vt:lpstr>Office 2013 - 2022 Theme</vt:lpstr>
      <vt:lpstr>Strengthening Privacy in Federated Learning via Key-Switchable Homomorphic Encryption</vt:lpstr>
      <vt:lpstr>Content</vt:lpstr>
      <vt:lpstr>1. Context</vt:lpstr>
      <vt:lpstr>2. FL overview</vt:lpstr>
      <vt:lpstr>2. FL Setup</vt:lpstr>
      <vt:lpstr>3. HE overview</vt:lpstr>
      <vt:lpstr>3. HE importance</vt:lpstr>
      <vt:lpstr>3. HE importance</vt:lpstr>
      <vt:lpstr>4. Security Risks</vt:lpstr>
      <vt:lpstr>4. Security risks (Solutions design)</vt:lpstr>
      <vt:lpstr>5. xMK CKKS scheme</vt:lpstr>
      <vt:lpstr>5. xMK CKKS scheme</vt:lpstr>
      <vt:lpstr>5. xMK CKKS scheme (network)</vt:lpstr>
      <vt:lpstr>6. DF-KS scheme (DF)</vt:lpstr>
      <vt:lpstr>6. DF-KS scheme (DF)</vt:lpstr>
      <vt:lpstr>6. DF-KS scheme (KS)</vt:lpstr>
      <vt:lpstr>6. DF-KS scheme (network)</vt:lpstr>
      <vt:lpstr>7. Analysis and conclusion</vt:lpstr>
      <vt:lpstr>Thank you  QA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Ibrahim</dc:creator>
  <cp:lastModifiedBy>Mohamad Ibrahim</cp:lastModifiedBy>
  <cp:revision>26</cp:revision>
  <dcterms:created xsi:type="dcterms:W3CDTF">2025-11-17T08:12:27Z</dcterms:created>
  <dcterms:modified xsi:type="dcterms:W3CDTF">2025-11-19T19:29:43Z</dcterms:modified>
</cp:coreProperties>
</file>