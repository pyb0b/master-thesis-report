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8" r:id="rId3"/>
    <p:sldId id="262" r:id="rId4"/>
    <p:sldId id="260" r:id="rId5"/>
    <p:sldId id="261" r:id="rId6"/>
    <p:sldId id="263" r:id="rId7"/>
    <p:sldId id="264" r:id="rId8"/>
    <p:sldId id="259" r:id="rId9"/>
    <p:sldId id="265" r:id="rId10"/>
    <p:sldId id="266" r:id="rId11"/>
    <p:sldId id="277" r:id="rId12"/>
    <p:sldId id="270" r:id="rId13"/>
    <p:sldId id="278" r:id="rId14"/>
    <p:sldId id="279" r:id="rId15"/>
    <p:sldId id="273" r:id="rId16"/>
    <p:sldId id="280" r:id="rId17"/>
    <p:sldId id="267" r:id="rId18"/>
    <p:sldId id="271" r:id="rId19"/>
    <p:sldId id="281" r:id="rId20"/>
    <p:sldId id="274" r:id="rId21"/>
    <p:sldId id="268" r:id="rId22"/>
    <p:sldId id="282" r:id="rId23"/>
    <p:sldId id="26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88422" autoAdjust="0"/>
  </p:normalViewPr>
  <p:slideViewPr>
    <p:cSldViewPr snapToGrid="0">
      <p:cViewPr varScale="1">
        <p:scale>
          <a:sx n="93" d="100"/>
          <a:sy n="93" d="100"/>
        </p:scale>
        <p:origin x="14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A33B5-1111-431E-95E6-1CD0EC93978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47BB2-36F8-44AE-B524-EA39334F6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06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12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74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B89D-57C3-4E72-B309-F3497A4DE701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26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1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6D01-CC9E-46A0-BA2B-3BDD6F9E96A3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7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EC22-26CF-4980-836F-5A832F42D43A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79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2D8C-D7CA-4D24-840B-6108995923DC}" type="datetime1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4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69B9-81AF-4D6F-9B89-AD543E69A99F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84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97DA5-715C-472F-A49F-FFBCB32E9725}" type="datetime1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57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3C0-6A53-46B2-B924-0F90AACA1367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46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5CE9-64D9-4AF6-B2A8-CEAE19C2F2C6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2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2134-595F-452E-B7C5-AD73B8A84D48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43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F26DA-1DDA-4076-89A5-57BC415E51EE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6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E1BC6-1B75-4BF5-8267-724BE6A69557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0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501D6-15DB-25FD-3CF5-1ABEBAC7A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417" y="136525"/>
            <a:ext cx="10557165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Privacy in Federated Learning via Key-Switchable Homomorphic Encryption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CC0A5-DCB8-9C46-C746-6982BCD5D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Mohamad Ibrahim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Dr. Khalil Haris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Dr. Chantal Hajjar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113BF-A3E5-9395-80CB-FC6610E71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50E2-7710-4A3C-AA40-CFA0D1EB7486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2BD75-F8FF-8786-712A-08CEBACF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F37C7-9944-B57C-7A42-2CC87935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</a:t>
            </a:fld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003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435A-E379-97CD-B488-C7600E77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2B071-766A-4F69-8B1F-256BC3458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Homomorphic encryption (HE):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(FL): overview and setup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Model Aggregation Workflow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importance in FL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laws and standards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 and their solution designs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xMK CKKS: overview, setup, network and problematic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DF-KS: setup, network and issues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summary and future 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80634-4EB8-9010-7360-4F77A392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59127-721E-964B-37B1-FEB269A26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8831E-6B6D-C702-88E1-2F48D91A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2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84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8C335-141F-BF4E-6897-7C477D67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A040-7487-BC47-CB4D-2FBC9F5DF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HE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40BAF-A0C8-A57D-1F4E-859F9825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616A8-72DC-0C72-CC95-60E6F97F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33CF0-9E85-E7AC-3E51-61DF2856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3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61CB90-DC87-185B-A792-096B69133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801" y="2270929"/>
            <a:ext cx="3684443" cy="385581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FB4CBE-4C84-8F45-8432-B0073048B7F1}"/>
              </a:ext>
            </a:extLst>
          </p:cNvPr>
          <p:cNvSpPr txBox="1"/>
          <p:nvPr/>
        </p:nvSpPr>
        <p:spPr>
          <a:xfrm>
            <a:off x="1358394" y="1579655"/>
            <a:ext cx="9475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form of encryption that permits computation over encrypted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7D092C-74E1-4436-D0A8-FCE63C7DC3F3}"/>
                  </a:ext>
                </a:extLst>
              </p:cNvPr>
              <p:cNvSpPr txBox="1"/>
              <p:nvPr/>
            </p:nvSpPr>
            <p:spPr>
              <a:xfrm>
                <a:off x="1310024" y="3017092"/>
                <a:ext cx="379463" cy="8238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𝐸𝑛𝑐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7D092C-74E1-4436-D0A8-FCE63C7DC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024" y="3017092"/>
                <a:ext cx="379463" cy="823815"/>
              </a:xfrm>
              <a:prstGeom prst="rect">
                <a:avLst/>
              </a:prstGeom>
              <a:blipFill>
                <a:blip r:embed="rId3"/>
                <a:stretch>
                  <a:fillRect r="-10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28E5467-083E-D1C9-AC5B-10451C28F3A4}"/>
              </a:ext>
            </a:extLst>
          </p:cNvPr>
          <p:cNvSpPr txBox="1"/>
          <p:nvPr/>
        </p:nvSpPr>
        <p:spPr>
          <a:xfrm>
            <a:off x="1310024" y="4924402"/>
            <a:ext cx="50231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encryption usually requires all ciphertexts from all clients to use the same key.</a:t>
            </a:r>
          </a:p>
        </p:txBody>
      </p:sp>
    </p:spTree>
    <p:extLst>
      <p:ext uri="{BB962C8B-B14F-4D97-AF65-F5344CB8AC3E}">
        <p14:creationId xmlns:p14="http://schemas.microsoft.com/office/powerpoint/2010/main" val="195906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03BC9-7FA2-5EB5-D51C-E3CCF75E0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A9F6-E05F-169F-F399-11CC52BE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FL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E578-3ACB-4B7F-EF36-AC3B7021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E5FAA-A466-7374-9100-8947A075A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AD662-510B-E631-E28B-4263E7A2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4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Picture 2" descr="A diagram of a mathematical model&#10;&#10;Description automatically generated">
            <a:extLst>
              <a:ext uri="{FF2B5EF4-FFF2-40B4-BE49-F238E27FC236}">
                <a16:creationId xmlns:a16="http://schemas.microsoft.com/office/drawing/2014/main" id="{781654E1-98C0-A7B0-0D13-5AF51E239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875" y="2324272"/>
            <a:ext cx="8444598" cy="399477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985E4A-2A94-DBCC-B5F3-5ADADC984B28}"/>
              </a:ext>
            </a:extLst>
          </p:cNvPr>
          <p:cNvSpPr txBox="1"/>
          <p:nvPr/>
        </p:nvSpPr>
        <p:spPr>
          <a:xfrm>
            <a:off x="3074850" y="1589447"/>
            <a:ext cx="60046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process where client devices train models locally while a server performs aggregation of their updates.</a:t>
            </a:r>
          </a:p>
        </p:txBody>
      </p:sp>
    </p:spTree>
    <p:extLst>
      <p:ext uri="{BB962C8B-B14F-4D97-AF65-F5344CB8AC3E}">
        <p14:creationId xmlns:p14="http://schemas.microsoft.com/office/powerpoint/2010/main" val="360460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4FEA-C8C8-380E-038D-5AAE8556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29348-CB60-AC36-2A32-7914B8BC2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FL Setup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A48BA-6EAC-C0D8-725C-35B4EC187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E6065-AC09-602E-D79C-4D159544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D05E-41B2-0EE6-FEC4-88386111E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5</a:t>
            </a:fld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449123A-7E4A-EE81-98DB-EAF617C6A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465352"/>
              </p:ext>
            </p:extLst>
          </p:nvPr>
        </p:nvGraphicFramePr>
        <p:xfrm>
          <a:off x="2032000" y="2223960"/>
          <a:ext cx="8128000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3519420797"/>
                    </a:ext>
                  </a:extLst>
                </a:gridCol>
                <a:gridCol w="5359400">
                  <a:extLst>
                    <a:ext uri="{9D8B030D-6E8A-4147-A177-3AD203B41FA5}">
                      <a16:colId xmlns:a16="http://schemas.microsoft.com/office/drawing/2014/main" val="34844363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855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PIMA Indian diabetes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74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of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 samples (8 features)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166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FedAVG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263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with 10 epoch/client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511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24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 (client 1), 40% (client 2), 20% (testing data)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727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 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dataset with Neural Network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94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509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E9BC9-152D-8B2A-D07F-3C806C6EF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5A90-F2E3-7E7F-277A-0A5A1B9E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0242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Encrypted Model Aggregation Workflow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71EEF-C6F0-5322-F970-F9F14909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D8D8B-723D-F76C-42E4-A79364E60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78B36-D754-9F74-F9E0-4A075FE61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6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FDE6A174-6B3B-5E6B-6ADA-DA071284A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0" y="1465119"/>
            <a:ext cx="10595739" cy="475519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74504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49FBC-3BE5-4D85-69E8-01D27165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4908-86A1-70B0-B604-04EC5839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HE importance in FL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B6A57-D075-FDFB-85FD-5813E4452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E5426-F640-BF81-E0C2-3129CD66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87096-D441-AC1D-017B-5F34F438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7</a:t>
            </a:fld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34C148-E6D3-8FAC-BB52-9D3829DE1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068384"/>
              </p:ext>
            </p:extLst>
          </p:nvPr>
        </p:nvGraphicFramePr>
        <p:xfrm>
          <a:off x="1245754" y="2438400"/>
          <a:ext cx="9700492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7448">
                  <a:extLst>
                    <a:ext uri="{9D8B030D-6E8A-4147-A177-3AD203B41FA5}">
                      <a16:colId xmlns:a16="http://schemas.microsoft.com/office/drawing/2014/main" val="349534385"/>
                    </a:ext>
                  </a:extLst>
                </a:gridCol>
                <a:gridCol w="6993044">
                  <a:extLst>
                    <a:ext uri="{9D8B030D-6E8A-4147-A177-3AD203B41FA5}">
                      <a16:colId xmlns:a16="http://schemas.microsoft.com/office/drawing/2014/main" val="687405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Importance of 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28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Allows local training on plaintext data with no need of encryption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42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 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computation on ciphertext and prevent access to local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557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 leakage of sensitive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088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and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 against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membership inference, and curious server attacks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15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386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CC28-055B-5BCC-5B75-CFBA7A6F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6606-D3FE-8C31-56D1-8203E3C1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5. Compliance with laws and standards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6B36F-1F6D-C2CB-E960-53D0FB63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7801C-37DF-5A1A-D406-1B016822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1A284-D67D-5916-2DCE-EDD54133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8</a:t>
            </a:fld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5833F6A-493F-B4F3-7E85-516F443DB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374755"/>
              </p:ext>
            </p:extLst>
          </p:nvPr>
        </p:nvGraphicFramePr>
        <p:xfrm>
          <a:off x="1424995" y="2263265"/>
          <a:ext cx="9342006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716">
                  <a:extLst>
                    <a:ext uri="{9D8B030D-6E8A-4147-A177-3AD203B41FA5}">
                      <a16:colId xmlns:a16="http://schemas.microsoft.com/office/drawing/2014/main" val="1367472347"/>
                    </a:ext>
                  </a:extLst>
                </a:gridCol>
                <a:gridCol w="7330290">
                  <a:extLst>
                    <a:ext uri="{9D8B030D-6E8A-4147-A177-3AD203B41FA5}">
                      <a16:colId xmlns:a16="http://schemas.microsoft.com/office/drawing/2014/main" val="2189071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5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special categories data and prohibit processing them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59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Mandates protection for all personal data including special categories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792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Prohibit the transfer of data outside unless the protection is ensured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13273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F1E07AC-459A-4CDE-489B-E4C4DFBEC732}"/>
              </a:ext>
            </a:extLst>
          </p:cNvPr>
          <p:cNvSpPr txBox="1"/>
          <p:nvPr/>
        </p:nvSpPr>
        <p:spPr>
          <a:xfrm>
            <a:off x="2488620" y="1776921"/>
            <a:ext cx="7214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GDPR: European law stands for General Data Protection Regulation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13CCBB-D665-1BE4-D49D-598B9F3CB232}"/>
              </a:ext>
            </a:extLst>
          </p:cNvPr>
          <p:cNvSpPr txBox="1"/>
          <p:nvPr/>
        </p:nvSpPr>
        <p:spPr>
          <a:xfrm>
            <a:off x="2067790" y="4000500"/>
            <a:ext cx="7762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category 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healthcare dataset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Protect data 		weight and bias/gradient generated by the model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Transfer			FL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Protection 		 HE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0AA94F-906E-43EC-921B-2696F2ABB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374755"/>
              </p:ext>
            </p:extLst>
          </p:nvPr>
        </p:nvGraphicFramePr>
        <p:xfrm>
          <a:off x="1424995" y="2283143"/>
          <a:ext cx="9342006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716">
                  <a:extLst>
                    <a:ext uri="{9D8B030D-6E8A-4147-A177-3AD203B41FA5}">
                      <a16:colId xmlns:a16="http://schemas.microsoft.com/office/drawing/2014/main" val="1367472347"/>
                    </a:ext>
                  </a:extLst>
                </a:gridCol>
                <a:gridCol w="7330290">
                  <a:extLst>
                    <a:ext uri="{9D8B030D-6E8A-4147-A177-3AD203B41FA5}">
                      <a16:colId xmlns:a16="http://schemas.microsoft.com/office/drawing/2014/main" val="2189071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5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special categories data and prohibit processing them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59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Mandates protection for all personal data including special categories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792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Prohibit the transfer of data outside unless the protection is ensured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1327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7B552D-CF8F-662B-3E07-5E7685395C46}"/>
              </a:ext>
            </a:extLst>
          </p:cNvPr>
          <p:cNvSpPr txBox="1"/>
          <p:nvPr/>
        </p:nvSpPr>
        <p:spPr>
          <a:xfrm>
            <a:off x="2067790" y="5336139"/>
            <a:ext cx="6244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SP 800-57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key-management requirements that ensure cryptographic protection when using HE in FL systems.</a:t>
            </a:r>
          </a:p>
        </p:txBody>
      </p:sp>
    </p:spTree>
    <p:extLst>
      <p:ext uri="{BB962C8B-B14F-4D97-AF65-F5344CB8AC3E}">
        <p14:creationId xmlns:p14="http://schemas.microsoft.com/office/powerpoint/2010/main" val="354105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120AC-D51C-4255-7F2B-06C95F19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66A63-F586-3C73-AAA9-D7CF5E8B3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6. Security Risks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56002-5221-562A-4735-50EC67FF0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93134-EEEA-A6AB-B613-8138B6E6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E1DB9-44B5-119F-BE6E-D325C449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9</a:t>
            </a:fld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8AA409-83A1-A515-C6A0-9FDEE52D7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983716"/>
              </p:ext>
            </p:extLst>
          </p:nvPr>
        </p:nvGraphicFramePr>
        <p:xfrm>
          <a:off x="1646381" y="2225040"/>
          <a:ext cx="8899237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493">
                  <a:extLst>
                    <a:ext uri="{9D8B030D-6E8A-4147-A177-3AD203B41FA5}">
                      <a16:colId xmlns:a16="http://schemas.microsoft.com/office/drawing/2014/main" val="3179830144"/>
                    </a:ext>
                  </a:extLst>
                </a:gridCol>
                <a:gridCol w="5469744">
                  <a:extLst>
                    <a:ext uri="{9D8B030D-6E8A-4147-A177-3AD203B41FA5}">
                      <a16:colId xmlns:a16="http://schemas.microsoft.com/office/drawing/2014/main" val="979961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14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Honest-but-curious clients</a:t>
                      </a: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 will follow the protocol correctly but will exploit opportunities to access private data, leading to privacy leakage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257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compromise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clients share one decryption key; compromising a single device reveals this key. This means one breach compromise the entire FL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5075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3D29983-46D1-7F58-1759-3EFF369B2734}"/>
              </a:ext>
            </a:extLst>
          </p:cNvPr>
          <p:cNvSpPr txBox="1"/>
          <p:nvPr/>
        </p:nvSpPr>
        <p:spPr>
          <a:xfrm>
            <a:off x="2951561" y="1765727"/>
            <a:ext cx="6952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same key across all clients poses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</a:t>
            </a:r>
          </a:p>
        </p:txBody>
      </p:sp>
    </p:spTree>
    <p:extLst>
      <p:ext uri="{BB962C8B-B14F-4D97-AF65-F5344CB8AC3E}">
        <p14:creationId xmlns:p14="http://schemas.microsoft.com/office/powerpoint/2010/main" val="4009542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55DE-7627-88A6-1460-A7CB4646F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47C6-3C0D-9834-2EA5-2F933317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6. Security risks (Solutions design)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A1F5B-536E-5A72-DFA5-8B883D08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C93F6-E952-740B-15F5-B8E36C55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8D7C3-C912-D4E7-1A55-F485BED2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10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2FD60D-A06E-833B-6718-DB1F362CD7A1}"/>
              </a:ext>
            </a:extLst>
          </p:cNvPr>
          <p:cNvSpPr/>
          <p:nvPr/>
        </p:nvSpPr>
        <p:spPr>
          <a:xfrm>
            <a:off x="391391" y="2911710"/>
            <a:ext cx="4959096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an asymmetric encryption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06E254-1B64-4BAF-4E98-6C5735F31E4E}"/>
              </a:ext>
            </a:extLst>
          </p:cNvPr>
          <p:cNvSpPr/>
          <p:nvPr/>
        </p:nvSpPr>
        <p:spPr>
          <a:xfrm>
            <a:off x="3888347" y="3802276"/>
            <a:ext cx="4415305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homomorphic properties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A94C5B-6ACC-7F6D-291B-FFD6775162C0}"/>
              </a:ext>
            </a:extLst>
          </p:cNvPr>
          <p:cNvSpPr/>
          <p:nvPr/>
        </p:nvSpPr>
        <p:spPr>
          <a:xfrm>
            <a:off x="3888347" y="4497857"/>
            <a:ext cx="4415305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the mentioned security risks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61EDD-3E27-C12E-3806-5FED6EDA65B8}"/>
              </a:ext>
            </a:extLst>
          </p:cNvPr>
          <p:cNvSpPr/>
          <p:nvPr/>
        </p:nvSpPr>
        <p:spPr>
          <a:xfrm>
            <a:off x="3888347" y="5193118"/>
            <a:ext cx="4415305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the FL network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4438BD-8109-7BEE-DDDE-A79E1C565172}"/>
              </a:ext>
            </a:extLst>
          </p:cNvPr>
          <p:cNvSpPr/>
          <p:nvPr/>
        </p:nvSpPr>
        <p:spPr>
          <a:xfrm>
            <a:off x="1572491" y="2226069"/>
            <a:ext cx="2596896" cy="3551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xMK CKKS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76FC7-EACC-8C36-76E4-A97B0C378560}"/>
              </a:ext>
            </a:extLst>
          </p:cNvPr>
          <p:cNvSpPr/>
          <p:nvPr/>
        </p:nvSpPr>
        <p:spPr>
          <a:xfrm>
            <a:off x="6841513" y="2911710"/>
            <a:ext cx="4959096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a symmetric encryption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4E2D7F8-0CD0-8539-C197-C8F70F74036E}"/>
              </a:ext>
            </a:extLst>
          </p:cNvPr>
          <p:cNvSpPr/>
          <p:nvPr/>
        </p:nvSpPr>
        <p:spPr>
          <a:xfrm>
            <a:off x="8022615" y="2226069"/>
            <a:ext cx="2596896" cy="3551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DF-KS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499701-928B-A9BA-CDE5-CB85A2B54F51}"/>
              </a:ext>
            </a:extLst>
          </p:cNvPr>
          <p:cNvCxnSpPr>
            <a:stCxn id="11" idx="4"/>
            <a:endCxn id="7" idx="0"/>
          </p:cNvCxnSpPr>
          <p:nvPr/>
        </p:nvCxnSpPr>
        <p:spPr>
          <a:xfrm>
            <a:off x="2870939" y="2581254"/>
            <a:ext cx="0" cy="330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254581-D497-B86D-A13C-94C18E1AFE3A}"/>
              </a:ext>
            </a:extLst>
          </p:cNvPr>
          <p:cNvCxnSpPr>
            <a:stCxn id="14" idx="4"/>
            <a:endCxn id="12" idx="0"/>
          </p:cNvCxnSpPr>
          <p:nvPr/>
        </p:nvCxnSpPr>
        <p:spPr>
          <a:xfrm flipH="1">
            <a:off x="9321061" y="2581254"/>
            <a:ext cx="2" cy="330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2FDAFA-55E7-955C-A1DB-0C6ED149FDDB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870939" y="3276835"/>
            <a:ext cx="863934" cy="43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3A9C73-1A5B-0C3A-82C1-A21EE8B926E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457125" y="3276835"/>
            <a:ext cx="863936" cy="43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eft Brace 26">
            <a:extLst>
              <a:ext uri="{FF2B5EF4-FFF2-40B4-BE49-F238E27FC236}">
                <a16:creationId xmlns:a16="http://schemas.microsoft.com/office/drawing/2014/main" id="{CB5AAC31-A505-97FF-20E5-F3D2BBB65D3B}"/>
              </a:ext>
            </a:extLst>
          </p:cNvPr>
          <p:cNvSpPr/>
          <p:nvPr/>
        </p:nvSpPr>
        <p:spPr>
          <a:xfrm>
            <a:off x="3581400" y="3627836"/>
            <a:ext cx="306947" cy="19304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36B9E981-B7E5-7F4F-57A6-B477D1347EB0}"/>
              </a:ext>
            </a:extLst>
          </p:cNvPr>
          <p:cNvSpPr/>
          <p:nvPr/>
        </p:nvSpPr>
        <p:spPr>
          <a:xfrm rot="10800000">
            <a:off x="8303652" y="3627835"/>
            <a:ext cx="306947" cy="19304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B7C08F-4D62-AFD5-9589-138ADA4D1862}"/>
              </a:ext>
            </a:extLst>
          </p:cNvPr>
          <p:cNvSpPr txBox="1"/>
          <p:nvPr/>
        </p:nvSpPr>
        <p:spPr>
          <a:xfrm>
            <a:off x="8378591" y="1778941"/>
            <a:ext cx="18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A39F8A-BD2E-6416-C193-AB65F52C7123}"/>
              </a:ext>
            </a:extLst>
          </p:cNvPr>
          <p:cNvSpPr txBox="1"/>
          <p:nvPr/>
        </p:nvSpPr>
        <p:spPr>
          <a:xfrm>
            <a:off x="2057254" y="1778941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design</a:t>
            </a:r>
          </a:p>
        </p:txBody>
      </p:sp>
    </p:spTree>
    <p:extLst>
      <p:ext uri="{BB962C8B-B14F-4D97-AF65-F5344CB8AC3E}">
        <p14:creationId xmlns:p14="http://schemas.microsoft.com/office/powerpoint/2010/main" val="4011973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55DE-7627-88A6-1460-A7CB4646F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A1F5B-536E-5A72-DFA5-8B883D08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C93F6-E952-740B-15F5-B8E36C55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8D7C3-C912-D4E7-1A55-F485BED2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11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9B6E7C5-C275-2258-1E37-AA8EF8C16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7. xMK CKKS (overview)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8BF0C7-10E0-DBBD-0025-6DE03EF9FDC7}"/>
              </a:ext>
            </a:extLst>
          </p:cNvPr>
          <p:cNvSpPr/>
          <p:nvPr/>
        </p:nvSpPr>
        <p:spPr>
          <a:xfrm>
            <a:off x="1419099" y="2441508"/>
            <a:ext cx="2596896" cy="3551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xMK CKKS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577F0F-C1FF-622B-D027-35F68A095254}"/>
              </a:ext>
            </a:extLst>
          </p:cNvPr>
          <p:cNvSpPr/>
          <p:nvPr/>
        </p:nvSpPr>
        <p:spPr>
          <a:xfrm>
            <a:off x="452608" y="3424030"/>
            <a:ext cx="4529879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of the CKKS scheme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12BD99-9BDA-39FE-DD17-282F31911955}"/>
              </a:ext>
            </a:extLst>
          </p:cNvPr>
          <p:cNvCxnSpPr>
            <a:stCxn id="12" idx="4"/>
            <a:endCxn id="15" idx="0"/>
          </p:cNvCxnSpPr>
          <p:nvPr/>
        </p:nvCxnSpPr>
        <p:spPr>
          <a:xfrm>
            <a:off x="2717547" y="2796693"/>
            <a:ext cx="1" cy="627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56E86F6-DB51-77BD-18B0-526424A4175F}"/>
              </a:ext>
            </a:extLst>
          </p:cNvPr>
          <p:cNvSpPr/>
          <p:nvPr/>
        </p:nvSpPr>
        <p:spPr>
          <a:xfrm>
            <a:off x="5681605" y="4840820"/>
            <a:ext cx="4529879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FL applications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C327C5-7F4C-64EF-D51C-83A05E5D6775}"/>
              </a:ext>
            </a:extLst>
          </p:cNvPr>
          <p:cNvSpPr/>
          <p:nvPr/>
        </p:nvSpPr>
        <p:spPr>
          <a:xfrm>
            <a:off x="5681606" y="4127106"/>
            <a:ext cx="4529879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approximate computation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FE2AF-BF1B-C510-17D5-FB139CD4E19A}"/>
              </a:ext>
            </a:extLst>
          </p:cNvPr>
          <p:cNvSpPr/>
          <p:nvPr/>
        </p:nvSpPr>
        <p:spPr>
          <a:xfrm>
            <a:off x="5681607" y="3413392"/>
            <a:ext cx="4529879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Latice-based HE (based on RLWE)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E3210D-2F4E-0398-5F96-D07E150F0AD2}"/>
              </a:ext>
            </a:extLst>
          </p:cNvPr>
          <p:cNvSpPr/>
          <p:nvPr/>
        </p:nvSpPr>
        <p:spPr>
          <a:xfrm>
            <a:off x="5681608" y="2688622"/>
            <a:ext cx="4529879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encryption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7B9CBC-657A-4A45-8E51-57F7AB4FAFFE}"/>
              </a:ext>
            </a:extLst>
          </p:cNvPr>
          <p:cNvSpPr/>
          <p:nvPr/>
        </p:nvSpPr>
        <p:spPr>
          <a:xfrm>
            <a:off x="5681609" y="1963852"/>
            <a:ext cx="4529879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 2017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C2300A-78BC-EC78-28DC-FF0E189EC727}"/>
              </a:ext>
            </a:extLst>
          </p:cNvPr>
          <p:cNvCxnSpPr>
            <a:stCxn id="15" idx="3"/>
          </p:cNvCxnSpPr>
          <p:nvPr/>
        </p:nvCxnSpPr>
        <p:spPr>
          <a:xfrm flipV="1">
            <a:off x="4982487" y="3595955"/>
            <a:ext cx="699122" cy="10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AC846B7-0010-03C5-817A-7E93080F5430}"/>
              </a:ext>
            </a:extLst>
          </p:cNvPr>
          <p:cNvCxnSpPr>
            <a:stCxn id="15" idx="3"/>
            <a:endCxn id="22" idx="1"/>
          </p:cNvCxnSpPr>
          <p:nvPr/>
        </p:nvCxnSpPr>
        <p:spPr>
          <a:xfrm flipV="1">
            <a:off x="4982487" y="2146415"/>
            <a:ext cx="699122" cy="1460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C7C8D7-C266-0147-C2DA-95DF2A28BAA0}"/>
              </a:ext>
            </a:extLst>
          </p:cNvPr>
          <p:cNvCxnSpPr>
            <a:stCxn id="15" idx="3"/>
            <a:endCxn id="21" idx="1"/>
          </p:cNvCxnSpPr>
          <p:nvPr/>
        </p:nvCxnSpPr>
        <p:spPr>
          <a:xfrm flipV="1">
            <a:off x="4982487" y="2871185"/>
            <a:ext cx="699121" cy="73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53C068-97D9-F19D-B3FC-FDA05D3C609E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>
            <a:off x="4982487" y="3606593"/>
            <a:ext cx="699119" cy="703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52C353-981C-BDFC-5832-833EDE5AC6EA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>
            <a:off x="4982487" y="3606593"/>
            <a:ext cx="699118" cy="1416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899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E8D1-43A7-D0E2-57C6-E85F221C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80A8-2B17-C03B-53F5-000FFFB8C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7. xMK CKKS (setup)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7B959-652F-5ACF-3669-8C8CBC6D2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38964-964B-F06E-70FD-1F8808C16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2B4A-E4F9-5A9F-85F4-F12FFA68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12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49E2D6B-5728-1A60-B2CD-AFF3D6F11C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9651609"/>
                  </p:ext>
                </p:extLst>
              </p:nvPr>
            </p:nvGraphicFramePr>
            <p:xfrm>
              <a:off x="2032000" y="1690688"/>
              <a:ext cx="8128000" cy="43374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70709750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13769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Symbol/formula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118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Plain text of device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800" b="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53224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Private key of device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9103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Public key of device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>
                                  <m:sSub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5355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Aggregated public keys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acc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61217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Ciphertext of the plain text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(encryption)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eqArr>
                                  <m:eqArr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&amp;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 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∙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&amp;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 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eqAr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615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Aggregated ciphertexts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𝑠𝑢𝑚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𝑠𝑢𝑚</m:t>
                                        </m:r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𝑠𝑢𝑚</m:t>
                                        </m:r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6445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Key share device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𝑠𝑢𝑚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78577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Aggregated plain texts </a:t>
                          </a: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(decryption)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𝑠𝑢𝑚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≈ 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53287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49E2D6B-5728-1A60-B2CD-AFF3D6F11C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9651609"/>
                  </p:ext>
                </p:extLst>
              </p:nvPr>
            </p:nvGraphicFramePr>
            <p:xfrm>
              <a:off x="2032000" y="1690688"/>
              <a:ext cx="8128000" cy="43374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70709750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13769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Symbol/formula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118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0" t="-109836" r="-100600" b="-9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109836" r="-600" b="-9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3224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09836" r="-100600" b="-8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209836" r="-600" b="-8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103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0" t="-315000" r="-100600" b="-7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315000" r="-600" b="-78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355984"/>
                      </a:ext>
                    </a:extLst>
                  </a:tr>
                  <a:tr h="6529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Aggregated public keys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230556" r="-600" b="-336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6121775"/>
                      </a:ext>
                    </a:extLst>
                  </a:tr>
                  <a:tr h="8065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70455" r="-100600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270455" r="-600" b="-1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15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Aggregated ciphertexts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801639" r="-600" b="-2786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6445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0" t="-901639" r="-100600" b="-1786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901639" r="-600" b="-1786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7857780"/>
                      </a:ext>
                    </a:extLst>
                  </a:tr>
                  <a:tr h="6529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Aggregated plain texts </a:t>
                          </a: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(decryption)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571028" r="-600" b="-1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53287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Left Brace 9">
            <a:extLst>
              <a:ext uri="{FF2B5EF4-FFF2-40B4-BE49-F238E27FC236}">
                <a16:creationId xmlns:a16="http://schemas.microsoft.com/office/drawing/2014/main" id="{F7B32059-3CB2-9F27-59DF-2C9879CF1988}"/>
              </a:ext>
            </a:extLst>
          </p:cNvPr>
          <p:cNvSpPr/>
          <p:nvPr/>
        </p:nvSpPr>
        <p:spPr>
          <a:xfrm>
            <a:off x="6359704" y="3955438"/>
            <a:ext cx="236305" cy="678094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235380-A917-2BDC-3BFD-33AEBEBC6909}"/>
                  </a:ext>
                </a:extLst>
              </p:cNvPr>
              <p:cNvSpPr txBox="1"/>
              <p:nvPr/>
            </p:nvSpPr>
            <p:spPr>
              <a:xfrm>
                <a:off x="10102920" y="3859403"/>
                <a:ext cx="1226050" cy="6610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[0]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235380-A917-2BDC-3BFD-33AEBEBC6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920" y="3859403"/>
                <a:ext cx="1226050" cy="661078"/>
              </a:xfrm>
              <a:prstGeom prst="rect">
                <a:avLst/>
              </a:prstGeom>
              <a:blipFill>
                <a:blip r:embed="rId3"/>
                <a:stretch>
                  <a:fillRect r="-498" b="-8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DE0C634-6BEF-BD84-28B6-313B538F5F8E}"/>
              </a:ext>
            </a:extLst>
          </p:cNvPr>
          <p:cNvSpPr txBox="1"/>
          <p:nvPr/>
        </p:nvSpPr>
        <p:spPr>
          <a:xfrm>
            <a:off x="10160000" y="4525546"/>
            <a:ext cx="1654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Homomorphic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</a:p>
        </p:txBody>
      </p:sp>
    </p:spTree>
    <p:extLst>
      <p:ext uri="{BB962C8B-B14F-4D97-AF65-F5344CB8AC3E}">
        <p14:creationId xmlns:p14="http://schemas.microsoft.com/office/powerpoint/2010/main" val="1169789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4D4B-5C13-8186-449A-9EEE222E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BE36-2070-389D-319F-9921EA70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7. xMK CKKS  (public keys aggregation)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C8DEA-3800-938E-3FC7-C7BF782C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99C7C-7377-F808-1011-5A1C7900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346F2-63C4-D340-CA26-F8CC5656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13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B6899C-D091-94FF-0E39-A68600988B02}"/>
              </a:ext>
            </a:extLst>
          </p:cNvPr>
          <p:cNvSpPr/>
          <p:nvPr/>
        </p:nvSpPr>
        <p:spPr>
          <a:xfrm>
            <a:off x="1824247" y="2368003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Client 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596C48-D452-4783-1AA5-927C10A8E960}"/>
              </a:ext>
            </a:extLst>
          </p:cNvPr>
          <p:cNvSpPr/>
          <p:nvPr/>
        </p:nvSpPr>
        <p:spPr>
          <a:xfrm>
            <a:off x="1824247" y="3810330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Client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DA6EE0-2B67-BF41-5D2D-854A82F0BC8A}"/>
              </a:ext>
            </a:extLst>
          </p:cNvPr>
          <p:cNvCxnSpPr>
            <a:stCxn id="7" idx="6"/>
          </p:cNvCxnSpPr>
          <p:nvPr/>
        </p:nvCxnSpPr>
        <p:spPr>
          <a:xfrm flipV="1">
            <a:off x="3206236" y="2591407"/>
            <a:ext cx="775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787703-C134-855A-BF6E-472DE58FEDF2}"/>
              </a:ext>
            </a:extLst>
          </p:cNvPr>
          <p:cNvCxnSpPr/>
          <p:nvPr/>
        </p:nvCxnSpPr>
        <p:spPr>
          <a:xfrm flipV="1">
            <a:off x="3206236" y="4033733"/>
            <a:ext cx="775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A63F08-1151-E1A1-A8C0-60965483D2D7}"/>
                  </a:ext>
                </a:extLst>
              </p:cNvPr>
              <p:cNvSpPr txBox="1"/>
              <p:nvPr/>
            </p:nvSpPr>
            <p:spPr>
              <a:xfrm>
                <a:off x="3354307" y="2231877"/>
                <a:ext cx="479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A63F08-1151-E1A1-A8C0-60965483D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307" y="2231877"/>
                <a:ext cx="4797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F1E6A6-D151-830D-D681-D330CCE2C056}"/>
                  </a:ext>
                </a:extLst>
              </p:cNvPr>
              <p:cNvSpPr txBox="1"/>
              <p:nvPr/>
            </p:nvSpPr>
            <p:spPr>
              <a:xfrm>
                <a:off x="3354306" y="3676825"/>
                <a:ext cx="479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F1E6A6-D151-830D-D681-D330CCE2C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306" y="3676825"/>
                <a:ext cx="4797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D8C464-7AF6-0F3D-0E6B-25FECFABCAD3}"/>
                  </a:ext>
                </a:extLst>
              </p:cNvPr>
              <p:cNvSpPr txBox="1"/>
              <p:nvPr/>
            </p:nvSpPr>
            <p:spPr>
              <a:xfrm>
                <a:off x="3982091" y="2399527"/>
                <a:ext cx="479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D8C464-7AF6-0F3D-0E6B-25FECFABC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91" y="2399527"/>
                <a:ext cx="47971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AF6FC2-202F-63B6-5401-A2EC042D54E3}"/>
              </a:ext>
            </a:extLst>
          </p:cNvPr>
          <p:cNvCxnSpPr>
            <a:cxnSpLocks/>
            <a:stCxn id="16" idx="3"/>
            <a:endCxn id="28" idx="2"/>
          </p:cNvCxnSpPr>
          <p:nvPr/>
        </p:nvCxnSpPr>
        <p:spPr>
          <a:xfrm>
            <a:off x="4461805" y="2584193"/>
            <a:ext cx="1071570" cy="847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0C8D18-B14B-1A39-EDB0-70B598D3083C}"/>
              </a:ext>
            </a:extLst>
          </p:cNvPr>
          <p:cNvCxnSpPr>
            <a:cxnSpLocks/>
            <a:stCxn id="3" idx="3"/>
            <a:endCxn id="28" idx="2"/>
          </p:cNvCxnSpPr>
          <p:nvPr/>
        </p:nvCxnSpPr>
        <p:spPr>
          <a:xfrm flipV="1">
            <a:off x="4461805" y="3431628"/>
            <a:ext cx="1071570" cy="563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04E1D68-A44D-8641-AF98-45E147C17715}"/>
              </a:ext>
            </a:extLst>
          </p:cNvPr>
          <p:cNvSpPr/>
          <p:nvPr/>
        </p:nvSpPr>
        <p:spPr>
          <a:xfrm>
            <a:off x="5533375" y="3208223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FFDC67-5C53-AF2C-7500-3020579D1E6E}"/>
                  </a:ext>
                </a:extLst>
              </p:cNvPr>
              <p:cNvSpPr txBox="1"/>
              <p:nvPr/>
            </p:nvSpPr>
            <p:spPr>
              <a:xfrm>
                <a:off x="3982091" y="3810330"/>
                <a:ext cx="479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FFDC67-5C53-AF2C-7500-3020579D1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91" y="3810330"/>
                <a:ext cx="4797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9EE684-10FF-B4BC-D9B8-2626811E0C21}"/>
              </a:ext>
            </a:extLst>
          </p:cNvPr>
          <p:cNvCxnSpPr>
            <a:stCxn id="28" idx="6"/>
          </p:cNvCxnSpPr>
          <p:nvPr/>
        </p:nvCxnSpPr>
        <p:spPr>
          <a:xfrm flipV="1">
            <a:off x="6915364" y="3431627"/>
            <a:ext cx="7799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A51C49-BAA2-19E3-C35E-766BD02CEA3B}"/>
                  </a:ext>
                </a:extLst>
              </p:cNvPr>
              <p:cNvSpPr txBox="1"/>
              <p:nvPr/>
            </p:nvSpPr>
            <p:spPr>
              <a:xfrm>
                <a:off x="7460011" y="3240805"/>
                <a:ext cx="1879315" cy="38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A51C49-BAA2-19E3-C35E-766BD02CE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011" y="3240805"/>
                <a:ext cx="1879315" cy="381643"/>
              </a:xfrm>
              <a:prstGeom prst="rect">
                <a:avLst/>
              </a:prstGeom>
              <a:blipFill>
                <a:blip r:embed="rId6"/>
                <a:stretch>
                  <a:fillRect t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B0DE2728-56A5-F91B-A79B-DC485032E9B6}"/>
              </a:ext>
            </a:extLst>
          </p:cNvPr>
          <p:cNvSpPr txBox="1"/>
          <p:nvPr/>
        </p:nvSpPr>
        <p:spPr>
          <a:xfrm>
            <a:off x="7695344" y="3622448"/>
            <a:ext cx="295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Aggregated public keys</a:t>
            </a:r>
          </a:p>
        </p:txBody>
      </p:sp>
    </p:spTree>
    <p:extLst>
      <p:ext uri="{BB962C8B-B14F-4D97-AF65-F5344CB8AC3E}">
        <p14:creationId xmlns:p14="http://schemas.microsoft.com/office/powerpoint/2010/main" val="2583668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3C383-A69C-EEF0-D04B-420EC39B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CF3D-A69C-B0E4-7F59-FD0835E3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7. xMK CKKS (collaborative decryption)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4705D-6ED9-AD17-EB36-D21653B07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2575-8F47-40CF-2CDE-9D398D63B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0950-B0E2-8112-F4C9-5C80FFDB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14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18C09A-ABE4-707A-A513-9E6D31EF953E}"/>
              </a:ext>
            </a:extLst>
          </p:cNvPr>
          <p:cNvSpPr/>
          <p:nvPr/>
        </p:nvSpPr>
        <p:spPr>
          <a:xfrm>
            <a:off x="1731780" y="2460470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Client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D59D52-2AE4-2862-B7CF-38506D856601}"/>
              </a:ext>
            </a:extLst>
          </p:cNvPr>
          <p:cNvSpPr/>
          <p:nvPr/>
        </p:nvSpPr>
        <p:spPr>
          <a:xfrm>
            <a:off x="1731780" y="3902797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Client 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EA960F-467A-623C-E14D-0C74181F132F}"/>
              </a:ext>
            </a:extLst>
          </p:cNvPr>
          <p:cNvCxnSpPr>
            <a:stCxn id="3" idx="6"/>
          </p:cNvCxnSpPr>
          <p:nvPr/>
        </p:nvCxnSpPr>
        <p:spPr>
          <a:xfrm flipV="1">
            <a:off x="3113769" y="2683874"/>
            <a:ext cx="775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49DC416-7DCF-1F99-A797-6C51EB506F7D}"/>
              </a:ext>
            </a:extLst>
          </p:cNvPr>
          <p:cNvCxnSpPr/>
          <p:nvPr/>
        </p:nvCxnSpPr>
        <p:spPr>
          <a:xfrm flipV="1">
            <a:off x="3113769" y="4126200"/>
            <a:ext cx="775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84CA6C-6573-B5D6-320A-4198543C3A8C}"/>
                  </a:ext>
                </a:extLst>
              </p:cNvPr>
              <p:cNvSpPr txBox="1"/>
              <p:nvPr/>
            </p:nvSpPr>
            <p:spPr>
              <a:xfrm>
                <a:off x="3889624" y="2491994"/>
                <a:ext cx="479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84CA6C-6573-B5D6-320A-4198543C3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624" y="2491994"/>
                <a:ext cx="47971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B11339-F349-ED4D-CAE6-F8AED74BB364}"/>
              </a:ext>
            </a:extLst>
          </p:cNvPr>
          <p:cNvCxnSpPr>
            <a:cxnSpLocks/>
            <a:stCxn id="24" idx="3"/>
            <a:endCxn id="27" idx="2"/>
          </p:cNvCxnSpPr>
          <p:nvPr/>
        </p:nvCxnSpPr>
        <p:spPr>
          <a:xfrm>
            <a:off x="4369338" y="2676660"/>
            <a:ext cx="1071570" cy="847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C49C1E-CA4B-1837-EFF7-A8A2C54B9B0B}"/>
              </a:ext>
            </a:extLst>
          </p:cNvPr>
          <p:cNvCxnSpPr>
            <a:cxnSpLocks/>
            <a:stCxn id="31" idx="3"/>
            <a:endCxn id="27" idx="2"/>
          </p:cNvCxnSpPr>
          <p:nvPr/>
        </p:nvCxnSpPr>
        <p:spPr>
          <a:xfrm flipV="1">
            <a:off x="4369338" y="3524095"/>
            <a:ext cx="1071570" cy="563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1027D1B-C086-307C-F8B7-77D5CCD3F218}"/>
              </a:ext>
            </a:extLst>
          </p:cNvPr>
          <p:cNvSpPr/>
          <p:nvPr/>
        </p:nvSpPr>
        <p:spPr>
          <a:xfrm>
            <a:off x="5440908" y="3300690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6FC2B90-6CC2-E2ED-786B-97E413CB0936}"/>
                  </a:ext>
                </a:extLst>
              </p:cNvPr>
              <p:cNvSpPr txBox="1"/>
              <p:nvPr/>
            </p:nvSpPr>
            <p:spPr>
              <a:xfrm>
                <a:off x="3889624" y="3902797"/>
                <a:ext cx="479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6FC2B90-6CC2-E2ED-786B-97E413CB0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624" y="3902797"/>
                <a:ext cx="4797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A954F73-BB57-D031-388D-6428851690A4}"/>
              </a:ext>
            </a:extLst>
          </p:cNvPr>
          <p:cNvCxnSpPr>
            <a:stCxn id="27" idx="6"/>
          </p:cNvCxnSpPr>
          <p:nvPr/>
        </p:nvCxnSpPr>
        <p:spPr>
          <a:xfrm flipV="1">
            <a:off x="6822897" y="3524094"/>
            <a:ext cx="7799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C8FA67E-E52D-3C7A-A2D4-231F8B3182A2}"/>
                  </a:ext>
                </a:extLst>
              </p:cNvPr>
              <p:cNvSpPr txBox="1"/>
              <p:nvPr/>
            </p:nvSpPr>
            <p:spPr>
              <a:xfrm>
                <a:off x="7367544" y="3333272"/>
                <a:ext cx="1879315" cy="38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C8FA67E-E52D-3C7A-A2D4-231F8B318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44" y="3333272"/>
                <a:ext cx="1879315" cy="3816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0F8DF5A0-4DFA-767E-0587-FE3B987E2ACA}"/>
              </a:ext>
            </a:extLst>
          </p:cNvPr>
          <p:cNvSpPr txBox="1"/>
          <p:nvPr/>
        </p:nvSpPr>
        <p:spPr>
          <a:xfrm>
            <a:off x="1294962" y="4808244"/>
            <a:ext cx="96738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 Shares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all clients are required for decryption which solve the mentioned security risks.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decryption becomes impossible if one key share is missing.</a:t>
            </a:r>
          </a:p>
        </p:txBody>
      </p:sp>
    </p:spTree>
    <p:extLst>
      <p:ext uri="{BB962C8B-B14F-4D97-AF65-F5344CB8AC3E}">
        <p14:creationId xmlns:p14="http://schemas.microsoft.com/office/powerpoint/2010/main" val="2932219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C7D48-8B9B-FCDB-B752-0AE41C6F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E2CF5-8EFA-FA33-2C67-3E2D9FDE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 xMK CKKS (network)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F7DA0-D8C1-F2CC-7283-14F653D2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8DF9B-E645-487D-46AD-A8123620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4F829-5E77-FEDC-7A02-068999A7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15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00329A-7DFF-180B-8598-BE27790A966E}"/>
              </a:ext>
            </a:extLst>
          </p:cNvPr>
          <p:cNvSpPr/>
          <p:nvPr/>
        </p:nvSpPr>
        <p:spPr>
          <a:xfrm>
            <a:off x="1423555" y="2141971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Client 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7605A61-550D-1FD1-53E8-25456B37EE01}"/>
              </a:ext>
            </a:extLst>
          </p:cNvPr>
          <p:cNvSpPr/>
          <p:nvPr/>
        </p:nvSpPr>
        <p:spPr>
          <a:xfrm>
            <a:off x="1423555" y="3584298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Client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58A046-895D-06D2-5E8E-502EA3D92C94}"/>
              </a:ext>
            </a:extLst>
          </p:cNvPr>
          <p:cNvCxnSpPr>
            <a:stCxn id="7" idx="6"/>
          </p:cNvCxnSpPr>
          <p:nvPr/>
        </p:nvCxnSpPr>
        <p:spPr>
          <a:xfrm flipV="1">
            <a:off x="2805544" y="2365375"/>
            <a:ext cx="775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296FA9-2E25-02D5-5A1B-3286886738FB}"/>
              </a:ext>
            </a:extLst>
          </p:cNvPr>
          <p:cNvCxnSpPr/>
          <p:nvPr/>
        </p:nvCxnSpPr>
        <p:spPr>
          <a:xfrm flipV="1">
            <a:off x="2805544" y="3807701"/>
            <a:ext cx="775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A7C34B-3BD8-44FA-86AC-64F09474C242}"/>
                  </a:ext>
                </a:extLst>
              </p:cNvPr>
              <p:cNvSpPr txBox="1"/>
              <p:nvPr/>
            </p:nvSpPr>
            <p:spPr>
              <a:xfrm>
                <a:off x="2953615" y="2005845"/>
                <a:ext cx="479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A7C34B-3BD8-44FA-86AC-64F09474C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615" y="2005845"/>
                <a:ext cx="4797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9A5813-243F-8948-55E0-A04B52065DFE}"/>
                  </a:ext>
                </a:extLst>
              </p:cNvPr>
              <p:cNvSpPr txBox="1"/>
              <p:nvPr/>
            </p:nvSpPr>
            <p:spPr>
              <a:xfrm>
                <a:off x="2953614" y="3450793"/>
                <a:ext cx="479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9A5813-243F-8948-55E0-A04B52065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614" y="3450793"/>
                <a:ext cx="4797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7BF777-653E-D346-51DF-FF21785E575A}"/>
                  </a:ext>
                </a:extLst>
              </p:cNvPr>
              <p:cNvSpPr txBox="1"/>
              <p:nvPr/>
            </p:nvSpPr>
            <p:spPr>
              <a:xfrm>
                <a:off x="3581399" y="2173495"/>
                <a:ext cx="479714" cy="383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7BF777-653E-D346-51DF-FF21785E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399" y="2173495"/>
                <a:ext cx="479714" cy="383759"/>
              </a:xfrm>
              <a:prstGeom prst="rect">
                <a:avLst/>
              </a:prstGeom>
              <a:blipFill>
                <a:blip r:embed="rId4"/>
                <a:stretch>
                  <a:fillRect t="-4839" r="-17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174805-DDAD-3571-E85B-26AEA8E7F805}"/>
                  </a:ext>
                </a:extLst>
              </p:cNvPr>
              <p:cNvSpPr txBox="1"/>
              <p:nvPr/>
            </p:nvSpPr>
            <p:spPr>
              <a:xfrm>
                <a:off x="3558883" y="3615821"/>
                <a:ext cx="479714" cy="383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174805-DDAD-3571-E85B-26AEA8E7F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883" y="3615821"/>
                <a:ext cx="479714" cy="383759"/>
              </a:xfrm>
              <a:prstGeom prst="rect">
                <a:avLst/>
              </a:prstGeom>
              <a:blipFill>
                <a:blip r:embed="rId5"/>
                <a:stretch>
                  <a:fillRect t="-4762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C67E10-EB04-B9C1-7C87-498080CEA32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061113" y="2365375"/>
            <a:ext cx="18928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7A7EA18-72B0-0273-D0C2-8166E81E3F9E}"/>
              </a:ext>
            </a:extLst>
          </p:cNvPr>
          <p:cNvCxnSpPr>
            <a:cxnSpLocks/>
          </p:cNvCxnSpPr>
          <p:nvPr/>
        </p:nvCxnSpPr>
        <p:spPr>
          <a:xfrm>
            <a:off x="4061113" y="3802799"/>
            <a:ext cx="1892878" cy="4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3DA5BE-ABD3-13C5-98FA-6415B76EFB73}"/>
                  </a:ext>
                </a:extLst>
              </p:cNvPr>
              <p:cNvSpPr txBox="1"/>
              <p:nvPr/>
            </p:nvSpPr>
            <p:spPr>
              <a:xfrm>
                <a:off x="3883602" y="1845985"/>
                <a:ext cx="1905000" cy="429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3DA5BE-ABD3-13C5-98FA-6415B76EF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602" y="1845985"/>
                <a:ext cx="1905000" cy="429413"/>
              </a:xfrm>
              <a:prstGeom prst="rect">
                <a:avLst/>
              </a:prstGeom>
              <a:blipFill>
                <a:blip r:embed="rId6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5DFCF55-7C0D-EF20-D252-9B6D9E266735}"/>
                  </a:ext>
                </a:extLst>
              </p:cNvPr>
              <p:cNvSpPr txBox="1"/>
              <p:nvPr/>
            </p:nvSpPr>
            <p:spPr>
              <a:xfrm>
                <a:off x="3883602" y="3263467"/>
                <a:ext cx="1905000" cy="446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5DFCF55-7C0D-EF20-D252-9B6D9E266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602" y="3263467"/>
                <a:ext cx="1905000" cy="446020"/>
              </a:xfrm>
              <a:prstGeom prst="rect">
                <a:avLst/>
              </a:prstGeom>
              <a:blipFill>
                <a:blip r:embed="rId7"/>
                <a:stretch>
                  <a:fillRect b="-4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7F173170-2DAB-625B-804C-30BBA2F9749B}"/>
              </a:ext>
            </a:extLst>
          </p:cNvPr>
          <p:cNvSpPr/>
          <p:nvPr/>
        </p:nvSpPr>
        <p:spPr>
          <a:xfrm>
            <a:off x="8423566" y="2872608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69B7B5A-8C50-C7E7-2113-A2A7B7325F71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6826827" y="2375177"/>
            <a:ext cx="1596739" cy="720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4A43350-D30E-0706-9F92-C0FA2335EC3A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6826827" y="3096013"/>
            <a:ext cx="1596739" cy="720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7AA48CD-9239-B6AD-EF7D-39E24854A6D0}"/>
                  </a:ext>
                </a:extLst>
              </p:cNvPr>
              <p:cNvSpPr txBox="1"/>
              <p:nvPr/>
            </p:nvSpPr>
            <p:spPr>
              <a:xfrm>
                <a:off x="5864994" y="2173495"/>
                <a:ext cx="1076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7AA48CD-9239-B6AD-EF7D-39E24854A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994" y="2173495"/>
                <a:ext cx="1076811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4A99B7-59C6-90F9-E519-07ABCCAFDB0C}"/>
                  </a:ext>
                </a:extLst>
              </p:cNvPr>
              <p:cNvSpPr txBox="1"/>
              <p:nvPr/>
            </p:nvSpPr>
            <p:spPr>
              <a:xfrm>
                <a:off x="5864993" y="3615343"/>
                <a:ext cx="1076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4A99B7-59C6-90F9-E519-07ABCCAFD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993" y="3615343"/>
                <a:ext cx="1076811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2EC9249-027C-75F8-19A4-6DF1311C304A}"/>
              </a:ext>
            </a:extLst>
          </p:cNvPr>
          <p:cNvCxnSpPr>
            <a:cxnSpLocks/>
            <a:stCxn id="28" idx="6"/>
          </p:cNvCxnSpPr>
          <p:nvPr/>
        </p:nvCxnSpPr>
        <p:spPr>
          <a:xfrm>
            <a:off x="9805555" y="3096013"/>
            <a:ext cx="1726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56B37C4-8D8F-F151-4734-8807FFA7F602}"/>
                  </a:ext>
                </a:extLst>
              </p:cNvPr>
              <p:cNvSpPr txBox="1"/>
              <p:nvPr/>
            </p:nvSpPr>
            <p:spPr>
              <a:xfrm>
                <a:off x="9805555" y="2772016"/>
                <a:ext cx="17261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56B37C4-8D8F-F151-4734-8807FFA7F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5555" y="2772016"/>
                <a:ext cx="1726114" cy="276999"/>
              </a:xfrm>
              <a:prstGeom prst="rect">
                <a:avLst/>
              </a:prstGeom>
              <a:blipFill>
                <a:blip r:embed="rId10"/>
                <a:stretch>
                  <a:fillRect l="-2827" r="-70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FA0E661-E4AA-6CA1-2305-5AFA3B5D45ED}"/>
              </a:ext>
            </a:extLst>
          </p:cNvPr>
          <p:cNvCxnSpPr/>
          <p:nvPr/>
        </p:nvCxnSpPr>
        <p:spPr>
          <a:xfrm>
            <a:off x="11531669" y="3096012"/>
            <a:ext cx="0" cy="1881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FFCDEFE4-B270-7ADF-21E0-E9ED0395A9DA}"/>
              </a:ext>
            </a:extLst>
          </p:cNvPr>
          <p:cNvCxnSpPr>
            <a:endCxn id="8" idx="2"/>
          </p:cNvCxnSpPr>
          <p:nvPr/>
        </p:nvCxnSpPr>
        <p:spPr>
          <a:xfrm rot="10800000">
            <a:off x="1423555" y="3807703"/>
            <a:ext cx="10108114" cy="1169542"/>
          </a:xfrm>
          <a:prstGeom prst="bentConnector3">
            <a:avLst>
              <a:gd name="adj1" fmla="val 1022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E4FF0F4-B533-DBC4-304E-2626EC101D4E}"/>
                  </a:ext>
                </a:extLst>
              </p:cNvPr>
              <p:cNvSpPr txBox="1"/>
              <p:nvPr/>
            </p:nvSpPr>
            <p:spPr>
              <a:xfrm>
                <a:off x="4637807" y="4317962"/>
                <a:ext cx="3872348" cy="659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𝑎𝑔𝑔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E4FF0F4-B533-DBC4-304E-2626EC101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807" y="4317962"/>
                <a:ext cx="3872348" cy="6592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D68D40A-FDC0-62DA-069E-9AA6CD46BD85}"/>
              </a:ext>
            </a:extLst>
          </p:cNvPr>
          <p:cNvCxnSpPr>
            <a:endCxn id="7" idx="2"/>
          </p:cNvCxnSpPr>
          <p:nvPr/>
        </p:nvCxnSpPr>
        <p:spPr>
          <a:xfrm rot="5400000" flipH="1" flipV="1">
            <a:off x="597134" y="2973588"/>
            <a:ext cx="1434633" cy="2182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54CE36-194F-62C0-F14F-632FEB4E1654}"/>
              </a:ext>
            </a:extLst>
          </p:cNvPr>
          <p:cNvSpPr txBox="1"/>
          <p:nvPr/>
        </p:nvSpPr>
        <p:spPr>
          <a:xfrm>
            <a:off x="3268466" y="5218501"/>
            <a:ext cx="56550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is done only on server side; clients can’t decrypt the aggregated message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103431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802A-33DC-7FF8-B458-90CEED59F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0C990-9963-4D58-D990-601A82F3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75191-2717-B764-5A4B-9060E7BD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EE6BC-5941-7F0C-06C3-6352B255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16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B979A2-3CCF-B194-946C-D43C425CB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7. xMK CKKS (problematics)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9DB7C7-13D3-435F-AAAB-371C2ABA2E87}"/>
              </a:ext>
            </a:extLst>
          </p:cNvPr>
          <p:cNvSpPr/>
          <p:nvPr/>
        </p:nvSpPr>
        <p:spPr>
          <a:xfrm>
            <a:off x="838200" y="3429000"/>
            <a:ext cx="2126271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xMK CKKS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E51271-53C9-8BA4-8097-C6C914797807}"/>
              </a:ext>
            </a:extLst>
          </p:cNvPr>
          <p:cNvSpPr/>
          <p:nvPr/>
        </p:nvSpPr>
        <p:spPr>
          <a:xfrm>
            <a:off x="3663590" y="4132076"/>
            <a:ext cx="4529879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clients required for decryption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D27F28-B3DA-DD32-179D-004EAEF31926}"/>
              </a:ext>
            </a:extLst>
          </p:cNvPr>
          <p:cNvSpPr/>
          <p:nvPr/>
        </p:nvSpPr>
        <p:spPr>
          <a:xfrm>
            <a:off x="3663592" y="2693592"/>
            <a:ext cx="4529879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happens on server side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2D5C58-246B-1BE6-DC11-8B45F4537F47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 flipV="1">
            <a:off x="2964471" y="2876155"/>
            <a:ext cx="699121" cy="73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8816148-C346-45C4-C115-05B5A8914042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2964471" y="3611563"/>
            <a:ext cx="699119" cy="703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D8B9123-6558-1E91-8DCB-C9BD5CBC0AAC}"/>
              </a:ext>
            </a:extLst>
          </p:cNvPr>
          <p:cNvSpPr/>
          <p:nvPr/>
        </p:nvSpPr>
        <p:spPr>
          <a:xfrm>
            <a:off x="8193469" y="2568539"/>
            <a:ext cx="417131" cy="20959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54E55-409B-881A-B5E3-72397258CF52}"/>
              </a:ext>
            </a:extLst>
          </p:cNvPr>
          <p:cNvSpPr txBox="1"/>
          <p:nvPr/>
        </p:nvSpPr>
        <p:spPr>
          <a:xfrm>
            <a:off x="8771288" y="3103730"/>
            <a:ext cx="24218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of this research is to solve this issues.</a:t>
            </a:r>
          </a:p>
        </p:txBody>
      </p:sp>
    </p:spTree>
    <p:extLst>
      <p:ext uri="{BB962C8B-B14F-4D97-AF65-F5344CB8AC3E}">
        <p14:creationId xmlns:p14="http://schemas.microsoft.com/office/powerpoint/2010/main" val="2219285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6AC3-B6BF-34D6-2A51-F2496D75A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59C1D-A3CF-356C-121C-3D71559F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 DF-KS scheme (DF)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247AC-A59C-EFCB-806B-F64706786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75A95-9DDB-55BE-4D19-5F3E9372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6A41-B4DF-61D5-40D7-935B5DFE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17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DFD3EB1-7DDB-4DB5-F02D-7BF91CBB83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2607424"/>
                  </p:ext>
                </p:extLst>
              </p:nvPr>
            </p:nvGraphicFramePr>
            <p:xfrm>
              <a:off x="2032000" y="1535644"/>
              <a:ext cx="8128000" cy="4544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44626622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6447556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Symbol/formula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71836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Plain text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15993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Decomposition of the Plain text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</a:rPr>
                            <a:t>]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]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</a:rPr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4279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Secret key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  <m:r>
                                <a:rPr lang="en-US" sz="18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=[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</a:rPr>
                            <a:t>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164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Ciphertext </a:t>
                          </a: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(encryption)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𝑐𝑡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52313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Inverse secret key </a:t>
                          </a: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(decryption)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𝑖𝑛𝑣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=[</m:t>
                                </m:r>
                                <m:sSubSup>
                                  <m:sSub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𝑛𝑣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nary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77771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Aggregated ciphertext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𝑐𝑡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i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sub>
                                            <m:r>
                                              <a:rPr lang="en-US" i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i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sub>
                                            <m:r>
                                              <a:rPr lang="en-US" i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,…, 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504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DFD3EB1-7DDB-4DB5-F02D-7BF91CBB83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2607424"/>
                  </p:ext>
                </p:extLst>
              </p:nvPr>
            </p:nvGraphicFramePr>
            <p:xfrm>
              <a:off x="2032000" y="1535644"/>
              <a:ext cx="8128000" cy="4544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44626622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6447556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Symbol/formula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71836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Plain text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108197" r="-600" b="-1139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1599393"/>
                      </a:ext>
                    </a:extLst>
                  </a:tr>
                  <a:tr h="9380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Decomposition of the Plain text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82468" r="-600" b="-35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279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Secret key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460656" r="-600" b="-786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0164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Ciphertext </a:t>
                          </a: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(encryption)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560656" r="-600" b="-686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5231358"/>
                      </a:ext>
                    </a:extLst>
                  </a:tr>
                  <a:tr h="94710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Inverse secret key </a:t>
                          </a: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(decryption)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258333" r="-600" b="-168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777124"/>
                      </a:ext>
                    </a:extLst>
                  </a:tr>
                  <a:tr h="1176147">
                    <a:tc>
                      <a:txBody>
                        <a:bodyPr/>
                        <a:lstStyle/>
                        <a:p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Aggregated ciphertext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289637" r="-600" b="-362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504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54623A5-7BA6-59B6-5BB9-6D3F86370E61}"/>
              </a:ext>
            </a:extLst>
          </p:cNvPr>
          <p:cNvSpPr txBox="1"/>
          <p:nvPr/>
        </p:nvSpPr>
        <p:spPr>
          <a:xfrm>
            <a:off x="10160000" y="5101589"/>
            <a:ext cx="16978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Homomorphic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</a:p>
        </p:txBody>
      </p:sp>
    </p:spTree>
    <p:extLst>
      <p:ext uri="{BB962C8B-B14F-4D97-AF65-F5344CB8AC3E}">
        <p14:creationId xmlns:p14="http://schemas.microsoft.com/office/powerpoint/2010/main" val="3504332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FAA59-6D6A-F318-FAEE-B973C7886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F437-BFA0-A779-125A-0DADEE79E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 DF-KS scheme (KS)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E0A2C-BE4E-6D23-A531-6B0CEB1A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57C72-B43F-5C30-5D3F-D345C606C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16234-5E67-A82B-6B7F-6DFF617C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18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EEEA03-575A-1C88-F756-385F0917BBC5}"/>
                  </a:ext>
                </a:extLst>
              </p:cNvPr>
              <p:cNvSpPr txBox="1"/>
              <p:nvPr/>
            </p:nvSpPr>
            <p:spPr>
              <a:xfrm>
                <a:off x="1213104" y="3763382"/>
                <a:ext cx="24444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e>
                        <m: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EEEA03-575A-1C88-F756-385F0917B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104" y="3763382"/>
                <a:ext cx="244449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C80E21-BD49-2042-46A9-B2CA0EF5FDE8}"/>
                  </a:ext>
                </a:extLst>
              </p:cNvPr>
              <p:cNvSpPr txBox="1"/>
              <p:nvPr/>
            </p:nvSpPr>
            <p:spPr>
              <a:xfrm>
                <a:off x="5274685" y="3763382"/>
                <a:ext cx="13225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C80E21-BD49-2042-46A9-B2CA0EF5F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685" y="3763382"/>
                <a:ext cx="13225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F8FC3C-10F3-10B0-1D3B-7AA1BDF646BC}"/>
                  </a:ext>
                </a:extLst>
              </p:cNvPr>
              <p:cNvSpPr txBox="1"/>
              <p:nvPr/>
            </p:nvSpPr>
            <p:spPr>
              <a:xfrm>
                <a:off x="8812115" y="3669062"/>
                <a:ext cx="1173341" cy="557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F8FC3C-10F3-10B0-1D3B-7AA1BDF64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115" y="3669062"/>
                <a:ext cx="1173341" cy="5579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0B8E581-3942-B757-28FC-9BE70F5D4B7B}"/>
                  </a:ext>
                </a:extLst>
              </p:cNvPr>
              <p:cNvSpPr txBox="1"/>
              <p:nvPr/>
            </p:nvSpPr>
            <p:spPr>
              <a:xfrm>
                <a:off x="8434924" y="4349574"/>
                <a:ext cx="2918876" cy="369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 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𝑖𝑛𝑣𝑒𝑟𝑠𝑒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0B8E581-3942-B757-28FC-9BE70F5D4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924" y="4349574"/>
                <a:ext cx="2918876" cy="369588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0369764-E40A-7514-CF8F-F0489970C29A}"/>
              </a:ext>
            </a:extLst>
          </p:cNvPr>
          <p:cNvSpPr txBox="1"/>
          <p:nvPr/>
        </p:nvSpPr>
        <p:spPr>
          <a:xfrm>
            <a:off x="2838450" y="2247002"/>
            <a:ext cx="6515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technique that transforms data encrypted under one key into an equivalent ciphertext under another key without decrypting it.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5C5DE4-618B-882F-373D-7469EFCF6EA6}"/>
              </a:ext>
            </a:extLst>
          </p:cNvPr>
          <p:cNvCxnSpPr/>
          <p:nvPr/>
        </p:nvCxnSpPr>
        <p:spPr>
          <a:xfrm>
            <a:off x="6231082" y="4052455"/>
            <a:ext cx="0" cy="666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82A8560-6791-DAD7-202E-65F901903880}"/>
              </a:ext>
            </a:extLst>
          </p:cNvPr>
          <p:cNvCxnSpPr>
            <a:stCxn id="12" idx="1"/>
          </p:cNvCxnSpPr>
          <p:nvPr/>
        </p:nvCxnSpPr>
        <p:spPr>
          <a:xfrm rot="10800000" flipV="1">
            <a:off x="4530437" y="3948047"/>
            <a:ext cx="744249" cy="8837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B1403F4-DE68-1196-55EC-4B477A8B7250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 flipV="1">
            <a:off x="7974719" y="3948048"/>
            <a:ext cx="837396" cy="12530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0AB4A7D-B982-A4E6-DA6A-82B875438727}"/>
              </a:ext>
            </a:extLst>
          </p:cNvPr>
          <p:cNvSpPr txBox="1"/>
          <p:nvPr/>
        </p:nvSpPr>
        <p:spPr>
          <a:xfrm>
            <a:off x="3581400" y="4831772"/>
            <a:ext cx="173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cipher 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4CC0B-95D5-BFD4-7981-42A80B476255}"/>
              </a:ext>
            </a:extLst>
          </p:cNvPr>
          <p:cNvSpPr txBox="1"/>
          <p:nvPr/>
        </p:nvSpPr>
        <p:spPr>
          <a:xfrm>
            <a:off x="5550002" y="4831772"/>
            <a:ext cx="173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cipher 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6304D-F509-6D62-54A9-602A0DC69911}"/>
              </a:ext>
            </a:extLst>
          </p:cNvPr>
          <p:cNvSpPr txBox="1"/>
          <p:nvPr/>
        </p:nvSpPr>
        <p:spPr>
          <a:xfrm>
            <a:off x="7523018" y="5197615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matrix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95BA35-0B07-4A43-760C-BEA3C58C2EB2}"/>
              </a:ext>
            </a:extLst>
          </p:cNvPr>
          <p:cNvCxnSpPr/>
          <p:nvPr/>
        </p:nvCxnSpPr>
        <p:spPr>
          <a:xfrm>
            <a:off x="3581400" y="3763382"/>
            <a:ext cx="0" cy="2273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23F88A9-2829-E920-2FA5-0E6C097FA944}"/>
              </a:ext>
            </a:extLst>
          </p:cNvPr>
          <p:cNvCxnSpPr/>
          <p:nvPr/>
        </p:nvCxnSpPr>
        <p:spPr>
          <a:xfrm>
            <a:off x="7288747" y="3669062"/>
            <a:ext cx="0" cy="2368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128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0022F-499B-406C-5405-4FDA4F03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A88A2-3C0C-F9FD-2C2E-C8EDDE424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 DF-KS scheme (network)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1EE1-3EBB-74A0-051D-251CFEB5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E9DCD-9191-FE5B-DE36-7E4B8B27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0593A-EC9B-FC47-BBA2-B55A9E75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19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F6D8AE-35B9-0C04-1C7F-FFBA543DED79}"/>
              </a:ext>
            </a:extLst>
          </p:cNvPr>
          <p:cNvSpPr/>
          <p:nvPr/>
        </p:nvSpPr>
        <p:spPr>
          <a:xfrm>
            <a:off x="3799611" y="2183027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Client 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507DD7-DB1B-F5D4-B847-2D829532FDC2}"/>
              </a:ext>
            </a:extLst>
          </p:cNvPr>
          <p:cNvSpPr/>
          <p:nvPr/>
        </p:nvSpPr>
        <p:spPr>
          <a:xfrm>
            <a:off x="3799611" y="3625354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Client 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D3BB3D-5CA8-3418-C935-DDD6FDD89F35}"/>
              </a:ext>
            </a:extLst>
          </p:cNvPr>
          <p:cNvCxnSpPr>
            <a:stCxn id="3" idx="6"/>
          </p:cNvCxnSpPr>
          <p:nvPr/>
        </p:nvCxnSpPr>
        <p:spPr>
          <a:xfrm flipV="1">
            <a:off x="5181600" y="2406431"/>
            <a:ext cx="775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939A2B-4A23-CD55-DC86-D194ABBEDA90}"/>
              </a:ext>
            </a:extLst>
          </p:cNvPr>
          <p:cNvCxnSpPr/>
          <p:nvPr/>
        </p:nvCxnSpPr>
        <p:spPr>
          <a:xfrm flipV="1">
            <a:off x="5181600" y="3848757"/>
            <a:ext cx="775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89E177-E153-8731-7C37-D5109C38F682}"/>
                  </a:ext>
                </a:extLst>
              </p:cNvPr>
              <p:cNvSpPr txBox="1"/>
              <p:nvPr/>
            </p:nvSpPr>
            <p:spPr>
              <a:xfrm>
                <a:off x="5329671" y="2046901"/>
                <a:ext cx="479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657159-CC78-BD69-1911-EEF5BA93D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671" y="2046901"/>
                <a:ext cx="4797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432DD7-2448-74B5-9236-F4C87F15DD31}"/>
                  </a:ext>
                </a:extLst>
              </p:cNvPr>
              <p:cNvSpPr txBox="1"/>
              <p:nvPr/>
            </p:nvSpPr>
            <p:spPr>
              <a:xfrm>
                <a:off x="5329670" y="3491849"/>
                <a:ext cx="479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789455-5A98-6BB4-851D-39B3E675F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670" y="3491849"/>
                <a:ext cx="4797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12FB67-BAED-278B-C3CB-8F0CFDC24BBA}"/>
                  </a:ext>
                </a:extLst>
              </p:cNvPr>
              <p:cNvSpPr txBox="1"/>
              <p:nvPr/>
            </p:nvSpPr>
            <p:spPr>
              <a:xfrm>
                <a:off x="5957455" y="2214551"/>
                <a:ext cx="710046" cy="396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151CD8-782B-4CB3-EF9E-7DFC6748B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455" y="2214551"/>
                <a:ext cx="710046" cy="396712"/>
              </a:xfrm>
              <a:prstGeom prst="rect">
                <a:avLst/>
              </a:prstGeom>
              <a:blipFill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D66526-6C64-E77D-1F82-E97546089D17}"/>
                  </a:ext>
                </a:extLst>
              </p:cNvPr>
              <p:cNvSpPr txBox="1"/>
              <p:nvPr/>
            </p:nvSpPr>
            <p:spPr>
              <a:xfrm>
                <a:off x="5934939" y="3656877"/>
                <a:ext cx="479714" cy="396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0322F0-BE74-3087-A3B8-DBD475E17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939" y="3656877"/>
                <a:ext cx="479714" cy="396712"/>
              </a:xfrm>
              <a:prstGeom prst="rect">
                <a:avLst/>
              </a:prstGeom>
              <a:blipFill>
                <a:blip r:embed="rId5"/>
                <a:stretch>
                  <a:fillRect r="-32051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D0D0F6-2B86-EE88-F9FB-D2BD22769176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6667501" y="2412907"/>
            <a:ext cx="67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695432-F737-EEA7-99D9-0F00AD945E86}"/>
              </a:ext>
            </a:extLst>
          </p:cNvPr>
          <p:cNvCxnSpPr>
            <a:cxnSpLocks/>
          </p:cNvCxnSpPr>
          <p:nvPr/>
        </p:nvCxnSpPr>
        <p:spPr>
          <a:xfrm flipV="1">
            <a:off x="6562722" y="3855233"/>
            <a:ext cx="776719" cy="2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F6E8238-2618-5A75-82B3-5767E7DB0A6E}"/>
                  </a:ext>
                </a:extLst>
              </p:cNvPr>
              <p:cNvSpPr txBox="1"/>
              <p:nvPr/>
            </p:nvSpPr>
            <p:spPr>
              <a:xfrm>
                <a:off x="6646288" y="1982995"/>
                <a:ext cx="710046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2259A6-C539-8E55-F279-CFC343C30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288" y="1982995"/>
                <a:ext cx="710046" cy="3931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43FDCF-4E78-193B-19D9-A5FBE2646EDF}"/>
                  </a:ext>
                </a:extLst>
              </p:cNvPr>
              <p:cNvSpPr txBox="1"/>
              <p:nvPr/>
            </p:nvSpPr>
            <p:spPr>
              <a:xfrm>
                <a:off x="6707338" y="3381999"/>
                <a:ext cx="551392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39CA96-D46A-2E5C-1CEE-851644450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338" y="3381999"/>
                <a:ext cx="551392" cy="393121"/>
              </a:xfrm>
              <a:prstGeom prst="rect">
                <a:avLst/>
              </a:prstGeom>
              <a:blipFill>
                <a:blip r:embed="rId7"/>
                <a:stretch>
                  <a:fillRect r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49EA15E2-1F5D-EAF5-846F-EE66A943B313}"/>
              </a:ext>
            </a:extLst>
          </p:cNvPr>
          <p:cNvSpPr/>
          <p:nvPr/>
        </p:nvSpPr>
        <p:spPr>
          <a:xfrm>
            <a:off x="8960431" y="2904090"/>
            <a:ext cx="1381989" cy="44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24837-03DA-3FD6-CC21-52035A9CBEF4}"/>
                  </a:ext>
                </a:extLst>
              </p:cNvPr>
              <p:cNvSpPr txBox="1"/>
              <p:nvPr/>
            </p:nvSpPr>
            <p:spPr>
              <a:xfrm>
                <a:off x="7335121" y="2214551"/>
                <a:ext cx="582569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CA66E5-68DF-B7F3-0561-4004C545C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121" y="2214551"/>
                <a:ext cx="582569" cy="393121"/>
              </a:xfrm>
              <a:prstGeom prst="rect">
                <a:avLst/>
              </a:prstGeom>
              <a:blipFill>
                <a:blip r:embed="rId8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EC1CC6-0193-D5C9-004D-30DA2D75AB7B}"/>
                  </a:ext>
                </a:extLst>
              </p:cNvPr>
              <p:cNvSpPr txBox="1"/>
              <p:nvPr/>
            </p:nvSpPr>
            <p:spPr>
              <a:xfrm>
                <a:off x="7386548" y="3676515"/>
                <a:ext cx="479714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310AC97-4354-877E-F743-4C0F6C5D0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6548" y="3676515"/>
                <a:ext cx="479714" cy="393121"/>
              </a:xfrm>
              <a:prstGeom prst="rect">
                <a:avLst/>
              </a:prstGeom>
              <a:blipFill>
                <a:blip r:embed="rId9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146416-D418-6D60-C99D-24E937C4FF6B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10342420" y="3127495"/>
            <a:ext cx="1644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D844144-20CC-AAB5-99E3-CC5365C3E84A}"/>
                  </a:ext>
                </a:extLst>
              </p:cNvPr>
              <p:cNvSpPr txBox="1"/>
              <p:nvPr/>
            </p:nvSpPr>
            <p:spPr>
              <a:xfrm>
                <a:off x="10435032" y="2796892"/>
                <a:ext cx="15124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D8E2EBF-FADD-782C-2178-F5290C892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032" y="2796892"/>
                <a:ext cx="1512465" cy="276999"/>
              </a:xfrm>
              <a:prstGeom prst="rect">
                <a:avLst/>
              </a:prstGeom>
              <a:blipFill>
                <a:blip r:embed="rId10"/>
                <a:stretch>
                  <a:fillRect l="-3629" t="-4444" r="-806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43714EF-604F-7843-4B91-B9AAAC5FB40C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939714" y="2409670"/>
            <a:ext cx="1223105" cy="559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7FB936-F6D3-90F0-6977-1105F2FC10CD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7834935" y="3285465"/>
            <a:ext cx="1327884" cy="569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C40FBEA-7019-C212-71AF-103FB03DC72A}"/>
                  </a:ext>
                </a:extLst>
              </p:cNvPr>
              <p:cNvSpPr txBox="1"/>
              <p:nvPr/>
            </p:nvSpPr>
            <p:spPr>
              <a:xfrm>
                <a:off x="8005524" y="2179555"/>
                <a:ext cx="7100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41D7A05-1D43-7601-1DD0-CA42EA1E4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524" y="2179555"/>
                <a:ext cx="71004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BDDE9F4-569B-EA81-BA8B-E127645AD703}"/>
                  </a:ext>
                </a:extLst>
              </p:cNvPr>
              <p:cNvSpPr txBox="1"/>
              <p:nvPr/>
            </p:nvSpPr>
            <p:spPr>
              <a:xfrm>
                <a:off x="8180366" y="3534044"/>
                <a:ext cx="5513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0AB07E7-ED2F-6497-7FA4-19D4422F7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366" y="3534044"/>
                <a:ext cx="55139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F405A22-E683-DEF7-1138-04CD277FFE28}"/>
                  </a:ext>
                </a:extLst>
              </p:cNvPr>
              <p:cNvSpPr txBox="1"/>
              <p:nvPr/>
            </p:nvSpPr>
            <p:spPr>
              <a:xfrm>
                <a:off x="1009222" y="2203041"/>
                <a:ext cx="710046" cy="452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𝐾𝑆</m:t>
                              </m:r>
                            </m:e>
                            <m:sub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sub>
                          </m:sSub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A4A31B7-2839-04EB-0889-57EF621ED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222" y="2203041"/>
                <a:ext cx="710046" cy="452945"/>
              </a:xfrm>
              <a:prstGeom prst="rect">
                <a:avLst/>
              </a:prstGeom>
              <a:blipFill>
                <a:blip r:embed="rId13"/>
                <a:stretch>
                  <a:fillRect r="-9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CABFA81-0BA6-C086-5572-79DCB3DB0C47}"/>
                  </a:ext>
                </a:extLst>
              </p:cNvPr>
              <p:cNvSpPr txBox="1"/>
              <p:nvPr/>
            </p:nvSpPr>
            <p:spPr>
              <a:xfrm>
                <a:off x="986708" y="3676551"/>
                <a:ext cx="772399" cy="453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𝐾𝑆</m:t>
                              </m:r>
                            </m:e>
                            <m: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sub>
                          </m:sSub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43C8812-8A47-21AB-0F31-0A8E75507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08" y="3676551"/>
                <a:ext cx="772399" cy="45365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751AA1-F9E8-701D-56FB-8A06AE52FCD5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1719268" y="2429514"/>
            <a:ext cx="682046" cy="3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598959F-1DA3-FA8A-2AFA-D9805241155E}"/>
              </a:ext>
            </a:extLst>
          </p:cNvPr>
          <p:cNvCxnSpPr>
            <a:cxnSpLocks/>
          </p:cNvCxnSpPr>
          <p:nvPr/>
        </p:nvCxnSpPr>
        <p:spPr>
          <a:xfrm flipV="1">
            <a:off x="1614492" y="3874907"/>
            <a:ext cx="776719" cy="2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BA928F-E397-162F-135A-B26F3626A4F5}"/>
                  </a:ext>
                </a:extLst>
              </p:cNvPr>
              <p:cNvSpPr txBox="1"/>
              <p:nvPr/>
            </p:nvSpPr>
            <p:spPr>
              <a:xfrm>
                <a:off x="1669244" y="1958875"/>
                <a:ext cx="710046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381E5C4-5323-1C83-7B2D-4EEB366C2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244" y="1958875"/>
                <a:ext cx="710046" cy="3931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AFD0BC8-EC36-BF4D-C665-9E70808F7A60}"/>
                  </a:ext>
                </a:extLst>
              </p:cNvPr>
              <p:cNvSpPr txBox="1"/>
              <p:nvPr/>
            </p:nvSpPr>
            <p:spPr>
              <a:xfrm>
                <a:off x="1759108" y="3401673"/>
                <a:ext cx="551392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2F3AA2E-1F52-DF24-06D2-E89045AB5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108" y="3401673"/>
                <a:ext cx="551392" cy="39312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3347141-1238-5867-9CDA-0A0A3FA9FF16}"/>
              </a:ext>
            </a:extLst>
          </p:cNvPr>
          <p:cNvCxnSpPr/>
          <p:nvPr/>
        </p:nvCxnSpPr>
        <p:spPr>
          <a:xfrm flipV="1">
            <a:off x="3022656" y="2421435"/>
            <a:ext cx="775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A9E1204-3F44-0DDF-F807-D0E90FCAF33A}"/>
              </a:ext>
            </a:extLst>
          </p:cNvPr>
          <p:cNvCxnSpPr/>
          <p:nvPr/>
        </p:nvCxnSpPr>
        <p:spPr>
          <a:xfrm flipV="1">
            <a:off x="3022656" y="3863761"/>
            <a:ext cx="775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FC1C9A0-D2D9-4A24-8E79-AC0219F08FDD}"/>
                  </a:ext>
                </a:extLst>
              </p:cNvPr>
              <p:cNvSpPr txBox="1"/>
              <p:nvPr/>
            </p:nvSpPr>
            <p:spPr>
              <a:xfrm>
                <a:off x="3170727" y="2061905"/>
                <a:ext cx="479713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𝑎𝑔𝑔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86E6A0B-61C6-A3D0-910C-C172FDED5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727" y="2061905"/>
                <a:ext cx="479713" cy="391902"/>
              </a:xfrm>
              <a:prstGeom prst="rect">
                <a:avLst/>
              </a:prstGeom>
              <a:blipFill>
                <a:blip r:embed="rId17"/>
                <a:stretch>
                  <a:fillRect r="-31646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D43A06-1588-1407-F415-0834D6425062}"/>
                  </a:ext>
                </a:extLst>
              </p:cNvPr>
              <p:cNvSpPr txBox="1"/>
              <p:nvPr/>
            </p:nvSpPr>
            <p:spPr>
              <a:xfrm>
                <a:off x="3170726" y="3506853"/>
                <a:ext cx="479713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𝑎𝑔𝑔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D2875BE-36EF-E3BC-7AA6-690590282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726" y="3506853"/>
                <a:ext cx="479713" cy="391902"/>
              </a:xfrm>
              <a:prstGeom prst="rect">
                <a:avLst/>
              </a:prstGeom>
              <a:blipFill>
                <a:blip r:embed="rId18"/>
                <a:stretch>
                  <a:fillRect r="-31646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39949A4-9BF3-F10F-4B10-B96DB010AF24}"/>
                  </a:ext>
                </a:extLst>
              </p:cNvPr>
              <p:cNvSpPr txBox="1"/>
              <p:nvPr/>
            </p:nvSpPr>
            <p:spPr>
              <a:xfrm>
                <a:off x="2400214" y="2208075"/>
                <a:ext cx="710046" cy="396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BEEF99E-8EFA-1425-F094-D53309054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214" y="2208075"/>
                <a:ext cx="710046" cy="396712"/>
              </a:xfrm>
              <a:prstGeom prst="rect">
                <a:avLst/>
              </a:prstGeom>
              <a:blipFill>
                <a:blip r:embed="rId19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B0795B-BFAB-880E-D5D4-078D05B797A2}"/>
                  </a:ext>
                </a:extLst>
              </p:cNvPr>
              <p:cNvSpPr txBox="1"/>
              <p:nvPr/>
            </p:nvSpPr>
            <p:spPr>
              <a:xfrm>
                <a:off x="2377698" y="3650401"/>
                <a:ext cx="479714" cy="396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19E8480-FE9D-B2E2-7172-92C191886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698" y="3650401"/>
                <a:ext cx="479714" cy="396712"/>
              </a:xfrm>
              <a:prstGeom prst="rect">
                <a:avLst/>
              </a:prstGeom>
              <a:blipFill>
                <a:blip r:embed="rId20"/>
                <a:stretch>
                  <a:fillRect r="-30380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62F74BE-E908-18FC-C2DD-4AA015E24160}"/>
              </a:ext>
            </a:extLst>
          </p:cNvPr>
          <p:cNvCxnSpPr>
            <a:cxnSpLocks/>
          </p:cNvCxnSpPr>
          <p:nvPr/>
        </p:nvCxnSpPr>
        <p:spPr>
          <a:xfrm>
            <a:off x="11986608" y="3127494"/>
            <a:ext cx="0" cy="182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FB12985-6F5B-3875-1439-2AECDC9B9F69}"/>
              </a:ext>
            </a:extLst>
          </p:cNvPr>
          <p:cNvCxnSpPr/>
          <p:nvPr/>
        </p:nvCxnSpPr>
        <p:spPr>
          <a:xfrm flipH="1">
            <a:off x="758536" y="4956464"/>
            <a:ext cx="1122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CB56BDF-D219-7D87-0B14-6CC40F625E05}"/>
              </a:ext>
            </a:extLst>
          </p:cNvPr>
          <p:cNvCxnSpPr>
            <a:endCxn id="41" idx="1"/>
          </p:cNvCxnSpPr>
          <p:nvPr/>
        </p:nvCxnSpPr>
        <p:spPr>
          <a:xfrm rot="5400000" flipH="1" flipV="1">
            <a:off x="-379596" y="3567646"/>
            <a:ext cx="2526950" cy="2506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5F2E3E2-0D7B-8F40-144A-335F49FA4671}"/>
              </a:ext>
            </a:extLst>
          </p:cNvPr>
          <p:cNvCxnSpPr>
            <a:endCxn id="42" idx="1"/>
          </p:cNvCxnSpPr>
          <p:nvPr/>
        </p:nvCxnSpPr>
        <p:spPr>
          <a:xfrm>
            <a:off x="758536" y="3898755"/>
            <a:ext cx="228172" cy="4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93B61E1-E640-4E2D-C487-2CE635BD145D}"/>
                  </a:ext>
                </a:extLst>
              </p:cNvPr>
              <p:cNvSpPr txBox="1"/>
              <p:nvPr/>
            </p:nvSpPr>
            <p:spPr>
              <a:xfrm>
                <a:off x="2728938" y="2567556"/>
                <a:ext cx="420327" cy="795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40B71D0-C470-E727-C7F0-534042510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938" y="2567556"/>
                <a:ext cx="420327" cy="79560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E17B9F1-EA06-D432-BFFB-F179BC42F292}"/>
                  </a:ext>
                </a:extLst>
              </p:cNvPr>
              <p:cNvSpPr txBox="1"/>
              <p:nvPr/>
            </p:nvSpPr>
            <p:spPr>
              <a:xfrm>
                <a:off x="2728937" y="3974626"/>
                <a:ext cx="420327" cy="795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12D5516-416A-A755-475C-EDF657EBC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937" y="3974626"/>
                <a:ext cx="420327" cy="79560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958FC3A-E96B-6CC1-1005-2C2A9603EF70}"/>
              </a:ext>
            </a:extLst>
          </p:cNvPr>
          <p:cNvSpPr txBox="1"/>
          <p:nvPr/>
        </p:nvSpPr>
        <p:spPr>
          <a:xfrm>
            <a:off x="2857412" y="5160823"/>
            <a:ext cx="6861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Compromising one key won’t affect the whole network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one client is missing, the network continue to work normally </a:t>
            </a:r>
          </a:p>
        </p:txBody>
      </p:sp>
    </p:spTree>
    <p:extLst>
      <p:ext uri="{BB962C8B-B14F-4D97-AF65-F5344CB8AC3E}">
        <p14:creationId xmlns:p14="http://schemas.microsoft.com/office/powerpoint/2010/main" val="2635320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CF31-3D02-91F6-BE62-3A726CFC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53E3-E28F-2156-E9AF-645DDC17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 DF-KS scheme (issue)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1F8A7-911F-57BF-8129-F14CC120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A08DB-20B0-7A22-C050-5AD98E258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DA2FC-12EC-A074-533E-A1D909A7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20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323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F8CB7-1187-2B19-957B-4228CEE3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65DCD-C9F3-A7DA-CAD2-39A097CD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9. Conclusion (summary)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2B0E3-7A23-0387-01CC-4E0B03DCB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24DB-4F1D-F57F-CDFC-0D8CCC25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2F43C-0107-7827-63A7-CDE0A181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21</a:t>
            </a:fld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457BA2-7511-9E2C-08B1-D37B5AFFF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192651"/>
              </p:ext>
            </p:extLst>
          </p:nvPr>
        </p:nvGraphicFramePr>
        <p:xfrm>
          <a:off x="1630795" y="2226348"/>
          <a:ext cx="893040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382">
                  <a:extLst>
                    <a:ext uri="{9D8B030D-6E8A-4147-A177-3AD203B41FA5}">
                      <a16:colId xmlns:a16="http://schemas.microsoft.com/office/drawing/2014/main" val="2385199005"/>
                    </a:ext>
                  </a:extLst>
                </a:gridCol>
                <a:gridCol w="3480954">
                  <a:extLst>
                    <a:ext uri="{9D8B030D-6E8A-4147-A177-3AD203B41FA5}">
                      <a16:colId xmlns:a16="http://schemas.microsoft.com/office/drawing/2014/main" val="813551274"/>
                    </a:ext>
                  </a:extLst>
                </a:gridCol>
                <a:gridCol w="3803073">
                  <a:extLst>
                    <a:ext uri="{9D8B030D-6E8A-4147-A177-3AD203B41FA5}">
                      <a16:colId xmlns:a16="http://schemas.microsoft.com/office/drawing/2014/main" val="312601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916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xMK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.Decryption on server side only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.Decryption is not possible if one client is missing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.Immune to plaintext/ciphertext couple attack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41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DF-KS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.Vulnerable to plaintext/ciphertext couple attack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.Decryption happens on client side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.If one client goes missing decryption remains 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6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22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88463-8DCC-D1CE-4BD4-24B3ADA64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C93F0-76C8-8EAB-37F5-9C8FB70EC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9. Conclusion (Future works)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8748F-6278-7148-FB4C-812BDB978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B3F0B-13C6-C433-38A5-6B514F26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1ABE-7160-FD87-C302-F134EAE3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22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6E22C6-1811-5CE2-9D9B-C3D5B3E9B2A6}"/>
              </a:ext>
            </a:extLst>
          </p:cNvPr>
          <p:cNvSpPr/>
          <p:nvPr/>
        </p:nvSpPr>
        <p:spPr>
          <a:xfrm>
            <a:off x="1228618" y="3893103"/>
            <a:ext cx="6425630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and implement CKKS with KS scheme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0FFFCA-5A7F-B66A-A070-5190AE22D9DA}"/>
              </a:ext>
            </a:extLst>
          </p:cNvPr>
          <p:cNvSpPr/>
          <p:nvPr/>
        </p:nvSpPr>
        <p:spPr>
          <a:xfrm>
            <a:off x="1228618" y="2417210"/>
            <a:ext cx="6425630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dataset with a neural network model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D0CA11-25F8-76F8-2CF1-061AC969E6EC}"/>
              </a:ext>
            </a:extLst>
          </p:cNvPr>
          <p:cNvCxnSpPr>
            <a:stCxn id="9" idx="3"/>
          </p:cNvCxnSpPr>
          <p:nvPr/>
        </p:nvCxnSpPr>
        <p:spPr>
          <a:xfrm flipV="1">
            <a:off x="7654248" y="2599772"/>
            <a:ext cx="4991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88B034-3A08-9C0C-9C68-F5809D87FB97}"/>
              </a:ext>
            </a:extLst>
          </p:cNvPr>
          <p:cNvCxnSpPr>
            <a:stCxn id="8" idx="3"/>
          </p:cNvCxnSpPr>
          <p:nvPr/>
        </p:nvCxnSpPr>
        <p:spPr>
          <a:xfrm flipV="1">
            <a:off x="7654248" y="4075665"/>
            <a:ext cx="4991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28A72AC-4E7B-6593-536F-6190ACDD36EC}"/>
              </a:ext>
            </a:extLst>
          </p:cNvPr>
          <p:cNvSpPr txBox="1"/>
          <p:nvPr/>
        </p:nvSpPr>
        <p:spPr>
          <a:xfrm>
            <a:off x="8280971" y="2138107"/>
            <a:ext cx="1839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logistic regression with PIMA dataset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DBBE94-8894-D0B3-F3BC-01762469D735}"/>
              </a:ext>
            </a:extLst>
          </p:cNvPr>
          <p:cNvSpPr txBox="1"/>
          <p:nvPr/>
        </p:nvSpPr>
        <p:spPr>
          <a:xfrm>
            <a:off x="8280971" y="3752499"/>
            <a:ext cx="1839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DF-KS scheme</a:t>
            </a:r>
          </a:p>
        </p:txBody>
      </p:sp>
    </p:spTree>
    <p:extLst>
      <p:ext uri="{BB962C8B-B14F-4D97-AF65-F5344CB8AC3E}">
        <p14:creationId xmlns:p14="http://schemas.microsoft.com/office/powerpoint/2010/main" val="2874820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0CD0-553C-58B0-4194-9A11F6865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B355-A2AD-B402-0F0E-836926DC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673" y="2339398"/>
            <a:ext cx="4928754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073AD-0C2A-BEC9-2FD4-A90F7EDE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z="1600" smtClean="0">
                <a:solidFill>
                  <a:schemeClr val="tx1"/>
                </a:solidFill>
              </a:rPr>
              <a:t>11/23/2025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07A54-8739-FB4A-A6EE-01059CE9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Key switchable HE for FL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84BB7-F6EB-38F7-B820-1F6E1A7A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z="1400" smtClean="0">
                <a:solidFill>
                  <a:schemeClr val="tx1"/>
                </a:solidFill>
              </a:rPr>
              <a:t>23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10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1322</TotalTime>
  <Words>1285</Words>
  <Application>Microsoft Office PowerPoint</Application>
  <PresentationFormat>Widescreen</PresentationFormat>
  <Paragraphs>313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Cambria Math</vt:lpstr>
      <vt:lpstr>Times New Roman</vt:lpstr>
      <vt:lpstr>Office 2013 - 2022 Theme</vt:lpstr>
      <vt:lpstr>Strengthening Privacy in Federated Learning via Key-Switchable Homomorphic Encryption</vt:lpstr>
      <vt:lpstr>Content</vt:lpstr>
      <vt:lpstr>1. HE overview</vt:lpstr>
      <vt:lpstr>2. FL overview</vt:lpstr>
      <vt:lpstr>2. FL Setup</vt:lpstr>
      <vt:lpstr>3. Encrypted Model Aggregation Workflow</vt:lpstr>
      <vt:lpstr>4. HE importance in FL</vt:lpstr>
      <vt:lpstr>5. Compliance with laws and standards</vt:lpstr>
      <vt:lpstr>6. Security Risks</vt:lpstr>
      <vt:lpstr>6. Security risks (Solutions design)</vt:lpstr>
      <vt:lpstr>7. xMK CKKS (overview) </vt:lpstr>
      <vt:lpstr>7. xMK CKKS (setup)</vt:lpstr>
      <vt:lpstr>7. xMK CKKS  (public keys aggregation)</vt:lpstr>
      <vt:lpstr>7. xMK CKKS (collaborative decryption)</vt:lpstr>
      <vt:lpstr>8. xMK CKKS (network)</vt:lpstr>
      <vt:lpstr>7. xMK CKKS (problematics) </vt:lpstr>
      <vt:lpstr>8. DF-KS scheme (DF)</vt:lpstr>
      <vt:lpstr>8. DF-KS scheme (KS)</vt:lpstr>
      <vt:lpstr>8. DF-KS scheme (network)</vt:lpstr>
      <vt:lpstr>8. DF-KS scheme (issue)</vt:lpstr>
      <vt:lpstr>9. Conclusion (summary)</vt:lpstr>
      <vt:lpstr>9. Conclusion (Future works)</vt:lpstr>
      <vt:lpstr>Thank you  QA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Strengthening Privacy in Federated Learning via Key-Switchable Homomorphic Encryption</dc:title>
  <dc:creator>Mohamad Ibrahim</dc:creator>
  <cp:lastModifiedBy>Mohamad Ibrahim</cp:lastModifiedBy>
  <cp:revision>66</cp:revision>
  <dcterms:created xsi:type="dcterms:W3CDTF">2025-11-17T08:12:27Z</dcterms:created>
  <dcterms:modified xsi:type="dcterms:W3CDTF">2025-11-23T19:45:29Z</dcterms:modified>
</cp:coreProperties>
</file>