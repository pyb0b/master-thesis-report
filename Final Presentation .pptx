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456" r:id="rId2"/>
    <p:sldId id="455" r:id="rId3"/>
    <p:sldId id="430" r:id="rId4"/>
    <p:sldId id="432" r:id="rId5"/>
    <p:sldId id="458" r:id="rId6"/>
    <p:sldId id="457" r:id="rId7"/>
    <p:sldId id="460" r:id="rId8"/>
    <p:sldId id="459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86" r:id="rId18"/>
    <p:sldId id="470" r:id="rId19"/>
    <p:sldId id="471" r:id="rId20"/>
    <p:sldId id="472" r:id="rId21"/>
    <p:sldId id="473" r:id="rId22"/>
    <p:sldId id="474" r:id="rId23"/>
    <p:sldId id="488" r:id="rId24"/>
    <p:sldId id="475" r:id="rId25"/>
    <p:sldId id="476" r:id="rId26"/>
    <p:sldId id="477" r:id="rId27"/>
    <p:sldId id="478" r:id="rId28"/>
    <p:sldId id="479" r:id="rId29"/>
    <p:sldId id="480" r:id="rId30"/>
    <p:sldId id="481" r:id="rId31"/>
    <p:sldId id="482" r:id="rId32"/>
    <p:sldId id="489" r:id="rId33"/>
    <p:sldId id="483" r:id="rId34"/>
    <p:sldId id="484" r:id="rId35"/>
    <p:sldId id="48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AB1D38"/>
    <a:srgbClr val="212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6335" autoAdjust="0"/>
  </p:normalViewPr>
  <p:slideViewPr>
    <p:cSldViewPr snapToGrid="0">
      <p:cViewPr varScale="1">
        <p:scale>
          <a:sx n="106" d="100"/>
          <a:sy n="106" d="100"/>
        </p:scale>
        <p:origin x="4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A33B5-1111-431E-95E6-1CD0EC93978C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47BB2-36F8-44AE-B524-EA39334F6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0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253F-B37C-00DE-0240-77C06BF6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F1B5C-1506-2E98-57A9-4153B5923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4247-E7B3-7038-EEE4-B218CD2A4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CAFBD-B798-BEB3-02D4-86B71466F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50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3C4B-88FF-F18A-9E5B-EC513F05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5AFE3-79A7-04FE-E548-D28400F7C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077BA-7435-5B9F-4434-576EC0A98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0E884-6130-0F5E-DAF0-43B4B31E4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4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09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9A6D-044E-B85B-A43E-754600D3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76077-4728-342C-D268-4D7E954F1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C033A-FC76-7F96-A210-499F47B0B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80D93-792A-127F-B262-D42B95174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9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8D88-3C7E-55C5-F582-C51325A9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04746-A1FD-726E-7C54-679B27B3C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6ED8-132F-CAF1-062C-3D80B0B6B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A9192-EB04-27F1-D98D-4966FB1F5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2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D826-5741-2B09-B5B3-CF17A23B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1CF50-C323-F02D-0914-E9A23B770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BD212-9455-DCB8-3673-F170E817C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00BF9-2CC3-DC06-CF8D-129F633D4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03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66711-398D-5493-0653-B91CF5A9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37FB5-54B4-14BE-D2EA-A81BAB58A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5AFBE-E0CD-82F7-1BE4-1F819D000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EE280-7526-C7F8-16BF-55C7ACD95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68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B2AE-3721-DC50-51B3-07DDBCA1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3BA2B-7493-3938-E2D2-67977BBDD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2D6B-0F8F-FCB6-C3B0-BBB38AC7E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E4BDE-3DB0-1650-990F-D7F5C8EC7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3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370F-3891-60B6-AE7E-81B79BA3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0DFFE-C350-4A91-DFF4-050C5DDE3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6C3E2-090B-7489-0275-96E60692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8076-F23C-78F0-2EC3-D2BAC7E26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8287-5FCA-B18C-D496-26E8E651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D4C77-3C58-2C22-C05E-87DCBF8C5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78DD-FE2A-8CA4-226E-1AF37B57C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99904-3BE1-F8E2-D9D7-D5EF7AB74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25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C2F2-15D0-446A-1FEF-07440D9F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BA203-C5CC-E2E3-60A7-2382CAEF3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28D25-9AF9-57BB-580D-3FEAEDE42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A4C79-A17A-9A55-86BC-7094A0B45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3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FA20-8629-D6EA-D132-E8EDB848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5A445-7D70-EB9B-AFBC-AF6BF9C5F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F7142-8F6C-7D72-14B3-8D32418A3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57E3-0EF8-64E7-BE02-B4D9780D7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19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55A0-E690-2661-56D4-219E8C96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5ADB7-1AA9-953F-5FF6-0A98DD1D3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A448A-A69B-B7CA-D9EB-8254D6801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65CD4-65AB-0C98-2DE5-D870F68DC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12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6F741-7C70-D283-3F46-C182CC70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5297C-748A-CBE5-4653-57FD6D172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6BC23-B1E4-050D-ACF5-B00DF8E91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DB55E-8439-04F9-D794-3088C965B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3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0016-836D-F5D6-7C75-D0F8E099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20144-1382-29EE-76B0-C4147064B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1CEEA-A138-72BC-35BA-642344EC4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3034D-233D-638C-932C-7B1A85E58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45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6225-9ED4-9F9B-35D3-4FDCF383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E2DCE-FAA4-0B3B-311C-B78557C29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B002C-E1C7-E256-2601-8D455EFFE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E4C4-443D-943B-7F2E-32D1AC9BD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6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737D-059C-2674-83BF-E09F5F3C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67C1A-B656-000C-905D-E782DD7CF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D59CA-15A1-4A6B-E850-013AD26B6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D7749-1290-BCED-4550-84AD7D0A8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20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DA39-7FD7-3E02-7798-987784F2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EA266-458E-AAD0-B2B8-F4F2DCB52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C7DFA-4150-E801-4C2D-E59E2B75F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2BC61-E2B1-2304-CE7B-1E63E495B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69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473E-7CB8-BA52-61F3-16DA4585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0D4CB-1CAD-66C3-F859-F7D499E1C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8C69B-D1EF-4A05-7718-AFEEE9765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395C-610A-F856-4D57-D65D1E013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90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2208-E546-CE51-95DB-6ED90718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4076D-9F5B-B7A6-0642-D1C324AD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4EB3D-498C-94F8-1A35-637177F31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5EB6D-46BC-33E8-4D40-7F3339D4C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87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FAE0-66FB-7DB0-BC8D-7A83251B3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FC65-CB60-EADE-8AEF-2336329D1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B0930-F967-8FE8-AFDC-09A5C44F4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DD75E-1738-B4F9-7934-640092226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16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F934-1A34-DCA2-DED2-59289DDF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2E04F-6ADF-2B4E-98C3-F0BF8102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C2062-820B-117C-1CCE-FCC8EF5E7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4FE47-242E-6B19-0F08-C5A43A11A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74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D0B4-9C5B-BF12-8990-7C0854B4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F00D8-7BAA-F715-241D-AA05420DD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A0F48-19AB-24B2-86B0-994FA1ED4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53D62-2182-8FF2-B257-FBBA38387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84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1F40-9144-EE2A-7642-E52F6427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9349F-55D9-C398-0F13-A075A3C43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D3D40-5F3E-9F9A-4D2E-20B766EB0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63EDA-FB2E-D4B9-778E-EFC573399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1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E0D4-84BD-C7B6-407F-F04F264F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7237B-2265-EE4D-9575-0D62EE7D9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CC66F-3EE1-8BED-8309-D7980005B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989C4-484F-BCD8-1660-6D5F0AC62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189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BBE1-E4F5-4744-0BF9-F212CC06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B7896-1797-3880-FACE-3F88DF35B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42C13-FC04-CAFF-330A-7D601F833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9E17E-A60D-6BB1-2261-E0178807D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8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B2BE1-4D1A-BF3B-F558-ED82476F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DB9EA-DB7F-0480-5C72-E38C2BB17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C2F86-2433-5522-0A8D-6363A7E9C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D00C1-E024-BB96-1C28-DF56BF9B3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91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90CD-90D5-A610-AB25-E2444077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8A8B1-04C1-9D97-ECC6-F5E398439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21F49-693E-6310-C043-78658B6E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85BC5-6FFC-6D0A-0AEB-11A9729E5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18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D2D8F-E6E9-6D86-46CD-3CEC0202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A2929-FB2C-07FC-8AD6-67A3FEDFD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E7B35-295E-2CD1-9B86-BF7FAB214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63BE-4AA7-0E81-4716-611C3117B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41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40A68-A423-CDD8-792F-38C22E2F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88AC4-C142-DE6F-ABB8-6588CA4E8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53565-1040-FE06-9D6E-3B91F363C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7754A-BA73-AA93-34F0-EB8D86824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192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368C-B233-CB24-52CE-98CBCD73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27895-A08F-1EB6-204A-50E5EB58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12CB4-F400-9B6B-7DC4-26C04A4AF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52733-EFCA-F247-BBEA-C7179D85A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6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DB95-1B0B-02F2-5931-B5FB3B10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24FFC-5365-AB0C-B00B-96C9D5890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AE2D4-8DF0-DA53-6E0C-7F67A5CAE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71A84-E6B9-9CB5-852F-6CA355664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737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51CA-88D8-B7F1-ABC5-7A65C3CC1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2EF9E-E725-D19C-B4C4-8A5E2BCA8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3CA86-9CB4-6978-0E4E-02793B218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4427B-2532-D58C-F04E-517144A0E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647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3A72-C478-B9CF-BE52-968556AF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03D11-84AE-EC1A-6C9D-78B5F6A7B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F68F9-BAFC-2A94-CA5D-3D80A7AB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930CD-18C0-BA2C-705A-EC1142266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454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2B5F-0285-BCC9-E5F7-9B2931B3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B46FC-3BDF-CE74-7D20-C468478C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204F2-C539-4021-4BC3-7874A4921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D7017-07E5-AA0C-7477-21834697B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47BB2-36F8-44AE-B524-EA39334F6CA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B89D-57C3-4E72-B309-F3497A4DE701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A9AE-1E4E-4CF6-B35A-04249EFC3058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1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6D01-CC9E-46A0-BA2B-3BDD6F9E96A3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7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EC22-26CF-4980-836F-5A832F42D43A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7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2D8C-D7CA-4D24-840B-6108995923DC}" type="datetime1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4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69B9-81AF-4D6F-9B89-AD543E69A99F}" type="datetime1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8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97DA5-715C-472F-A49F-FFBCB32E9725}" type="datetime1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57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3C0-6A53-46B2-B924-0F90AACA1367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4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5CE9-64D9-4AF6-B2A8-CEAE19C2F2C6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2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2134-595F-452E-B7C5-AD73B8A84D48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4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F26DA-1DDA-4076-89A5-57BC415E51EE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E1BC6-1B75-4BF5-8267-724BE6A69557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Key switchable HE for FL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9E849-A344-4026-A8F6-1F4993DF7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0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1.png"/><Relationship Id="rId9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69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1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1.png"/><Relationship Id="rId9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png"/><Relationship Id="rId3" Type="http://schemas.openxmlformats.org/officeDocument/2006/relationships/image" Target="../media/image2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2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0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550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4" Type="http://schemas.openxmlformats.org/officeDocument/2006/relationships/image" Target="../media/image1.png"/><Relationship Id="rId9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5.png"/><Relationship Id="rId4" Type="http://schemas.openxmlformats.org/officeDocument/2006/relationships/image" Target="../media/image1.png"/><Relationship Id="rId9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5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8914-FF56-E2DB-AD15-BA961346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8DA89C5-0A67-09D0-84F8-F7FD6CC015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B85FB-6D68-B783-CC87-4D7A9A1ABE1B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48131-65D0-999F-3D0E-86B30C3CFC1F}"/>
              </a:ext>
            </a:extLst>
          </p:cNvPr>
          <p:cNvSpPr txBox="1"/>
          <p:nvPr/>
        </p:nvSpPr>
        <p:spPr>
          <a:xfrm>
            <a:off x="1442049" y="2613392"/>
            <a:ext cx="93079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kumimoji="0" lang="en-GB" sz="3600" b="1" i="0" u="none" strike="noStrike" kern="1200" cap="none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Strengthening Privacy </a:t>
            </a:r>
            <a:r>
              <a:rPr lang="en-GB" sz="36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</a:t>
            </a:r>
            <a:r>
              <a:rPr kumimoji="0" lang="en-GB" sz="3600" b="1" i="0" u="none" strike="noStrike" kern="1200" cap="none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 Federated Learning </a:t>
            </a:r>
            <a:r>
              <a:rPr lang="en-GB" sz="32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via Key-Switchable Homomorphic Encryption</a:t>
            </a:r>
            <a:r>
              <a:rPr lang="en-US" sz="32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12D6A"/>
              </a:solidFill>
              <a:effectLst/>
              <a:uLnTx/>
              <a:uFillTx/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C5C1FA-72AB-5EBE-AA5C-262038BA2490}"/>
              </a:ext>
            </a:extLst>
          </p:cNvPr>
          <p:cNvSpPr txBox="1"/>
          <p:nvPr/>
        </p:nvSpPr>
        <p:spPr>
          <a:xfrm>
            <a:off x="1995418" y="4838813"/>
            <a:ext cx="2211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Presented by: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Mohamad Ibrahim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72F36-20A8-32E9-695E-B579D489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8FAF7-20B8-5F28-35FE-F9F5430B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CFBB34B1-D946-BC85-EB95-259D606E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01009" cy="146568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3894E82-CD90-7324-9BB6-455AF8501763}"/>
              </a:ext>
            </a:extLst>
          </p:cNvPr>
          <p:cNvSpPr txBox="1"/>
          <p:nvPr/>
        </p:nvSpPr>
        <p:spPr>
          <a:xfrm>
            <a:off x="5245859" y="4838814"/>
            <a:ext cx="2008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D6A"/>
                </a:solidFill>
                <a:latin typeface="Lato Black" panose="020F0502020204030203"/>
                <a:ea typeface="Tahoma" panose="020B0604030504040204" pitchFamily="34" charset="0"/>
                <a:cs typeface="Tahoma" panose="020B0604030504040204" pitchFamily="34" charset="0"/>
              </a:rPr>
              <a:t>Supervised by:</a:t>
            </a:r>
            <a:br>
              <a:rPr lang="en-US" b="1" dirty="0">
                <a:solidFill>
                  <a:srgbClr val="33A0D1"/>
                </a:solidFill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sv-SE" dirty="0">
                <a:solidFill>
                  <a:srgbClr val="212D6A"/>
                </a:solidFill>
                <a:latin typeface="Lato Light" panose="020F0502020204030203"/>
                <a:ea typeface="Tahoma" panose="020B0604030504040204" pitchFamily="34" charset="0"/>
                <a:cs typeface="Tahoma" panose="020B0604030504040204" pitchFamily="34" charset="0"/>
              </a:rPr>
              <a:t>Dr. Khalil Haris</a:t>
            </a:r>
          </a:p>
          <a:p>
            <a:r>
              <a:rPr lang="sv-SE" dirty="0">
                <a:solidFill>
                  <a:srgbClr val="212D6A"/>
                </a:solidFill>
                <a:latin typeface="Lato Light" panose="020F0502020204030203"/>
                <a:ea typeface="Tahoma" panose="020B0604030504040204" pitchFamily="34" charset="0"/>
                <a:cs typeface="Tahoma" panose="020B0604030504040204" pitchFamily="34" charset="0"/>
              </a:rPr>
              <a:t>Dr. Chantal Hajjar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00B2288-D807-3FC4-73B3-AE33EC1F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919200-9A33-0BDC-808A-F104E0992131}"/>
              </a:ext>
            </a:extLst>
          </p:cNvPr>
          <p:cNvSpPr txBox="1"/>
          <p:nvPr/>
        </p:nvSpPr>
        <p:spPr>
          <a:xfrm>
            <a:off x="8293741" y="4838813"/>
            <a:ext cx="180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D6A"/>
                </a:solidFill>
                <a:latin typeface="Lato Black" panose="020F0502020204030203"/>
                <a:ea typeface="Tahoma" panose="020B0604030504040204" pitchFamily="34" charset="0"/>
                <a:cs typeface="Tahoma" panose="020B0604030504040204" pitchFamily="34" charset="0"/>
              </a:rPr>
              <a:t>Hosted by:</a:t>
            </a:r>
            <a:br>
              <a:rPr lang="en-US" b="1" dirty="0">
                <a:solidFill>
                  <a:srgbClr val="212D6A"/>
                </a:solidFill>
                <a:latin typeface="Lato Black" panose="020F0502020204030203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err="1">
                <a:solidFill>
                  <a:srgbClr val="212D6A"/>
                </a:solidFill>
                <a:latin typeface="Lato Light" panose="020F0502020204030203"/>
                <a:ea typeface="Tahoma" panose="020B0604030504040204" pitchFamily="34" charset="0"/>
                <a:cs typeface="Tahoma" panose="020B0604030504040204" pitchFamily="34" charset="0"/>
              </a:rPr>
              <a:t>CentraleSupélec</a:t>
            </a:r>
            <a:endParaRPr lang="sv-SE" dirty="0">
              <a:solidFill>
                <a:srgbClr val="212D6A"/>
              </a:solidFill>
              <a:latin typeface="Lato Light" panose="020F0502020204030203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811E409-A586-F06D-6EEE-1EDE457B7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710" y="117762"/>
            <a:ext cx="2598406" cy="134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65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1D36-3A4D-B187-5C1A-D583A5A9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ACE09D-8D91-EACD-0AE6-9C06106B9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CAA152-1B90-AD65-29D0-AE700EF8FC7A}"/>
              </a:ext>
            </a:extLst>
          </p:cNvPr>
          <p:cNvSpPr/>
          <p:nvPr/>
        </p:nvSpPr>
        <p:spPr>
          <a:xfrm>
            <a:off x="9260847" y="0"/>
            <a:ext cx="2931153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020C5-0973-6DB2-B70F-54C2B013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A25E6C-03F8-C63F-5687-74945B23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5379BEB-1042-B7EF-77DF-8B46E67B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28C40-AF69-6D7C-1EF9-CE6B93922E06}"/>
              </a:ext>
            </a:extLst>
          </p:cNvPr>
          <p:cNvSpPr/>
          <p:nvPr/>
        </p:nvSpPr>
        <p:spPr>
          <a:xfrm>
            <a:off x="3855493" y="742831"/>
            <a:ext cx="4481015" cy="162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Outline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1047A6-99F8-480E-3D16-20D6190A527E}"/>
              </a:ext>
            </a:extLst>
          </p:cNvPr>
          <p:cNvSpPr/>
          <p:nvPr/>
        </p:nvSpPr>
        <p:spPr>
          <a:xfrm>
            <a:off x="2810224" y="2147854"/>
            <a:ext cx="6571552" cy="3569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Homomorphic Encryption (HE): Overview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Data Privacy 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Federated Learning (FL): Overview 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HE Importance in FL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Security Risks &amp; Their Solution Designs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xMK CKKS: Overview, Setup, Network &amp; Problematic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DF-KS: Setup, Network &amp; Issues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Implementation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Results</a:t>
            </a:r>
          </a:p>
          <a:p>
            <a:pPr marL="514350" indent="-514350">
              <a:buClr>
                <a:srgbClr val="AB1D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Conclusion: Summary &amp; Future Works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3A0300-B9A2-6D98-8547-9A2EDA1DDE10}"/>
              </a:ext>
            </a:extLst>
          </p:cNvPr>
          <p:cNvCxnSpPr>
            <a:cxnSpLocks/>
          </p:cNvCxnSpPr>
          <p:nvPr/>
        </p:nvCxnSpPr>
        <p:spPr>
          <a:xfrm flipH="1">
            <a:off x="4962940" y="2063188"/>
            <a:ext cx="226612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, company name&#10;&#10;Description automatically generated">
            <a:extLst>
              <a:ext uri="{FF2B5EF4-FFF2-40B4-BE49-F238E27FC236}">
                <a16:creationId xmlns:a16="http://schemas.microsoft.com/office/drawing/2014/main" id="{D2BEDCFF-7B4A-39F1-EEB9-72083B808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15064" cy="905151"/>
          </a:xfrm>
          <a:prstGeom prst="rect">
            <a:avLst/>
          </a:prstGeom>
        </p:spPr>
      </p:pic>
      <p:pic>
        <p:nvPicPr>
          <p:cNvPr id="17" name="Picture 2" descr="undefined">
            <a:extLst>
              <a:ext uri="{FF2B5EF4-FFF2-40B4-BE49-F238E27FC236}">
                <a16:creationId xmlns:a16="http://schemas.microsoft.com/office/drawing/2014/main" id="{5F197DD4-1F74-39DF-640F-024BB028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49" y="143605"/>
            <a:ext cx="1510654" cy="78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426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A9E6-AD90-4B10-69E2-76269B68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972AF8-19C3-D5CA-A82A-694CA512C3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C3D33B-9385-8D54-64CB-C36BC7D4C26C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45767A6-B7C0-30E7-9563-97F2BAB3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E580FC5D-D78F-C6AB-A945-135024E0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B48D9A7B-48EB-6D28-ADD3-C915BD6F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880A77-634E-983F-D4DE-27D570C2B1A1}"/>
              </a:ext>
            </a:extLst>
          </p:cNvPr>
          <p:cNvSpPr/>
          <p:nvPr/>
        </p:nvSpPr>
        <p:spPr>
          <a:xfrm>
            <a:off x="2225118" y="819519"/>
            <a:ext cx="7741764" cy="162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Homomorphic Encryption Overview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017CCB-8196-5A5F-1AE5-65B1E36849B5}"/>
              </a:ext>
            </a:extLst>
          </p:cNvPr>
          <p:cNvCxnSpPr>
            <a:cxnSpLocks/>
          </p:cNvCxnSpPr>
          <p:nvPr/>
        </p:nvCxnSpPr>
        <p:spPr>
          <a:xfrm flipH="1">
            <a:off x="4500770" y="2449426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98D0EA-2A89-A519-F6E6-A39F96951E8B}"/>
              </a:ext>
            </a:extLst>
          </p:cNvPr>
          <p:cNvSpPr txBox="1"/>
          <p:nvPr/>
        </p:nvSpPr>
        <p:spPr>
          <a:xfrm>
            <a:off x="3405448" y="2455769"/>
            <a:ext cx="53811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HE</a:t>
            </a:r>
            <a:r>
              <a:rPr lang="en-US" sz="2400" b="1" dirty="0">
                <a:solidFill>
                  <a:srgbClr val="212D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a form of encryption that permits computation over encrypted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FC100B-ACBB-15B9-A780-CA33F02FABFF}"/>
                  </a:ext>
                </a:extLst>
              </p:cNvPr>
              <p:cNvSpPr txBox="1"/>
              <p:nvPr/>
            </p:nvSpPr>
            <p:spPr>
              <a:xfrm>
                <a:off x="3405448" y="3575785"/>
                <a:ext cx="5381105" cy="96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FC100B-ACBB-15B9-A780-CA33F02FA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448" y="3575785"/>
                <a:ext cx="5381105" cy="961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0BCDDE7-A7FA-1FFE-7AD5-28F21BD6B307}"/>
              </a:ext>
            </a:extLst>
          </p:cNvPr>
          <p:cNvSpPr txBox="1"/>
          <p:nvPr/>
        </p:nvSpPr>
        <p:spPr>
          <a:xfrm>
            <a:off x="2699727" y="4821220"/>
            <a:ext cx="67925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This type of encryption usually requires all ciphertexts from all clients to use the same key.</a:t>
            </a:r>
          </a:p>
        </p:txBody>
      </p: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B5A2D96F-17EE-E9C5-5F7A-E0B12E2FF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B8D9B87F-1F3B-5579-DF69-77E8D71B0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62B36CC-804B-AAE3-B09F-791DD01C9A25}"/>
              </a:ext>
            </a:extLst>
          </p:cNvPr>
          <p:cNvGrpSpPr/>
          <p:nvPr/>
        </p:nvGrpSpPr>
        <p:grpSpPr>
          <a:xfrm>
            <a:off x="5559870" y="7142274"/>
            <a:ext cx="4085010" cy="3888755"/>
            <a:chOff x="4184163" y="1140041"/>
            <a:chExt cx="4085010" cy="3888755"/>
          </a:xfrm>
        </p:grpSpPr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A6AF92B4-8948-BC20-2EEA-9CCDC2555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41335" y="1140041"/>
              <a:ext cx="696819" cy="696819"/>
            </a:xfrm>
            <a:prstGeom prst="rect">
              <a:avLst/>
            </a:prstGeom>
          </p:spPr>
        </p:pic>
        <p:pic>
          <p:nvPicPr>
            <p:cNvPr id="23" name="Graphic 22" descr="Server with solid fill">
              <a:extLst>
                <a:ext uri="{FF2B5EF4-FFF2-40B4-BE49-F238E27FC236}">
                  <a16:creationId xmlns:a16="http://schemas.microsoft.com/office/drawing/2014/main" id="{5C1DC77F-A05D-0A0C-7A68-28D55144F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7647" y="2680323"/>
              <a:ext cx="914400" cy="914400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CBE5DCB-C645-CAC3-E16B-6AB4BDF449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43397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BFF3FC-3049-86A4-7742-9B3A8925EA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15724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Y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435CEAF-D99E-5A94-0F42-9ECA9FE8F7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293284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1B6BAF-6AFF-6B23-CD2F-1493A41E5FF4}"/>
                </a:ext>
              </a:extLst>
            </p:cNvPr>
            <p:cNvSpPr/>
            <p:nvPr/>
          </p:nvSpPr>
          <p:spPr>
            <a:xfrm>
              <a:off x="5506912" y="1842029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D3D0C18-2A84-1827-ABBD-C5BD70467123}"/>
                </a:ext>
              </a:extLst>
            </p:cNvPr>
            <p:cNvSpPr/>
            <p:nvPr/>
          </p:nvSpPr>
          <p:spPr>
            <a:xfrm>
              <a:off x="6334750" y="2598412"/>
              <a:ext cx="966221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HE Add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987711-B4D0-15ED-6D07-BC24B4BA76C1}"/>
                </a:ext>
              </a:extLst>
            </p:cNvPr>
            <p:cNvSpPr/>
            <p:nvPr/>
          </p:nvSpPr>
          <p:spPr>
            <a:xfrm>
              <a:off x="6334750" y="3801755"/>
              <a:ext cx="966222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Decrypt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A0F282-C1B6-F323-879B-DF803B771D21}"/>
                </a:ext>
              </a:extLst>
            </p:cNvPr>
            <p:cNvSpPr txBox="1"/>
            <p:nvPr/>
          </p:nvSpPr>
          <p:spPr>
            <a:xfrm>
              <a:off x="4211741" y="1140041"/>
              <a:ext cx="11025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62D1B6-276B-ED34-DFE6-26E4EC865D96}"/>
                </a:ext>
              </a:extLst>
            </p:cNvPr>
            <p:cNvSpPr txBox="1"/>
            <p:nvPr/>
          </p:nvSpPr>
          <p:spPr>
            <a:xfrm>
              <a:off x="4184163" y="2604808"/>
              <a:ext cx="10702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Server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AA0282-6675-6BA1-1E02-55CBF7533A14}"/>
                </a:ext>
              </a:extLst>
            </p:cNvPr>
            <p:cNvSpPr txBox="1"/>
            <p:nvPr/>
          </p:nvSpPr>
          <p:spPr>
            <a:xfrm>
              <a:off x="4320195" y="3957912"/>
              <a:ext cx="93425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pic>
          <p:nvPicPr>
            <p:cNvPr id="33" name="Graphic 32" descr="Computer with solid fill">
              <a:extLst>
                <a:ext uri="{FF2B5EF4-FFF2-40B4-BE49-F238E27FC236}">
                  <a16:creationId xmlns:a16="http://schemas.microsoft.com/office/drawing/2014/main" id="{2ED3F704-C00F-F7F7-F50D-73D691A2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56581" y="1140041"/>
              <a:ext cx="696819" cy="696819"/>
            </a:xfrm>
            <a:prstGeom prst="rect">
              <a:avLst/>
            </a:prstGeom>
          </p:spPr>
        </p:pic>
        <p:pic>
          <p:nvPicPr>
            <p:cNvPr id="35" name="Graphic 34" descr="Computer with solid fill">
              <a:extLst>
                <a:ext uri="{FF2B5EF4-FFF2-40B4-BE49-F238E27FC236}">
                  <a16:creationId xmlns:a16="http://schemas.microsoft.com/office/drawing/2014/main" id="{A993EB51-D983-30C7-B03F-ED6DFC12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00341" y="4331977"/>
              <a:ext cx="696819" cy="696819"/>
            </a:xfrm>
            <a:prstGeom prst="rect">
              <a:avLst/>
            </a:prstGeom>
          </p:spPr>
        </p:pic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AF0030C-CF1B-7CF5-783F-81B4946DAC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436949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5D711D-5F3E-D819-F50D-ECFF4E0103FC}"/>
                </a:ext>
              </a:extLst>
            </p:cNvPr>
            <p:cNvSpPr/>
            <p:nvPr/>
          </p:nvSpPr>
          <p:spPr>
            <a:xfrm>
              <a:off x="7129858" y="1853553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47D7914-EA09-F110-7432-5BFC4460660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075005" y="1944336"/>
              <a:ext cx="463902" cy="827839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6B5988D-D029-9EC0-763C-04B5291C94EC}"/>
                </a:ext>
              </a:extLst>
            </p:cNvPr>
            <p:cNvCxnSpPr>
              <a:cxnSpLocks/>
              <a:stCxn id="29" idx="2"/>
              <a:endCxn id="37" idx="0"/>
            </p:cNvCxnSpPr>
            <p:nvPr/>
          </p:nvCxnSpPr>
          <p:spPr>
            <a:xfrm flipH="1">
              <a:off x="6817860" y="4094236"/>
              <a:ext cx="1" cy="275255"/>
            </a:xfrm>
            <a:prstGeom prst="straightConnector1">
              <a:avLst/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5880289E-B21E-AC75-F858-1C91FDB212A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74780" y="1966463"/>
              <a:ext cx="452378" cy="795107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C8421A1-9C8A-518C-9AFE-064AB32004D5}"/>
                </a:ext>
              </a:extLst>
            </p:cNvPr>
            <p:cNvCxnSpPr>
              <a:stCxn id="26" idx="4"/>
              <a:endCxn id="29" idx="0"/>
            </p:cNvCxnSpPr>
            <p:nvPr/>
          </p:nvCxnSpPr>
          <p:spPr>
            <a:xfrm>
              <a:off x="6817860" y="3554633"/>
              <a:ext cx="1" cy="247122"/>
            </a:xfrm>
            <a:prstGeom prst="line">
              <a:avLst/>
            </a:prstGeom>
            <a:ln w="12700">
              <a:solidFill>
                <a:srgbClr val="212D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7F2778-D5D4-0EB0-7CD9-5124DB7AC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421" y="2270107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CD12218-C85C-3EEC-D5D8-06DCB6D44D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0374" y="3678194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067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1324-F04E-31FC-11CB-416A0028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D6E58E-4841-62D2-8D76-CCC05BD8D4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4A6B6C-5994-1007-5468-0939FFEB3232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pic>
        <p:nvPicPr>
          <p:cNvPr id="11" name="Picture 2" descr="undefined">
            <a:extLst>
              <a:ext uri="{FF2B5EF4-FFF2-40B4-BE49-F238E27FC236}">
                <a16:creationId xmlns:a16="http://schemas.microsoft.com/office/drawing/2014/main" id="{9A3EE889-7C1C-3506-253F-AEE69B56A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394EF2-3A4E-FC2F-D855-20B164D084BA}"/>
              </a:ext>
            </a:extLst>
          </p:cNvPr>
          <p:cNvCxnSpPr>
            <a:cxnSpLocks/>
          </p:cNvCxnSpPr>
          <p:nvPr/>
        </p:nvCxnSpPr>
        <p:spPr>
          <a:xfrm flipH="1">
            <a:off x="4962940" y="1326300"/>
            <a:ext cx="226612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3DC587C8-EBC4-3033-BD30-54A4ABAEC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16548-09C1-AEA8-F0D5-C17965DA565E}"/>
                  </a:ext>
                </a:extLst>
              </p:cNvPr>
              <p:cNvSpPr txBox="1"/>
              <p:nvPr/>
            </p:nvSpPr>
            <p:spPr>
              <a:xfrm>
                <a:off x="725190" y="2927093"/>
                <a:ext cx="4346430" cy="686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𝐸𝑛𝑐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16548-09C1-AEA8-F0D5-C17965DA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90" y="2927093"/>
                <a:ext cx="4346430" cy="6865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C414561-154F-353C-3183-9543290096DF}"/>
              </a:ext>
            </a:extLst>
          </p:cNvPr>
          <p:cNvGrpSpPr/>
          <p:nvPr/>
        </p:nvGrpSpPr>
        <p:grpSpPr>
          <a:xfrm>
            <a:off x="5559870" y="2331070"/>
            <a:ext cx="4085010" cy="3888755"/>
            <a:chOff x="4184163" y="1140041"/>
            <a:chExt cx="4085010" cy="3888755"/>
          </a:xfrm>
        </p:grpSpPr>
        <p:pic>
          <p:nvPicPr>
            <p:cNvPr id="70" name="Graphic 69" descr="Computer with solid fill">
              <a:extLst>
                <a:ext uri="{FF2B5EF4-FFF2-40B4-BE49-F238E27FC236}">
                  <a16:creationId xmlns:a16="http://schemas.microsoft.com/office/drawing/2014/main" id="{948430EF-3ECF-2A96-E11C-3D764FA98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41335" y="1140041"/>
              <a:ext cx="696819" cy="696819"/>
            </a:xfrm>
            <a:prstGeom prst="rect">
              <a:avLst/>
            </a:prstGeom>
          </p:spPr>
        </p:pic>
        <p:pic>
          <p:nvPicPr>
            <p:cNvPr id="71" name="Graphic 70" descr="Server with solid fill">
              <a:extLst>
                <a:ext uri="{FF2B5EF4-FFF2-40B4-BE49-F238E27FC236}">
                  <a16:creationId xmlns:a16="http://schemas.microsoft.com/office/drawing/2014/main" id="{CC9B54A2-CDC5-F151-6FFF-551500089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7647" y="2680323"/>
              <a:ext cx="914400" cy="914400"/>
            </a:xfrm>
            <a:prstGeom prst="rect">
              <a:avLst/>
            </a:prstGeom>
          </p:spPr>
        </p:pic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EE565E6-9882-F39A-1C84-22F10C1E25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43397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D823E2F-9AB5-A763-571A-4D4EBFF4B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15724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Y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240B573-434E-E82A-2D75-8060AB8571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293284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B3C785B-3011-BF52-B7BB-EB56672D8F5D}"/>
                </a:ext>
              </a:extLst>
            </p:cNvPr>
            <p:cNvSpPr/>
            <p:nvPr/>
          </p:nvSpPr>
          <p:spPr>
            <a:xfrm>
              <a:off x="5506912" y="1842029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3FC0AC1-FB6F-BD9F-14C7-4624AB860A91}"/>
                </a:ext>
              </a:extLst>
            </p:cNvPr>
            <p:cNvSpPr/>
            <p:nvPr/>
          </p:nvSpPr>
          <p:spPr>
            <a:xfrm>
              <a:off x="6334750" y="2598412"/>
              <a:ext cx="966221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HE Add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D0080A5-A638-14EB-545D-00AC60F30DA7}"/>
                </a:ext>
              </a:extLst>
            </p:cNvPr>
            <p:cNvSpPr/>
            <p:nvPr/>
          </p:nvSpPr>
          <p:spPr>
            <a:xfrm>
              <a:off x="6334750" y="3801755"/>
              <a:ext cx="966222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Decrypt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E56B4D7-9BEF-157A-9C17-18BA3BAD486F}"/>
                </a:ext>
              </a:extLst>
            </p:cNvPr>
            <p:cNvSpPr txBox="1"/>
            <p:nvPr/>
          </p:nvSpPr>
          <p:spPr>
            <a:xfrm>
              <a:off x="4211741" y="1140041"/>
              <a:ext cx="11025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22EF598-FF36-6F34-DF33-9D44E384DD69}"/>
                </a:ext>
              </a:extLst>
            </p:cNvPr>
            <p:cNvSpPr txBox="1"/>
            <p:nvPr/>
          </p:nvSpPr>
          <p:spPr>
            <a:xfrm>
              <a:off x="4184163" y="2604808"/>
              <a:ext cx="10702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Server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C7206D3-C9DC-F106-0A24-2B99F438DFE4}"/>
                </a:ext>
              </a:extLst>
            </p:cNvPr>
            <p:cNvSpPr txBox="1"/>
            <p:nvPr/>
          </p:nvSpPr>
          <p:spPr>
            <a:xfrm>
              <a:off x="4320195" y="3957912"/>
              <a:ext cx="93425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pic>
          <p:nvPicPr>
            <p:cNvPr id="81" name="Graphic 80" descr="Computer with solid fill">
              <a:extLst>
                <a:ext uri="{FF2B5EF4-FFF2-40B4-BE49-F238E27FC236}">
                  <a16:creationId xmlns:a16="http://schemas.microsoft.com/office/drawing/2014/main" id="{3CA30C34-A6C2-7FCA-9C1E-EA8C412E2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56581" y="1140041"/>
              <a:ext cx="696819" cy="696819"/>
            </a:xfrm>
            <a:prstGeom prst="rect">
              <a:avLst/>
            </a:prstGeom>
          </p:spPr>
        </p:pic>
        <p:pic>
          <p:nvPicPr>
            <p:cNvPr id="82" name="Graphic 81" descr="Computer with solid fill">
              <a:extLst>
                <a:ext uri="{FF2B5EF4-FFF2-40B4-BE49-F238E27FC236}">
                  <a16:creationId xmlns:a16="http://schemas.microsoft.com/office/drawing/2014/main" id="{425A4087-0504-4875-DD9D-42E4E232A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00341" y="4331977"/>
              <a:ext cx="696819" cy="696819"/>
            </a:xfrm>
            <a:prstGeom prst="rect">
              <a:avLst/>
            </a:prstGeom>
          </p:spPr>
        </p:pic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6E8D7D5-F13E-1644-8BEB-318D946BD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436949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EF8DF1D-1E43-7FBC-4374-927A828EB48D}"/>
                </a:ext>
              </a:extLst>
            </p:cNvPr>
            <p:cNvSpPr/>
            <p:nvPr/>
          </p:nvSpPr>
          <p:spPr>
            <a:xfrm>
              <a:off x="7129858" y="1853553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952B3347-9A8C-8FBD-5B11-21613687582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075005" y="1944336"/>
              <a:ext cx="463902" cy="827839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314932C-2566-5934-1533-394827230748}"/>
                </a:ext>
              </a:extLst>
            </p:cNvPr>
            <p:cNvCxnSpPr>
              <a:cxnSpLocks/>
              <a:stCxn id="77" idx="2"/>
              <a:endCxn id="83" idx="0"/>
            </p:cNvCxnSpPr>
            <p:nvPr/>
          </p:nvCxnSpPr>
          <p:spPr>
            <a:xfrm flipH="1">
              <a:off x="6817860" y="4094236"/>
              <a:ext cx="1" cy="275255"/>
            </a:xfrm>
            <a:prstGeom prst="straightConnector1">
              <a:avLst/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3F2725C5-FE6D-F04D-5299-29FC817047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74780" y="1966463"/>
              <a:ext cx="452378" cy="795107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7451571-6C66-F068-F2B0-E29DE3030F6A}"/>
                </a:ext>
              </a:extLst>
            </p:cNvPr>
            <p:cNvCxnSpPr>
              <a:stCxn id="74" idx="4"/>
              <a:endCxn id="77" idx="0"/>
            </p:cNvCxnSpPr>
            <p:nvPr/>
          </p:nvCxnSpPr>
          <p:spPr>
            <a:xfrm>
              <a:off x="6817860" y="3554633"/>
              <a:ext cx="1" cy="247122"/>
            </a:xfrm>
            <a:prstGeom prst="line">
              <a:avLst/>
            </a:prstGeom>
            <a:ln w="12700">
              <a:solidFill>
                <a:srgbClr val="212D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53970D6-2C12-403E-D4CC-19F554FB6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421" y="2270107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31E45C4-1A1B-8E7A-7D11-787CC043B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0374" y="3678194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1C92098B-1CC5-6804-B29F-D03B3FF8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1DBB9DB-8C99-812C-614A-170D9D3F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DA9CE974-FFF9-B3C4-2199-8884210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4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4766D4-2E9D-8597-60FD-D2BE88C5AF5C}"/>
              </a:ext>
            </a:extLst>
          </p:cNvPr>
          <p:cNvSpPr txBox="1"/>
          <p:nvPr/>
        </p:nvSpPr>
        <p:spPr>
          <a:xfrm>
            <a:off x="3855492" y="1465514"/>
            <a:ext cx="4481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HE</a:t>
            </a:r>
            <a:r>
              <a:rPr lang="en-US" sz="2000" b="1" dirty="0">
                <a:solidFill>
                  <a:srgbClr val="212D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a form of encryption that permits computation over encrypted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9A080C-23A4-950B-7036-C4CD2B852AC5}"/>
              </a:ext>
            </a:extLst>
          </p:cNvPr>
          <p:cNvSpPr txBox="1"/>
          <p:nvPr/>
        </p:nvSpPr>
        <p:spPr>
          <a:xfrm>
            <a:off x="1018313" y="4286305"/>
            <a:ext cx="4566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This type of encryption usually requires all ciphertexts from all clients to use the same key.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3D2F1-BDF2-00B8-9D35-2D7D91AE07A3}"/>
              </a:ext>
            </a:extLst>
          </p:cNvPr>
          <p:cNvSpPr/>
          <p:nvPr/>
        </p:nvSpPr>
        <p:spPr>
          <a:xfrm>
            <a:off x="3414682" y="167498"/>
            <a:ext cx="5362636" cy="1019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Homomorphic Encryption Overview</a:t>
            </a:r>
            <a:endParaRPr lang="en-US" sz="36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26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39E7-32B8-EA07-2C2D-AB3BA4EA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2A5EFF-2113-D33B-44C7-176FDBD2A5B9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1F5E0D-6F1F-AE76-52F5-016F1EAE4F82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5D9805AE-BF9B-3C7C-E8BA-637D6599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B56B26F-D62E-4990-479C-74C40043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27F078E9-E06B-92DE-F2BB-4655B128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5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7E09E-C417-5582-07D2-863630934A8D}"/>
              </a:ext>
            </a:extLst>
          </p:cNvPr>
          <p:cNvSpPr/>
          <p:nvPr/>
        </p:nvSpPr>
        <p:spPr>
          <a:xfrm>
            <a:off x="3840336" y="847371"/>
            <a:ext cx="4071584" cy="10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Data Privacy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FE0706-1338-BED1-3A3B-F48C0BCF795C}"/>
              </a:ext>
            </a:extLst>
          </p:cNvPr>
          <p:cNvCxnSpPr>
            <a:cxnSpLocks/>
          </p:cNvCxnSpPr>
          <p:nvPr/>
        </p:nvCxnSpPr>
        <p:spPr>
          <a:xfrm flipH="1">
            <a:off x="4500770" y="1833510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4D2BEA-1B45-FBC3-E101-D6B6E313D8EC}"/>
              </a:ext>
            </a:extLst>
          </p:cNvPr>
          <p:cNvSpPr txBox="1"/>
          <p:nvPr/>
        </p:nvSpPr>
        <p:spPr>
          <a:xfrm>
            <a:off x="2055126" y="2767281"/>
            <a:ext cx="80817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GDPR: </a:t>
            </a:r>
            <a:r>
              <a:rPr lang="en-US" sz="4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European law stands for </a:t>
            </a:r>
            <a:r>
              <a:rPr lang="en-US" sz="4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</a:t>
            </a:r>
            <a:r>
              <a:rPr lang="en-US" sz="4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eneral </a:t>
            </a:r>
            <a:r>
              <a:rPr lang="en-US" sz="4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</a:t>
            </a:r>
            <a:r>
              <a:rPr lang="en-US" sz="4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ata </a:t>
            </a:r>
            <a:r>
              <a:rPr lang="en-US" sz="4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</a:t>
            </a:r>
            <a:r>
              <a:rPr lang="en-US" sz="4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rotection </a:t>
            </a:r>
            <a:r>
              <a:rPr lang="en-US" sz="4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</a:t>
            </a:r>
            <a:r>
              <a:rPr lang="en-US" sz="4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egulation</a:t>
            </a:r>
          </a:p>
        </p:txBody>
      </p: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442B8AD3-FA09-AF98-8762-52EBB1D09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C0F1FDB7-AE7E-4B92-27C7-0C7B49DC3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C0F4BFB-1EF7-987E-9B64-1541C4EF7478}"/>
              </a:ext>
            </a:extLst>
          </p:cNvPr>
          <p:cNvGrpSpPr/>
          <p:nvPr/>
        </p:nvGrpSpPr>
        <p:grpSpPr>
          <a:xfrm>
            <a:off x="5559870" y="7142274"/>
            <a:ext cx="4085010" cy="3888755"/>
            <a:chOff x="4184163" y="1140041"/>
            <a:chExt cx="4085010" cy="3888755"/>
          </a:xfrm>
        </p:grpSpPr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FEC603C7-5B39-7E14-C2A2-27134ADD2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41335" y="1140041"/>
              <a:ext cx="696819" cy="696819"/>
            </a:xfrm>
            <a:prstGeom prst="rect">
              <a:avLst/>
            </a:prstGeom>
          </p:spPr>
        </p:pic>
        <p:pic>
          <p:nvPicPr>
            <p:cNvPr id="23" name="Graphic 22" descr="Server with solid fill">
              <a:extLst>
                <a:ext uri="{FF2B5EF4-FFF2-40B4-BE49-F238E27FC236}">
                  <a16:creationId xmlns:a16="http://schemas.microsoft.com/office/drawing/2014/main" id="{59B46011-3138-607E-BB44-C619D9534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97647" y="2680323"/>
              <a:ext cx="914400" cy="914400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E02A04-3981-B75D-D6A9-3B81390DCA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43397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01F85C-AA05-4C44-C964-71278D2AC6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15724" y="1273637"/>
              <a:ext cx="499620" cy="4996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Y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C4A296-07C4-3C8C-D2B8-54E846B84E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293284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84382D-9804-251E-D156-D09B44236EBA}"/>
                </a:ext>
              </a:extLst>
            </p:cNvPr>
            <p:cNvSpPr/>
            <p:nvPr/>
          </p:nvSpPr>
          <p:spPr>
            <a:xfrm>
              <a:off x="5506912" y="1842029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3E0D183-1FB3-EEF8-139A-80B904139A41}"/>
                </a:ext>
              </a:extLst>
            </p:cNvPr>
            <p:cNvSpPr/>
            <p:nvPr/>
          </p:nvSpPr>
          <p:spPr>
            <a:xfrm>
              <a:off x="6334750" y="2598412"/>
              <a:ext cx="966221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HE Add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7995114-AA9D-3E38-8628-03C810CA268C}"/>
                </a:ext>
              </a:extLst>
            </p:cNvPr>
            <p:cNvSpPr/>
            <p:nvPr/>
          </p:nvSpPr>
          <p:spPr>
            <a:xfrm>
              <a:off x="6334750" y="3801755"/>
              <a:ext cx="966222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Decrypt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56420C-31B1-B8C7-BF20-35AA75EDACCF}"/>
                </a:ext>
              </a:extLst>
            </p:cNvPr>
            <p:cNvSpPr txBox="1"/>
            <p:nvPr/>
          </p:nvSpPr>
          <p:spPr>
            <a:xfrm>
              <a:off x="4211741" y="1140041"/>
              <a:ext cx="11025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B344E91-006E-D4A3-873E-0645E55F88B2}"/>
                </a:ext>
              </a:extLst>
            </p:cNvPr>
            <p:cNvSpPr txBox="1"/>
            <p:nvPr/>
          </p:nvSpPr>
          <p:spPr>
            <a:xfrm>
              <a:off x="4184163" y="2604808"/>
              <a:ext cx="10702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Server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C915E5-DD0D-5E05-C395-9505F9EDEF74}"/>
                </a:ext>
              </a:extLst>
            </p:cNvPr>
            <p:cNvSpPr txBox="1"/>
            <p:nvPr/>
          </p:nvSpPr>
          <p:spPr>
            <a:xfrm>
              <a:off x="4320195" y="3957912"/>
              <a:ext cx="93425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FL Clients</a:t>
              </a:r>
            </a:p>
          </p:txBody>
        </p:sp>
        <p:pic>
          <p:nvPicPr>
            <p:cNvPr id="33" name="Graphic 32" descr="Computer with solid fill">
              <a:extLst>
                <a:ext uri="{FF2B5EF4-FFF2-40B4-BE49-F238E27FC236}">
                  <a16:creationId xmlns:a16="http://schemas.microsoft.com/office/drawing/2014/main" id="{7723F7BF-C574-CE7A-C612-A05B848A5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56581" y="1140041"/>
              <a:ext cx="696819" cy="696819"/>
            </a:xfrm>
            <a:prstGeom prst="rect">
              <a:avLst/>
            </a:prstGeom>
          </p:spPr>
        </p:pic>
        <p:pic>
          <p:nvPicPr>
            <p:cNvPr id="35" name="Graphic 34" descr="Computer with solid fill">
              <a:extLst>
                <a:ext uri="{FF2B5EF4-FFF2-40B4-BE49-F238E27FC236}">
                  <a16:creationId xmlns:a16="http://schemas.microsoft.com/office/drawing/2014/main" id="{17839782-3BF8-C0B9-64EF-D2C2CA156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00341" y="4331977"/>
              <a:ext cx="696819" cy="696819"/>
            </a:xfrm>
            <a:prstGeom prst="rect">
              <a:avLst/>
            </a:prstGeom>
          </p:spPr>
        </p:pic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6697C6A-3174-24D2-4155-C2359DA51C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0660" y="4369491"/>
              <a:ext cx="914400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X+Y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25DD1F-7FBA-EFF4-45FB-7DD90511E804}"/>
                </a:ext>
              </a:extLst>
            </p:cNvPr>
            <p:cNvSpPr/>
            <p:nvPr/>
          </p:nvSpPr>
          <p:spPr>
            <a:xfrm>
              <a:off x="7129858" y="1853553"/>
              <a:ext cx="966220" cy="292481"/>
            </a:xfrm>
            <a:prstGeom prst="rect">
              <a:avLst/>
            </a:prstGeom>
            <a:noFill/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212D6A"/>
                  </a:solidFill>
                </a:rPr>
                <a:t>Encrypt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F83AF86B-4B9B-90E6-173A-B1D00C181E0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075005" y="1944336"/>
              <a:ext cx="463902" cy="827839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0748FD2-F164-9D63-45EF-FFBCB126046B}"/>
                </a:ext>
              </a:extLst>
            </p:cNvPr>
            <p:cNvCxnSpPr>
              <a:cxnSpLocks/>
              <a:stCxn id="29" idx="2"/>
              <a:endCxn id="37" idx="0"/>
            </p:cNvCxnSpPr>
            <p:nvPr/>
          </p:nvCxnSpPr>
          <p:spPr>
            <a:xfrm flipH="1">
              <a:off x="6817860" y="4094236"/>
              <a:ext cx="1" cy="275255"/>
            </a:xfrm>
            <a:prstGeom prst="straightConnector1">
              <a:avLst/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DC671931-812E-0265-5355-8CD1004FF1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74780" y="1966463"/>
              <a:ext cx="452378" cy="795107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212D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B546341-7BC9-886C-F9F3-F56117679203}"/>
                </a:ext>
              </a:extLst>
            </p:cNvPr>
            <p:cNvCxnSpPr>
              <a:stCxn id="26" idx="4"/>
              <a:endCxn id="29" idx="0"/>
            </p:cNvCxnSpPr>
            <p:nvPr/>
          </p:nvCxnSpPr>
          <p:spPr>
            <a:xfrm>
              <a:off x="6817860" y="3554633"/>
              <a:ext cx="1" cy="247122"/>
            </a:xfrm>
            <a:prstGeom prst="line">
              <a:avLst/>
            </a:prstGeom>
            <a:ln w="12700">
              <a:solidFill>
                <a:srgbClr val="212D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9685468-86CE-B5CC-169C-1D7D582E0F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421" y="2270107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35E4E07-49FA-A695-3A26-9C1FEBED8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0374" y="3678194"/>
              <a:ext cx="3768752" cy="0"/>
            </a:xfrm>
            <a:prstGeom prst="line">
              <a:avLst/>
            </a:prstGeom>
            <a:ln w="381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CADCB-137E-481A-687F-A5800FC62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860531"/>
              </p:ext>
            </p:extLst>
          </p:nvPr>
        </p:nvGraphicFramePr>
        <p:xfrm>
          <a:off x="1563266" y="7061890"/>
          <a:ext cx="906546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755">
                  <a:extLst>
                    <a:ext uri="{9D8B030D-6E8A-4147-A177-3AD203B41FA5}">
                      <a16:colId xmlns:a16="http://schemas.microsoft.com/office/drawing/2014/main" val="1367472347"/>
                    </a:ext>
                  </a:extLst>
                </a:gridCol>
                <a:gridCol w="7727714">
                  <a:extLst>
                    <a:ext uri="{9D8B030D-6E8A-4147-A177-3AD203B41FA5}">
                      <a16:colId xmlns:a16="http://schemas.microsoft.com/office/drawing/2014/main" val="218907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Article N°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Defines special categories data and prohibit processing them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Mandates protection for all personal data including special categories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9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Prohibit the transfer of data outside unless the protection is ensured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3273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1BADACE-A4FC-6ED5-4D82-30A32BCF90A3}"/>
              </a:ext>
            </a:extLst>
          </p:cNvPr>
          <p:cNvSpPr txBox="1"/>
          <p:nvPr/>
        </p:nvSpPr>
        <p:spPr>
          <a:xfrm>
            <a:off x="2421979" y="8854607"/>
            <a:ext cx="734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Special Category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	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Healthcare Dataset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 Data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Weight &amp; Bias/Gradient Generated by the Model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Transfer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	FL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Protection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HE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3B531D-1571-FFF5-CEA9-0A7B75F9DE4A}"/>
              </a:ext>
            </a:extLst>
          </p:cNvPr>
          <p:cNvCxnSpPr>
            <a:cxnSpLocks/>
          </p:cNvCxnSpPr>
          <p:nvPr/>
        </p:nvCxnSpPr>
        <p:spPr>
          <a:xfrm>
            <a:off x="4284506" y="9063341"/>
            <a:ext cx="476198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1A2D32-18D2-F4D0-9C90-CD039B8EE059}"/>
              </a:ext>
            </a:extLst>
          </p:cNvPr>
          <p:cNvCxnSpPr>
            <a:cxnSpLocks/>
          </p:cNvCxnSpPr>
          <p:nvPr/>
        </p:nvCxnSpPr>
        <p:spPr>
          <a:xfrm>
            <a:off x="3925527" y="9345281"/>
            <a:ext cx="835177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F48371-690A-E864-4C5D-0F7AF4E8077B}"/>
              </a:ext>
            </a:extLst>
          </p:cNvPr>
          <p:cNvCxnSpPr>
            <a:cxnSpLocks/>
          </p:cNvCxnSpPr>
          <p:nvPr/>
        </p:nvCxnSpPr>
        <p:spPr>
          <a:xfrm>
            <a:off x="3511979" y="9619601"/>
            <a:ext cx="1248725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6EA73C-D684-A449-47EC-A2B4EBCD1B9E}"/>
              </a:ext>
            </a:extLst>
          </p:cNvPr>
          <p:cNvCxnSpPr>
            <a:cxnSpLocks/>
          </p:cNvCxnSpPr>
          <p:nvPr/>
        </p:nvCxnSpPr>
        <p:spPr>
          <a:xfrm>
            <a:off x="3718752" y="9886301"/>
            <a:ext cx="1041952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513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2B50C-9686-8DBC-F2CE-89261457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70A437-6308-ACC7-6AB1-13C48C2C2615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DDB1F-29E4-6BD0-692E-D92389641D43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2986A122-D21B-EF9F-5424-AB9A7E49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1CBDB31-1D1C-8CE8-94E4-F08EECB4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4B643609-A606-DC5D-55BD-C12F81E4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6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579AB-152B-1FBC-25C1-4DE2AFE3B6FF}"/>
              </a:ext>
            </a:extLst>
          </p:cNvPr>
          <p:cNvSpPr/>
          <p:nvPr/>
        </p:nvSpPr>
        <p:spPr>
          <a:xfrm>
            <a:off x="4111100" y="237169"/>
            <a:ext cx="3969800" cy="10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Data Privacy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8F46EE-57AC-76DD-EE4D-EF47308DA02B}"/>
              </a:ext>
            </a:extLst>
          </p:cNvPr>
          <p:cNvCxnSpPr>
            <a:cxnSpLocks/>
          </p:cNvCxnSpPr>
          <p:nvPr/>
        </p:nvCxnSpPr>
        <p:spPr>
          <a:xfrm flipH="1">
            <a:off x="4500770" y="118785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E23161-EB03-ACA1-2674-3B79E8A48BBC}"/>
              </a:ext>
            </a:extLst>
          </p:cNvPr>
          <p:cNvSpPr txBox="1"/>
          <p:nvPr/>
        </p:nvSpPr>
        <p:spPr>
          <a:xfrm>
            <a:off x="3622571" y="1617143"/>
            <a:ext cx="49468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GDPR: 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European law stands for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eneral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ata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rotection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</a:t>
            </a:r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egulation</a:t>
            </a:r>
          </a:p>
        </p:txBody>
      </p: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07B3AA77-BA84-606C-85E5-4C5E99B57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C214E0A2-C1EE-1318-60BD-CA95D9B49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6DF7B1-372B-8740-3AA2-E3568D9F8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64290"/>
              </p:ext>
            </p:extLst>
          </p:nvPr>
        </p:nvGraphicFramePr>
        <p:xfrm>
          <a:off x="1563266" y="2942800"/>
          <a:ext cx="9065469" cy="158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7755">
                  <a:extLst>
                    <a:ext uri="{9D8B030D-6E8A-4147-A177-3AD203B41FA5}">
                      <a16:colId xmlns:a16="http://schemas.microsoft.com/office/drawing/2014/main" val="1367472347"/>
                    </a:ext>
                  </a:extLst>
                </a:gridCol>
                <a:gridCol w="7727714">
                  <a:extLst>
                    <a:ext uri="{9D8B030D-6E8A-4147-A177-3AD203B41FA5}">
                      <a16:colId xmlns:a16="http://schemas.microsoft.com/office/drawing/2014/main" val="218907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Article N°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Defines special categories data and prohibit processing them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Mandates protection for all personal data including special categories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9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Prohibit the transfer of data outside unless the protection is ensured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3273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33637C-B1BA-BDC3-C07C-D90AE2470BEB}"/>
              </a:ext>
            </a:extLst>
          </p:cNvPr>
          <p:cNvSpPr txBox="1"/>
          <p:nvPr/>
        </p:nvSpPr>
        <p:spPr>
          <a:xfrm>
            <a:off x="2421979" y="4735517"/>
            <a:ext cx="734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Special Category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	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Healthcare Dataset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 Data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Weight &amp; Bias/Gradient Generated by the Model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Transfer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	FL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Protection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HE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8EBF8A-837B-9CC4-7D19-505A036166FD}"/>
              </a:ext>
            </a:extLst>
          </p:cNvPr>
          <p:cNvCxnSpPr>
            <a:cxnSpLocks/>
          </p:cNvCxnSpPr>
          <p:nvPr/>
        </p:nvCxnSpPr>
        <p:spPr>
          <a:xfrm>
            <a:off x="4284506" y="4944251"/>
            <a:ext cx="476198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3A4042-E6B2-4D98-8333-11F709EEFE40}"/>
              </a:ext>
            </a:extLst>
          </p:cNvPr>
          <p:cNvCxnSpPr>
            <a:cxnSpLocks/>
          </p:cNvCxnSpPr>
          <p:nvPr/>
        </p:nvCxnSpPr>
        <p:spPr>
          <a:xfrm>
            <a:off x="3925527" y="5226191"/>
            <a:ext cx="835177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DF872B5-D54E-E3AD-868C-1702D8E2F342}"/>
              </a:ext>
            </a:extLst>
          </p:cNvPr>
          <p:cNvCxnSpPr>
            <a:cxnSpLocks/>
          </p:cNvCxnSpPr>
          <p:nvPr/>
        </p:nvCxnSpPr>
        <p:spPr>
          <a:xfrm>
            <a:off x="3511979" y="5500511"/>
            <a:ext cx="1248725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7A4BD93-AB71-A3FB-32F3-99F21E8CD228}"/>
              </a:ext>
            </a:extLst>
          </p:cNvPr>
          <p:cNvCxnSpPr>
            <a:cxnSpLocks/>
          </p:cNvCxnSpPr>
          <p:nvPr/>
        </p:nvCxnSpPr>
        <p:spPr>
          <a:xfrm>
            <a:off x="3718752" y="5767211"/>
            <a:ext cx="1041952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753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5675A-DEF4-E4C2-1A4B-4556F8B4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155F65-2F24-C90B-06CD-BED242092772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E1CBB8-0C37-FFD0-DF17-68743B01EB4A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77806271-31EB-26D9-1750-306A9F17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181BA69-A2AE-A836-46E9-63F5FF84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833B17AB-5790-63F7-7944-A2B2EB46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7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7666D-7CB7-1FE4-FC3E-2863F01BDA22}"/>
              </a:ext>
            </a:extLst>
          </p:cNvPr>
          <p:cNvSpPr/>
          <p:nvPr/>
        </p:nvSpPr>
        <p:spPr>
          <a:xfrm>
            <a:off x="2938700" y="583538"/>
            <a:ext cx="6452728" cy="1125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Federated Learning Overview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5EC9F-69F6-D841-394E-A48EBB0C1780}"/>
              </a:ext>
            </a:extLst>
          </p:cNvPr>
          <p:cNvCxnSpPr>
            <a:cxnSpLocks/>
          </p:cNvCxnSpPr>
          <p:nvPr/>
        </p:nvCxnSpPr>
        <p:spPr>
          <a:xfrm flipH="1">
            <a:off x="4500770" y="1992138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9D1501-1AF5-ACFA-8F2A-9770027297ED}"/>
              </a:ext>
            </a:extLst>
          </p:cNvPr>
          <p:cNvSpPr txBox="1"/>
          <p:nvPr/>
        </p:nvSpPr>
        <p:spPr>
          <a:xfrm>
            <a:off x="1738229" y="2274838"/>
            <a:ext cx="8715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Federated Learning (FL) </a:t>
            </a:r>
            <a:r>
              <a:rPr lang="en-US" sz="36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a decentralized machine-learning framework where clients train a shared global model by performing local updates on their private data.</a:t>
            </a:r>
          </a:p>
        </p:txBody>
      </p: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E2CFC379-AA45-D42B-EEB4-5877962A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1CFEE5EE-A80D-F963-0560-29A26E210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9F5BE9-1BDE-DD18-1FC8-6D91E5942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473509"/>
              </p:ext>
            </p:extLst>
          </p:nvPr>
        </p:nvGraphicFramePr>
        <p:xfrm>
          <a:off x="1563266" y="7061890"/>
          <a:ext cx="9065469" cy="1584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7755">
                  <a:extLst>
                    <a:ext uri="{9D8B030D-6E8A-4147-A177-3AD203B41FA5}">
                      <a16:colId xmlns:a16="http://schemas.microsoft.com/office/drawing/2014/main" val="1367472347"/>
                    </a:ext>
                  </a:extLst>
                </a:gridCol>
                <a:gridCol w="7727714">
                  <a:extLst>
                    <a:ext uri="{9D8B030D-6E8A-4147-A177-3AD203B41FA5}">
                      <a16:colId xmlns:a16="http://schemas.microsoft.com/office/drawing/2014/main" val="218907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Article N°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Defines special categories data and prohibit processing them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Mandates protection for all personal data including special categories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9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Prohibit the transfer of data outside unless the protection is ensured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3273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209BCE4-EEE6-E760-2B3D-EAE0A05A32DF}"/>
              </a:ext>
            </a:extLst>
          </p:cNvPr>
          <p:cNvSpPr txBox="1"/>
          <p:nvPr/>
        </p:nvSpPr>
        <p:spPr>
          <a:xfrm>
            <a:off x="2421979" y="8854607"/>
            <a:ext cx="734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Special Category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	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Healthcare Dataset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 Data	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Weight &amp; Bias/Gradient Generated by the Model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Transfer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	FL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Protection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			HE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668B39-0C39-5C2E-A86C-D11C99911169}"/>
              </a:ext>
            </a:extLst>
          </p:cNvPr>
          <p:cNvCxnSpPr>
            <a:cxnSpLocks/>
          </p:cNvCxnSpPr>
          <p:nvPr/>
        </p:nvCxnSpPr>
        <p:spPr>
          <a:xfrm>
            <a:off x="4284506" y="9063341"/>
            <a:ext cx="476198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23ECA1-761C-9EA9-E486-3E0ADE6E70AA}"/>
              </a:ext>
            </a:extLst>
          </p:cNvPr>
          <p:cNvCxnSpPr>
            <a:cxnSpLocks/>
          </p:cNvCxnSpPr>
          <p:nvPr/>
        </p:nvCxnSpPr>
        <p:spPr>
          <a:xfrm>
            <a:off x="3925527" y="9345281"/>
            <a:ext cx="835177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805CBE-1FDF-6B03-05E3-44BCC19F272B}"/>
              </a:ext>
            </a:extLst>
          </p:cNvPr>
          <p:cNvCxnSpPr>
            <a:cxnSpLocks/>
          </p:cNvCxnSpPr>
          <p:nvPr/>
        </p:nvCxnSpPr>
        <p:spPr>
          <a:xfrm>
            <a:off x="3511979" y="9619601"/>
            <a:ext cx="1248725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31ECBF-B6D1-4B14-6307-D105451AA593}"/>
              </a:ext>
            </a:extLst>
          </p:cNvPr>
          <p:cNvCxnSpPr>
            <a:cxnSpLocks/>
          </p:cNvCxnSpPr>
          <p:nvPr/>
        </p:nvCxnSpPr>
        <p:spPr>
          <a:xfrm>
            <a:off x="3718752" y="9886301"/>
            <a:ext cx="1041952" cy="0"/>
          </a:xfrm>
          <a:prstGeom prst="straightConnector1">
            <a:avLst/>
          </a:prstGeom>
          <a:ln w="12700">
            <a:solidFill>
              <a:srgbClr val="AB1D3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737D321-EBAD-8A41-BC18-F796EAD8ABE8}"/>
              </a:ext>
            </a:extLst>
          </p:cNvPr>
          <p:cNvGrpSpPr/>
          <p:nvPr/>
        </p:nvGrpSpPr>
        <p:grpSpPr>
          <a:xfrm>
            <a:off x="1849011" y="7052649"/>
            <a:ext cx="8668447" cy="3603916"/>
            <a:chOff x="1849011" y="2262784"/>
            <a:chExt cx="8668447" cy="360391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DB1CC1-CB4C-1888-8AA8-9E42EB8C5A54}"/>
                </a:ext>
              </a:extLst>
            </p:cNvPr>
            <p:cNvSpPr/>
            <p:nvPr/>
          </p:nvSpPr>
          <p:spPr>
            <a:xfrm>
              <a:off x="2308302" y="2373695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1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C1D3C0-F38C-EFA4-F374-3662AAB41E8F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2576753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C27A355-B223-5CC3-EB10-DF873A16DA71}"/>
                    </a:ext>
                  </a:extLst>
                </p:cNvPr>
                <p:cNvSpPr txBox="1"/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C27A355-B223-5CC3-EB10-DF873A16D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56" r="-201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4975F8-FC57-45FB-8AC7-945AD36CC03A}"/>
                </a:ext>
              </a:extLst>
            </p:cNvPr>
            <p:cNvSpPr/>
            <p:nvPr/>
          </p:nvSpPr>
          <p:spPr>
            <a:xfrm>
              <a:off x="2308302" y="3102350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2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08D762-5828-557B-C4D8-E102E11FD4B3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3305408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43C0C51-B163-A2F3-2D2A-04D4076D762D}"/>
                    </a:ext>
                  </a:extLst>
                </p:cNvPr>
                <p:cNvSpPr txBox="1"/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43C0C51-B163-A2F3-2D2A-04D4076D7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89" r="-1316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91A8140-E0A0-8B7B-EC16-ECD206FDE6BB}"/>
                </a:ext>
              </a:extLst>
            </p:cNvPr>
            <p:cNvSpPr/>
            <p:nvPr/>
          </p:nvSpPr>
          <p:spPr>
            <a:xfrm>
              <a:off x="2308302" y="3831004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3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907C955-F018-AF75-A3C8-ADFF14C00C5B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4034062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64F31F0-AA55-FBA3-176D-53FEF18AF549}"/>
                    </a:ext>
                  </a:extLst>
                </p:cNvPr>
                <p:cNvSpPr txBox="1"/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64F31F0-AA55-FBA3-176D-53FEF18AF5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89" r="-1316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E7A28DD-CA42-5E2B-DBB3-4EDB5D8466B2}"/>
                </a:ext>
              </a:extLst>
            </p:cNvPr>
            <p:cNvSpPr/>
            <p:nvPr/>
          </p:nvSpPr>
          <p:spPr>
            <a:xfrm>
              <a:off x="5523570" y="3085884"/>
              <a:ext cx="2170771" cy="365107"/>
            </a:xfrm>
            <a:prstGeom prst="ellipse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Global model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03BECF5-E127-B1D9-CAA0-56A73FF443B7}"/>
                </a:ext>
              </a:extLst>
            </p:cNvPr>
            <p:cNvCxnSpPr>
              <a:cxnSpLocks/>
            </p:cNvCxnSpPr>
            <p:nvPr/>
          </p:nvCxnSpPr>
          <p:spPr>
            <a:xfrm>
              <a:off x="4950773" y="2576753"/>
              <a:ext cx="572797" cy="546881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E1E94F4-52E5-FD40-9152-29A6753C4A94}"/>
                </a:ext>
              </a:extLst>
            </p:cNvPr>
            <p:cNvCxnSpPr/>
            <p:nvPr/>
          </p:nvCxnSpPr>
          <p:spPr>
            <a:xfrm>
              <a:off x="4950773" y="3305408"/>
              <a:ext cx="47987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586992E-7598-C7AD-5577-4D63712580C2}"/>
                </a:ext>
              </a:extLst>
            </p:cNvPr>
            <p:cNvCxnSpPr/>
            <p:nvPr/>
          </p:nvCxnSpPr>
          <p:spPr>
            <a:xfrm flipV="1">
              <a:off x="4950773" y="3429000"/>
              <a:ext cx="572797" cy="605062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1E94DED-4587-81A5-2267-48261C4A2187}"/>
                </a:ext>
              </a:extLst>
            </p:cNvPr>
            <p:cNvCxnSpPr>
              <a:stCxn id="50" idx="6"/>
            </p:cNvCxnSpPr>
            <p:nvPr/>
          </p:nvCxnSpPr>
          <p:spPr>
            <a:xfrm>
              <a:off x="7694341" y="3268438"/>
              <a:ext cx="546410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EA926C-FAA9-7630-6EB9-6FB5FD09C42F}"/>
                    </a:ext>
                  </a:extLst>
                </p:cNvPr>
                <p:cNvSpPr txBox="1"/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𝐹𝑒𝑑𝐴𝑉𝐺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EA926C-FAA9-7630-6EB9-6FB5FD09C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49E06CB-8646-BE64-29F6-E9F33C06EE59}"/>
                </a:ext>
              </a:extLst>
            </p:cNvPr>
            <p:cNvSpPr txBox="1"/>
            <p:nvPr/>
          </p:nvSpPr>
          <p:spPr>
            <a:xfrm>
              <a:off x="9446941" y="3102350"/>
              <a:ext cx="10705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(average)</a:t>
              </a:r>
            </a:p>
          </p:txBody>
        </p:sp>
        <p:sp>
          <p:nvSpPr>
            <p:cNvPr id="57" name="Left Brace 56">
              <a:extLst>
                <a:ext uri="{FF2B5EF4-FFF2-40B4-BE49-F238E27FC236}">
                  <a16:creationId xmlns:a16="http://schemas.microsoft.com/office/drawing/2014/main" id="{F325352C-79B4-60D9-EF9D-2BA0FF0B415F}"/>
                </a:ext>
              </a:extLst>
            </p:cNvPr>
            <p:cNvSpPr/>
            <p:nvPr/>
          </p:nvSpPr>
          <p:spPr>
            <a:xfrm>
              <a:off x="7598795" y="3802207"/>
              <a:ext cx="367990" cy="1732132"/>
            </a:xfrm>
            <a:prstGeom prst="leftBrac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6E69F74-79AE-A43A-4BAC-41960000C2E4}"/>
                    </a:ext>
                  </a:extLst>
                </p:cNvPr>
                <p:cNvSpPr txBox="1"/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6E69F74-79AE-A43A-4BAC-41960000C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20" r="-730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F97BC71-FFF0-508E-0FE4-1CC611878671}"/>
                    </a:ext>
                  </a:extLst>
                </p:cNvPr>
                <p:cNvSpPr txBox="1"/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F97BC71-FFF0-508E-0FE4-1CC611878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F11CEC1-4BB2-5390-2B26-8A18E1BD69F6}"/>
                    </a:ext>
                  </a:extLst>
                </p:cNvPr>
                <p:cNvSpPr txBox="1"/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F11CEC1-4BB2-5390-2B26-8A18E1BD6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FD33B14F-7496-1450-E8AA-6E7BF8E7ED30}"/>
                </a:ext>
              </a:extLst>
            </p:cNvPr>
            <p:cNvCxnSpPr>
              <a:stCxn id="55" idx="2"/>
              <a:endCxn id="57" idx="1"/>
            </p:cNvCxnSpPr>
            <p:nvPr/>
          </p:nvCxnSpPr>
          <p:spPr>
            <a:xfrm rot="5400000">
              <a:off x="7570369" y="3484935"/>
              <a:ext cx="1211764" cy="1154912"/>
            </a:xfrm>
            <a:prstGeom prst="bentConnector4">
              <a:avLst>
                <a:gd name="adj1" fmla="val 14264"/>
                <a:gd name="adj2" fmla="val 11979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5B6D485E-CCF2-2FE1-1397-412947401806}"/>
                </a:ext>
              </a:extLst>
            </p:cNvPr>
            <p:cNvCxnSpPr>
              <a:stCxn id="60" idx="2"/>
              <a:endCxn id="3" idx="1"/>
            </p:cNvCxnSpPr>
            <p:nvPr/>
          </p:nvCxnSpPr>
          <p:spPr>
            <a:xfrm rot="5400000" flipH="1">
              <a:off x="4037106" y="847949"/>
              <a:ext cx="3036295" cy="6493904"/>
            </a:xfrm>
            <a:prstGeom prst="bentConnector4">
              <a:avLst>
                <a:gd name="adj1" fmla="val -7529"/>
                <a:gd name="adj2" fmla="val 10695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08E3F12-0FD2-D934-72B7-45AAA5CB86E3}"/>
                    </a:ext>
                  </a:extLst>
                </p:cNvPr>
                <p:cNvSpPr txBox="1"/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𝑟𝑜𝑢𝑛𝑑𝑠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08E3F12-0FD2-D934-72B7-45AAA5CB8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57F3030-425E-C04D-83C2-FD159CF22B8A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849011" y="3305408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09ED7F4-AF20-D2F6-ED1A-4A8C4CA0DF73}"/>
                </a:ext>
              </a:extLst>
            </p:cNvPr>
            <p:cNvCxnSpPr>
              <a:endCxn id="47" idx="1"/>
            </p:cNvCxnSpPr>
            <p:nvPr/>
          </p:nvCxnSpPr>
          <p:spPr>
            <a:xfrm>
              <a:off x="1849011" y="4034062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90186E5-9406-F44F-0D0A-F338F09E5617}"/>
                    </a:ext>
                  </a:extLst>
                </p:cNvPr>
                <p:cNvSpPr txBox="1"/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𝑤𝑒𝑖𝑔h𝑡𝑠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90186E5-9406-F44F-0D0A-F338F09E5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50840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63BE-A006-F561-237C-98500EA1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6A9438-CD3C-289F-7675-BD7CFEB3352F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2B7865-0FEB-EDDE-9E96-FED422286759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979914A-CCA8-E6BE-4FEE-A3C389FF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0FB6C3D4-9C23-F4D6-CC5E-551C47CF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9C9EBCD3-C32A-AE10-1AF1-38913E2B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8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448D1B-365E-C017-D1C4-6377B066556C}"/>
              </a:ext>
            </a:extLst>
          </p:cNvPr>
          <p:cNvSpPr/>
          <p:nvPr/>
        </p:nvSpPr>
        <p:spPr>
          <a:xfrm>
            <a:off x="3992322" y="0"/>
            <a:ext cx="4207356" cy="905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Federated Learning Overview</a:t>
            </a:r>
            <a:endParaRPr lang="en-US" sz="36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588AC2-3B9A-D9DD-23E2-87D40B48C94C}"/>
              </a:ext>
            </a:extLst>
          </p:cNvPr>
          <p:cNvCxnSpPr>
            <a:cxnSpLocks/>
          </p:cNvCxnSpPr>
          <p:nvPr/>
        </p:nvCxnSpPr>
        <p:spPr>
          <a:xfrm flipH="1">
            <a:off x="4833164" y="1128024"/>
            <a:ext cx="2525672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F1E55D91-2830-B94E-B2DC-BCC56155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CBA7346F-01CC-CC0E-A5C7-2405A5476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B87A75-AF90-387A-D622-E5B6FAE108EF}"/>
              </a:ext>
            </a:extLst>
          </p:cNvPr>
          <p:cNvSpPr txBox="1"/>
          <p:nvPr/>
        </p:nvSpPr>
        <p:spPr>
          <a:xfrm>
            <a:off x="1407274" y="1350073"/>
            <a:ext cx="93774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Federated Learning (FL) </a:t>
            </a: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a decentralized machine-learning framework where clients train a shared global model by performing local updates on their private data.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0576017-6C6F-9D5A-ABE8-6103354B7847}"/>
              </a:ext>
            </a:extLst>
          </p:cNvPr>
          <p:cNvGrpSpPr/>
          <p:nvPr/>
        </p:nvGrpSpPr>
        <p:grpSpPr>
          <a:xfrm>
            <a:off x="1849011" y="2262784"/>
            <a:ext cx="8668447" cy="3603916"/>
            <a:chOff x="1849011" y="2262784"/>
            <a:chExt cx="8668447" cy="360391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4BEA3D5-C2A6-F5FE-83A8-8C136F660ACD}"/>
                </a:ext>
              </a:extLst>
            </p:cNvPr>
            <p:cNvSpPr/>
            <p:nvPr/>
          </p:nvSpPr>
          <p:spPr>
            <a:xfrm>
              <a:off x="2308302" y="2373695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1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8DB807A-31D1-D20F-8D1E-7C54B069EBC4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2576753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D3710F-2C93-FA28-DF98-AAF7F4EDFF86}"/>
                    </a:ext>
                  </a:extLst>
                </p:cNvPr>
                <p:cNvSpPr txBox="1"/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D3710F-2C93-FA28-DF98-AAF7F4EDF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56" r="-2013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6F5E30-177E-EAEA-B0B4-2192B1AEEA5C}"/>
                </a:ext>
              </a:extLst>
            </p:cNvPr>
            <p:cNvSpPr/>
            <p:nvPr/>
          </p:nvSpPr>
          <p:spPr>
            <a:xfrm>
              <a:off x="2308302" y="3102350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2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1322ED-BA6B-535E-B775-DB1F3633D9EE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3305408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65CECC6-7410-655D-9446-FBA1F1510084}"/>
                    </a:ext>
                  </a:extLst>
                </p:cNvPr>
                <p:cNvSpPr txBox="1"/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65CECC6-7410-655D-9446-FBA1F1510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89" r="-1316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97093FE-2C5B-E280-8A04-9EE05FC278B7}"/>
                </a:ext>
              </a:extLst>
            </p:cNvPr>
            <p:cNvSpPr/>
            <p:nvPr/>
          </p:nvSpPr>
          <p:spPr>
            <a:xfrm>
              <a:off x="2308302" y="3831004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3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376F226-0CD3-E86C-6BC8-B8CE5EBBC6D6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4034062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0632896-A42F-3C4D-E7A0-9C57A338826A}"/>
                    </a:ext>
                  </a:extLst>
                </p:cNvPr>
                <p:cNvSpPr txBox="1"/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0632896-A42F-3C4D-E7A0-9C57A3388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89" r="-1316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208E2D-4950-2E38-AE0A-99F0B12DC747}"/>
                </a:ext>
              </a:extLst>
            </p:cNvPr>
            <p:cNvSpPr/>
            <p:nvPr/>
          </p:nvSpPr>
          <p:spPr>
            <a:xfrm>
              <a:off x="5523570" y="3085884"/>
              <a:ext cx="2170771" cy="365107"/>
            </a:xfrm>
            <a:prstGeom prst="ellipse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Global model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4D69A3A-C330-69CD-B0A5-B004D4F26ADE}"/>
                </a:ext>
              </a:extLst>
            </p:cNvPr>
            <p:cNvCxnSpPr>
              <a:cxnSpLocks/>
            </p:cNvCxnSpPr>
            <p:nvPr/>
          </p:nvCxnSpPr>
          <p:spPr>
            <a:xfrm>
              <a:off x="4950773" y="2576753"/>
              <a:ext cx="572797" cy="546881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4BCFEC7-709C-924B-1749-526CD19F016C}"/>
                </a:ext>
              </a:extLst>
            </p:cNvPr>
            <p:cNvCxnSpPr/>
            <p:nvPr/>
          </p:nvCxnSpPr>
          <p:spPr>
            <a:xfrm>
              <a:off x="4950773" y="3305408"/>
              <a:ext cx="47987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007FF38-36CC-F4DB-ED83-A2165A4FA223}"/>
                </a:ext>
              </a:extLst>
            </p:cNvPr>
            <p:cNvCxnSpPr/>
            <p:nvPr/>
          </p:nvCxnSpPr>
          <p:spPr>
            <a:xfrm flipV="1">
              <a:off x="4950773" y="3429000"/>
              <a:ext cx="572797" cy="605062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8CFE86A-7AAC-7517-436F-FA77D1B2452F}"/>
                </a:ext>
              </a:extLst>
            </p:cNvPr>
            <p:cNvCxnSpPr>
              <a:stCxn id="25" idx="6"/>
            </p:cNvCxnSpPr>
            <p:nvPr/>
          </p:nvCxnSpPr>
          <p:spPr>
            <a:xfrm>
              <a:off x="7694341" y="3268438"/>
              <a:ext cx="546410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50C28BE-64B8-2CE6-90FF-ADD17232E410}"/>
                    </a:ext>
                  </a:extLst>
                </p:cNvPr>
                <p:cNvSpPr txBox="1"/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𝐹𝑒𝑑𝐴𝑉𝐺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50C28BE-64B8-2CE6-90FF-ADD17232E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0C6293-D9B3-198D-208D-1C160F01619E}"/>
                </a:ext>
              </a:extLst>
            </p:cNvPr>
            <p:cNvSpPr txBox="1"/>
            <p:nvPr/>
          </p:nvSpPr>
          <p:spPr>
            <a:xfrm>
              <a:off x="9446941" y="3102350"/>
              <a:ext cx="10705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(average)</a:t>
              </a:r>
            </a:p>
          </p:txBody>
        </p: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C4709BE3-F239-9EF5-35E9-0BE119A5A9F6}"/>
                </a:ext>
              </a:extLst>
            </p:cNvPr>
            <p:cNvSpPr/>
            <p:nvPr/>
          </p:nvSpPr>
          <p:spPr>
            <a:xfrm>
              <a:off x="7598795" y="3802207"/>
              <a:ext cx="367990" cy="1732132"/>
            </a:xfrm>
            <a:prstGeom prst="leftBrac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45532CE-8CD6-4FD5-7636-70FE54E6E952}"/>
                    </a:ext>
                  </a:extLst>
                </p:cNvPr>
                <p:cNvSpPr txBox="1"/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45532CE-8CD6-4FD5-7636-70FE54E6E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20" r="-730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83EC49E-B854-6778-1512-8E6FDFF639DC}"/>
                    </a:ext>
                  </a:extLst>
                </p:cNvPr>
                <p:cNvSpPr txBox="1"/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83EC49E-B854-6778-1512-8E6FDFF63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D43B2F5-6FF6-BCA0-FED1-A3867752507A}"/>
                    </a:ext>
                  </a:extLst>
                </p:cNvPr>
                <p:cNvSpPr txBox="1"/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D43B2F5-6FF6-BCA0-FED1-A38677525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2D3D6C1-F2D4-5B43-061F-369F2647B1F5}"/>
                </a:ext>
              </a:extLst>
            </p:cNvPr>
            <p:cNvCxnSpPr>
              <a:stCxn id="30" idx="2"/>
              <a:endCxn id="32" idx="1"/>
            </p:cNvCxnSpPr>
            <p:nvPr/>
          </p:nvCxnSpPr>
          <p:spPr>
            <a:xfrm rot="5400000">
              <a:off x="7570369" y="3484935"/>
              <a:ext cx="1211764" cy="1154912"/>
            </a:xfrm>
            <a:prstGeom prst="bentConnector4">
              <a:avLst>
                <a:gd name="adj1" fmla="val 14264"/>
                <a:gd name="adj2" fmla="val 11979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67D23804-4A5F-1054-A0AD-25C1B132904A}"/>
                </a:ext>
              </a:extLst>
            </p:cNvPr>
            <p:cNvCxnSpPr>
              <a:stCxn id="37" idx="2"/>
              <a:endCxn id="3" idx="1"/>
            </p:cNvCxnSpPr>
            <p:nvPr/>
          </p:nvCxnSpPr>
          <p:spPr>
            <a:xfrm rot="5400000" flipH="1">
              <a:off x="4037106" y="847949"/>
              <a:ext cx="3036295" cy="6493904"/>
            </a:xfrm>
            <a:prstGeom prst="bentConnector4">
              <a:avLst>
                <a:gd name="adj1" fmla="val -7529"/>
                <a:gd name="adj2" fmla="val 10695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D822AB-067D-1B68-FD72-D105B0B563AA}"/>
                    </a:ext>
                  </a:extLst>
                </p:cNvPr>
                <p:cNvSpPr txBox="1"/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𝑟𝑜𝑢𝑛𝑑𝑠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D822AB-067D-1B68-FD72-D105B0B56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CAE61C2-43F4-1653-1CEF-17542DDBF125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849011" y="3305408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88D30E8-3A23-269C-772B-F3E924B97DE8}"/>
                </a:ext>
              </a:extLst>
            </p:cNvPr>
            <p:cNvCxnSpPr>
              <a:endCxn id="22" idx="1"/>
            </p:cNvCxnSpPr>
            <p:nvPr/>
          </p:nvCxnSpPr>
          <p:spPr>
            <a:xfrm>
              <a:off x="1849011" y="4034062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A946A2A-C352-6F60-811A-DE12615478C8}"/>
                    </a:ext>
                  </a:extLst>
                </p:cNvPr>
                <p:cNvSpPr txBox="1"/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𝑤𝑒𝑖𝑔h𝑡𝑠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A946A2A-C352-6F60-811A-DE1261547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89175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A691-B2B0-35FF-4E60-629D16DF7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E49F79-7DCE-4D0E-AF2F-D02419C5644A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DAE71-1F14-9F0F-D8D5-31113C764683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F1E3A77-6554-FDD9-BBA4-5A614C53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B1F55B3-D931-AC84-105D-ABB6800E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C87904C3-80BD-246F-C07E-975CD9E4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9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CA1D9-41BA-97A9-E86A-40703428D56C}"/>
              </a:ext>
            </a:extLst>
          </p:cNvPr>
          <p:cNvSpPr/>
          <p:nvPr/>
        </p:nvSpPr>
        <p:spPr>
          <a:xfrm>
            <a:off x="2938700" y="583538"/>
            <a:ext cx="6452728" cy="1125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 HE Importance in FL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A5005-89E6-20A4-D217-A22F341421E9}"/>
              </a:ext>
            </a:extLst>
          </p:cNvPr>
          <p:cNvCxnSpPr>
            <a:cxnSpLocks/>
          </p:cNvCxnSpPr>
          <p:nvPr/>
        </p:nvCxnSpPr>
        <p:spPr>
          <a:xfrm flipH="1">
            <a:off x="4500770" y="1992138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589016B3-EC26-4CE8-7D83-2AF12C58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82D64D0E-7A38-0D28-3BF4-D25F3E60B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804AFF3-E83B-E439-9E6D-27F55D1334F1}"/>
              </a:ext>
            </a:extLst>
          </p:cNvPr>
          <p:cNvGrpSpPr/>
          <p:nvPr/>
        </p:nvGrpSpPr>
        <p:grpSpPr>
          <a:xfrm>
            <a:off x="1849011" y="-3818244"/>
            <a:ext cx="8668447" cy="3603916"/>
            <a:chOff x="1849011" y="2262784"/>
            <a:chExt cx="8668447" cy="360391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A9211F-4935-55D0-A8E3-49FFD007BAFA}"/>
                </a:ext>
              </a:extLst>
            </p:cNvPr>
            <p:cNvSpPr/>
            <p:nvPr/>
          </p:nvSpPr>
          <p:spPr>
            <a:xfrm>
              <a:off x="2308302" y="2373695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1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B81C05-B396-AF7D-605A-A4EE8162E118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2576753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A24852B-92B9-B9E7-B62F-BD61E876B865}"/>
                    </a:ext>
                  </a:extLst>
                </p:cNvPr>
                <p:cNvSpPr txBox="1"/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A24852B-92B9-B9E7-B62F-BD61E876B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262784"/>
                  <a:ext cx="91217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56" r="-201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178191-1694-846A-A51B-B5B4257BB767}"/>
                </a:ext>
              </a:extLst>
            </p:cNvPr>
            <p:cNvSpPr/>
            <p:nvPr/>
          </p:nvSpPr>
          <p:spPr>
            <a:xfrm>
              <a:off x="2308302" y="3102350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2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A0C0DC8-90C0-EB6B-B523-BD029B9ABC59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3305408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593D68D-F988-8261-2EE1-86C7D519442F}"/>
                    </a:ext>
                  </a:extLst>
                </p:cNvPr>
                <p:cNvSpPr txBox="1"/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593D68D-F988-8261-2EE1-86C7D5194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991439"/>
                  <a:ext cx="92813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89" r="-1316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73B6CA3-8D93-0960-0D08-DA734D62718D}"/>
                </a:ext>
              </a:extLst>
            </p:cNvPr>
            <p:cNvSpPr/>
            <p:nvPr/>
          </p:nvSpPr>
          <p:spPr>
            <a:xfrm>
              <a:off x="2308302" y="3831004"/>
              <a:ext cx="1607634" cy="406116"/>
            </a:xfrm>
            <a:prstGeom prst="rect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model 3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A12E5F4-8261-89AF-5531-080BF8B2D270}"/>
                </a:ext>
              </a:extLst>
            </p:cNvPr>
            <p:cNvCxnSpPr>
              <a:cxnSpLocks/>
            </p:cNvCxnSpPr>
            <p:nvPr/>
          </p:nvCxnSpPr>
          <p:spPr>
            <a:xfrm>
              <a:off x="3915936" y="4034062"/>
              <a:ext cx="1034837" cy="0"/>
            </a:xfrm>
            <a:prstGeom prst="lin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090085-DBB0-5F04-3880-6B4F42BF9233}"/>
                    </a:ext>
                  </a:extLst>
                </p:cNvPr>
                <p:cNvSpPr txBox="1"/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090085-DBB0-5F04-3880-6B4F42BF9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3720093"/>
                  <a:ext cx="9281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89" r="-1316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3CAC0BF-AD63-82EB-A3F2-166424DFCAA9}"/>
                </a:ext>
              </a:extLst>
            </p:cNvPr>
            <p:cNvSpPr/>
            <p:nvPr/>
          </p:nvSpPr>
          <p:spPr>
            <a:xfrm>
              <a:off x="5523570" y="3085884"/>
              <a:ext cx="2170771" cy="365107"/>
            </a:xfrm>
            <a:prstGeom prst="ellipse">
              <a:avLst/>
            </a:prstGeom>
            <a:solidFill>
              <a:srgbClr val="212D6A"/>
            </a:solidFill>
            <a:ln>
              <a:solidFill>
                <a:srgbClr val="212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Global model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702F464-1290-F68D-2A11-0F393A5DDC16}"/>
                </a:ext>
              </a:extLst>
            </p:cNvPr>
            <p:cNvCxnSpPr>
              <a:cxnSpLocks/>
            </p:cNvCxnSpPr>
            <p:nvPr/>
          </p:nvCxnSpPr>
          <p:spPr>
            <a:xfrm>
              <a:off x="4950773" y="2576753"/>
              <a:ext cx="572797" cy="546881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D7A3CAC-4502-9F9D-997A-95E2AD9AB402}"/>
                </a:ext>
              </a:extLst>
            </p:cNvPr>
            <p:cNvCxnSpPr/>
            <p:nvPr/>
          </p:nvCxnSpPr>
          <p:spPr>
            <a:xfrm>
              <a:off x="4950773" y="3305408"/>
              <a:ext cx="47987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FB93774-BB84-32E5-4BCF-332EF54D975F}"/>
                </a:ext>
              </a:extLst>
            </p:cNvPr>
            <p:cNvCxnSpPr/>
            <p:nvPr/>
          </p:nvCxnSpPr>
          <p:spPr>
            <a:xfrm flipV="1">
              <a:off x="4950773" y="3429000"/>
              <a:ext cx="572797" cy="605062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620FCD9-DDE9-C7FB-4607-FA786DA8AFA8}"/>
                </a:ext>
              </a:extLst>
            </p:cNvPr>
            <p:cNvCxnSpPr>
              <a:stCxn id="31" idx="6"/>
            </p:cNvCxnSpPr>
            <p:nvPr/>
          </p:nvCxnSpPr>
          <p:spPr>
            <a:xfrm>
              <a:off x="7694341" y="3268438"/>
              <a:ext cx="546410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B0C5B70-BF29-66EE-61DA-3897D468C9E1}"/>
                    </a:ext>
                  </a:extLst>
                </p:cNvPr>
                <p:cNvSpPr txBox="1"/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𝐹𝑒𝑑𝐴𝑉𝐺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B0C5B70-BF29-66EE-61DA-3897D468C9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0751" y="3087177"/>
                  <a:ext cx="10259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E2455F-71C3-C1EB-A4E2-B46481B91528}"/>
                </a:ext>
              </a:extLst>
            </p:cNvPr>
            <p:cNvSpPr txBox="1"/>
            <p:nvPr/>
          </p:nvSpPr>
          <p:spPr>
            <a:xfrm>
              <a:off x="9446941" y="3102350"/>
              <a:ext cx="10705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(average)</a:t>
              </a:r>
            </a:p>
          </p:txBody>
        </p:sp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8CAB5B15-9E89-F4A1-40BC-E18A667E2DEE}"/>
                </a:ext>
              </a:extLst>
            </p:cNvPr>
            <p:cNvSpPr/>
            <p:nvPr/>
          </p:nvSpPr>
          <p:spPr>
            <a:xfrm>
              <a:off x="7598795" y="3802207"/>
              <a:ext cx="367990" cy="1732132"/>
            </a:xfrm>
            <a:prstGeom prst="leftBrac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2E11FFC-165B-9AEB-F161-2E78B27DBC16}"/>
                    </a:ext>
                  </a:extLst>
                </p:cNvPr>
                <p:cNvSpPr txBox="1"/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2E11FFC-165B-9AEB-F161-2E78B27DB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76" y="3845698"/>
                  <a:ext cx="16708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20" r="-730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FA1ACE4-6A5C-9116-9DB9-B3CBA70C26C5}"/>
                    </a:ext>
                  </a:extLst>
                </p:cNvPr>
                <p:cNvSpPr txBox="1"/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FA1ACE4-6A5C-9116-9DB9-B3CBA70C2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298305"/>
                  <a:ext cx="2143437" cy="59548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B8EFA02-C520-E8C2-11A5-566219566887}"/>
                    </a:ext>
                  </a:extLst>
                </p:cNvPr>
                <p:cNvSpPr txBox="1"/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212D6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B8EFA02-C520-E8C2-11A5-566219566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487" y="4976463"/>
                  <a:ext cx="2143437" cy="63658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FC64D5F4-72A7-D5F0-91B8-B48F943B225C}"/>
                </a:ext>
              </a:extLst>
            </p:cNvPr>
            <p:cNvCxnSpPr>
              <a:stCxn id="38" idx="2"/>
              <a:endCxn id="40" idx="1"/>
            </p:cNvCxnSpPr>
            <p:nvPr/>
          </p:nvCxnSpPr>
          <p:spPr>
            <a:xfrm rot="5400000">
              <a:off x="7570369" y="3484935"/>
              <a:ext cx="1211764" cy="1154912"/>
            </a:xfrm>
            <a:prstGeom prst="bentConnector4">
              <a:avLst>
                <a:gd name="adj1" fmla="val 14264"/>
                <a:gd name="adj2" fmla="val 11979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8C23E5B8-BA29-0180-7339-11DD0CA283F3}"/>
                </a:ext>
              </a:extLst>
            </p:cNvPr>
            <p:cNvCxnSpPr>
              <a:stCxn id="43" idx="2"/>
              <a:endCxn id="22" idx="1"/>
            </p:cNvCxnSpPr>
            <p:nvPr/>
          </p:nvCxnSpPr>
          <p:spPr>
            <a:xfrm rot="5400000" flipH="1">
              <a:off x="4037106" y="847949"/>
              <a:ext cx="3036295" cy="6493904"/>
            </a:xfrm>
            <a:prstGeom prst="bentConnector4">
              <a:avLst>
                <a:gd name="adj1" fmla="val -7529"/>
                <a:gd name="adj2" fmla="val 106954"/>
              </a:avLst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85D9DF3-A6D6-FFE9-AB8F-F111617704EC}"/>
                    </a:ext>
                  </a:extLst>
                </p:cNvPr>
                <p:cNvSpPr txBox="1"/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𝑟𝑜𝑢𝑛𝑑𝑠</m:t>
                        </m:r>
                      </m:oMath>
                    </m:oMathPara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85D9DF3-A6D6-FFE9-AB8F-F11161770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5497368"/>
                  <a:ext cx="112590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3974396-DB94-7B3C-0FCE-EE3E3C5D0C07}"/>
                </a:ext>
              </a:extLst>
            </p:cNvPr>
            <p:cNvCxnSpPr>
              <a:endCxn id="25" idx="1"/>
            </p:cNvCxnSpPr>
            <p:nvPr/>
          </p:nvCxnSpPr>
          <p:spPr>
            <a:xfrm>
              <a:off x="1849011" y="3305408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A10D09F1-59E3-20BF-973B-D6A992223EFB}"/>
                </a:ext>
              </a:extLst>
            </p:cNvPr>
            <p:cNvCxnSpPr>
              <a:endCxn id="28" idx="1"/>
            </p:cNvCxnSpPr>
            <p:nvPr/>
          </p:nvCxnSpPr>
          <p:spPr>
            <a:xfrm>
              <a:off x="1849011" y="4034062"/>
              <a:ext cx="459291" cy="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3C4486C-DD17-C895-5207-3E0437941EF2}"/>
                    </a:ext>
                  </a:extLst>
                </p:cNvPr>
                <p:cNvSpPr txBox="1"/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𝑤𝑒𝑖𝑔h𝑡𝑠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</m:oMath>
                  </a14:m>
                  <a:endParaRPr lang="en-US" b="0" dirty="0">
                    <a:solidFill>
                      <a:srgbClr val="212D6A"/>
                    </a:solidFill>
                  </a:endParaRPr>
                </a:p>
                <a:p>
                  <a:r>
                    <a:rPr lang="en-US" b="0" dirty="0">
                      <a:solidFill>
                        <a:srgbClr val="212D6A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a14:m>
                  <a:endParaRPr lang="en-US" dirty="0">
                    <a:solidFill>
                      <a:srgbClr val="212D6A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3C4486C-DD17-C895-5207-3E0437941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6560" y="4411776"/>
                  <a:ext cx="1400127" cy="92333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D6B4DFFD-3924-ECB3-1E30-DD343E08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933195"/>
              </p:ext>
            </p:extLst>
          </p:nvPr>
        </p:nvGraphicFramePr>
        <p:xfrm>
          <a:off x="970423" y="2438400"/>
          <a:ext cx="10251153" cy="1981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12208">
                  <a:extLst>
                    <a:ext uri="{9D8B030D-6E8A-4147-A177-3AD203B41FA5}">
                      <a16:colId xmlns:a16="http://schemas.microsoft.com/office/drawing/2014/main" val="349534385"/>
                    </a:ext>
                  </a:extLst>
                </a:gridCol>
                <a:gridCol w="7738945">
                  <a:extLst>
                    <a:ext uri="{9D8B030D-6E8A-4147-A177-3AD203B41FA5}">
                      <a16:colId xmlns:a16="http://schemas.microsoft.com/office/drawing/2014/main" val="687405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Stage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Importance of HE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28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Local Training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Allows local training on plaintext data with no need of encryption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2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Server Aggregation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Ensure computation on ciphertext and prevent access to local data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57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Prevent leakage of sensitive data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08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Security &amp; Privacy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Protect against membership inference, and curious server attacks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715410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62D99702-F75D-4F04-142A-780A298AEC77}"/>
              </a:ext>
            </a:extLst>
          </p:cNvPr>
          <p:cNvSpPr txBox="1"/>
          <p:nvPr/>
        </p:nvSpPr>
        <p:spPr>
          <a:xfrm>
            <a:off x="2208076" y="4761571"/>
            <a:ext cx="7775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Traditional fashion of HE not enough due to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security risk</a:t>
            </a:r>
          </a:p>
        </p:txBody>
      </p:sp>
    </p:spTree>
    <p:extLst>
      <p:ext uri="{BB962C8B-B14F-4D97-AF65-F5344CB8AC3E}">
        <p14:creationId xmlns:p14="http://schemas.microsoft.com/office/powerpoint/2010/main" val="51605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19D8-E605-8F7D-6F17-D436FE3F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D1D4A-4CBC-B4C6-894D-3DB5F13338B0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49441-1ECE-59CB-5FAB-8F51470A9D33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7E435F4-074D-66E2-AE42-67E216FA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47FA7A2-7BDC-D6E8-F479-001225A5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79FE1641-FB58-6931-9D3F-4C3EFFEB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10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0CB00-3125-BD56-9BBE-E25AB281EF5B}"/>
              </a:ext>
            </a:extLst>
          </p:cNvPr>
          <p:cNvSpPr/>
          <p:nvPr/>
        </p:nvSpPr>
        <p:spPr>
          <a:xfrm>
            <a:off x="2938700" y="583538"/>
            <a:ext cx="6452728" cy="1125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 Security Risks</a:t>
            </a:r>
            <a:endParaRPr lang="en-US" sz="5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CB1AC0-BD3A-E291-978E-45358EB3ACF5}"/>
              </a:ext>
            </a:extLst>
          </p:cNvPr>
          <p:cNvCxnSpPr>
            <a:cxnSpLocks/>
          </p:cNvCxnSpPr>
          <p:nvPr/>
        </p:nvCxnSpPr>
        <p:spPr>
          <a:xfrm flipH="1">
            <a:off x="4500770" y="1997374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4B636F4D-8F58-8D41-7247-C4270D329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0EF24F28-8B25-087B-4AFA-4B2D0012B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184F053-D261-761B-EFCE-14D1F0C547A0}"/>
              </a:ext>
            </a:extLst>
          </p:cNvPr>
          <p:cNvSpPr txBox="1"/>
          <p:nvPr/>
        </p:nvSpPr>
        <p:spPr>
          <a:xfrm>
            <a:off x="2277139" y="2285311"/>
            <a:ext cx="7775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Using the same key across all clients poses </a:t>
            </a:r>
            <a:r>
              <a:rPr lang="en-US" sz="24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security risks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4E633C-5DB3-07DA-BA9E-9F5A0B827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12060"/>
              </p:ext>
            </p:extLst>
          </p:nvPr>
        </p:nvGraphicFramePr>
        <p:xfrm>
          <a:off x="1187464" y="3322850"/>
          <a:ext cx="9817073" cy="2407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83199">
                  <a:extLst>
                    <a:ext uri="{9D8B030D-6E8A-4147-A177-3AD203B41FA5}">
                      <a16:colId xmlns:a16="http://schemas.microsoft.com/office/drawing/2014/main" val="3179830144"/>
                    </a:ext>
                  </a:extLst>
                </a:gridCol>
                <a:gridCol w="6033874">
                  <a:extLst>
                    <a:ext uri="{9D8B030D-6E8A-4147-A177-3AD203B41FA5}">
                      <a16:colId xmlns:a16="http://schemas.microsoft.com/office/drawing/2014/main" val="979961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E6E6E6"/>
                          </a:solidFill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14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Honest-but-curious clients</a:t>
                      </a:r>
                    </a:p>
                    <a:p>
                      <a:pPr algn="ctr"/>
                      <a:endParaRPr lang="en-US" sz="2000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Client will follow the protocol correctly but will exploit opportunities to access private data, leading to privacy leakage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25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Key compromise issue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All clients share one decryption key; compromising a single device reveals this key. This means one breach compromise the entire FL network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50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0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A4F5-201E-ACF0-FA9F-16AFCB42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30C916-4588-F9D1-181F-0CC1070BF80A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36EC3-5245-BB23-C5DC-81A9DAB90261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DD12DC3-98D4-BAC8-813B-CB59F959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7B324477-7448-F00F-102A-83720765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83638EA8-8AA5-0300-9B80-DC45EA93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11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D7891F-03AD-E3E3-8D4E-C35989CAABB7}"/>
              </a:ext>
            </a:extLst>
          </p:cNvPr>
          <p:cNvSpPr/>
          <p:nvPr/>
        </p:nvSpPr>
        <p:spPr>
          <a:xfrm>
            <a:off x="3466753" y="6881"/>
            <a:ext cx="5214701" cy="1413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 Security Risks</a:t>
            </a:r>
            <a:b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(Solution Design)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6BD25F-E76B-AFE1-13BB-0AEF0FA56AB6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AB150982-32B4-47D9-2B1D-59037C60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353413D1-03F4-742F-7233-B43DA7E32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2D71897-2E9A-A591-1716-D2B06D438521}"/>
              </a:ext>
            </a:extLst>
          </p:cNvPr>
          <p:cNvGrpSpPr/>
          <p:nvPr/>
        </p:nvGrpSpPr>
        <p:grpSpPr>
          <a:xfrm>
            <a:off x="391391" y="1778941"/>
            <a:ext cx="11409218" cy="3953396"/>
            <a:chOff x="391391" y="1778941"/>
            <a:chExt cx="11409218" cy="395339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62F4BF-387A-83E2-93E8-01855AE1129F}"/>
                </a:ext>
              </a:extLst>
            </p:cNvPr>
            <p:cNvSpPr/>
            <p:nvPr/>
          </p:nvSpPr>
          <p:spPr>
            <a:xfrm>
              <a:off x="391391" y="2911710"/>
              <a:ext cx="4959096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Based on an asymmetric encryption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32D59B-76DF-C1A6-F4A1-B51F956DB3C9}"/>
                </a:ext>
              </a:extLst>
            </p:cNvPr>
            <p:cNvSpPr/>
            <p:nvPr/>
          </p:nvSpPr>
          <p:spPr>
            <a:xfrm>
              <a:off x="3633583" y="3801929"/>
              <a:ext cx="4921116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Have homomorphic properties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9D880E-EE61-D528-F8EE-B01BDA2FD674}"/>
                </a:ext>
              </a:extLst>
            </p:cNvPr>
            <p:cNvSpPr/>
            <p:nvPr/>
          </p:nvSpPr>
          <p:spPr>
            <a:xfrm>
              <a:off x="3633583" y="4451467"/>
              <a:ext cx="4921116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Solve the mentioned security risks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C31D35-D67C-0E4A-2302-6DE3CDEDCE86}"/>
                </a:ext>
              </a:extLst>
            </p:cNvPr>
            <p:cNvSpPr/>
            <p:nvPr/>
          </p:nvSpPr>
          <p:spPr>
            <a:xfrm>
              <a:off x="3633583" y="5193118"/>
              <a:ext cx="4921116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Suitable for the FL network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757C7D-35F4-ED24-A6D7-016E14B58893}"/>
                </a:ext>
              </a:extLst>
            </p:cNvPr>
            <p:cNvSpPr/>
            <p:nvPr/>
          </p:nvSpPr>
          <p:spPr>
            <a:xfrm>
              <a:off x="1572491" y="2226069"/>
              <a:ext cx="2596896" cy="355185"/>
            </a:xfrm>
            <a:prstGeom prst="ellipse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xMK CKKS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02FE7E-4789-CAD9-1D60-7F046749859D}"/>
                </a:ext>
              </a:extLst>
            </p:cNvPr>
            <p:cNvSpPr/>
            <p:nvPr/>
          </p:nvSpPr>
          <p:spPr>
            <a:xfrm>
              <a:off x="6841513" y="2911710"/>
              <a:ext cx="4959096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Based on a symmetric encryption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B55EBFD-1555-C5D6-0F41-F40A38ECD9F5}"/>
                </a:ext>
              </a:extLst>
            </p:cNvPr>
            <p:cNvSpPr/>
            <p:nvPr/>
          </p:nvSpPr>
          <p:spPr>
            <a:xfrm>
              <a:off x="8022615" y="2226069"/>
              <a:ext cx="2596896" cy="355185"/>
            </a:xfrm>
            <a:prstGeom prst="ellipse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DF-KS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E41514F-4B75-7CEF-0A84-29559C63B058}"/>
                </a:ext>
              </a:extLst>
            </p:cNvPr>
            <p:cNvCxnSpPr>
              <a:stCxn id="7" idx="4"/>
              <a:endCxn id="3" idx="0"/>
            </p:cNvCxnSpPr>
            <p:nvPr/>
          </p:nvCxnSpPr>
          <p:spPr>
            <a:xfrm>
              <a:off x="2870939" y="2581254"/>
              <a:ext cx="0" cy="330456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BD4E747-B7D1-9C37-BA09-5C2EE5AD47EA}"/>
                </a:ext>
              </a:extLst>
            </p:cNvPr>
            <p:cNvCxnSpPr>
              <a:stCxn id="11" idx="4"/>
              <a:endCxn id="9" idx="0"/>
            </p:cNvCxnSpPr>
            <p:nvPr/>
          </p:nvCxnSpPr>
          <p:spPr>
            <a:xfrm flipH="1">
              <a:off x="9321061" y="2581254"/>
              <a:ext cx="2" cy="330456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2775E97-5B68-2A31-FE86-9CC07534CC68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2870939" y="3276835"/>
              <a:ext cx="863934" cy="432981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F10C437-4755-E393-EEF9-A839B4A98D11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8457125" y="3276835"/>
              <a:ext cx="863936" cy="432981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BC754E89-8064-5B9D-7F2A-595E568F8206}"/>
                </a:ext>
              </a:extLst>
            </p:cNvPr>
            <p:cNvSpPr/>
            <p:nvPr/>
          </p:nvSpPr>
          <p:spPr>
            <a:xfrm>
              <a:off x="3270736" y="3801929"/>
              <a:ext cx="306947" cy="1930408"/>
            </a:xfrm>
            <a:prstGeom prst="leftBrac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FB684140-4E65-9D1A-9B91-2ABF5B4736C4}"/>
                </a:ext>
              </a:extLst>
            </p:cNvPr>
            <p:cNvSpPr/>
            <p:nvPr/>
          </p:nvSpPr>
          <p:spPr>
            <a:xfrm rot="10800000">
              <a:off x="8577001" y="3801929"/>
              <a:ext cx="306947" cy="1930408"/>
            </a:xfrm>
            <a:prstGeom prst="leftBrace">
              <a:avLst/>
            </a:prstGeom>
            <a:ln w="12700">
              <a:solidFill>
                <a:srgbClr val="AB1D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5B9BDD-6234-98A4-4BC4-25EE167116E1}"/>
                </a:ext>
              </a:extLst>
            </p:cNvPr>
            <p:cNvSpPr txBox="1"/>
            <p:nvPr/>
          </p:nvSpPr>
          <p:spPr>
            <a:xfrm>
              <a:off x="8378591" y="1778941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12D6A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Proposed Solution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A894BD-881E-42A8-2437-68F0EE542CEF}"/>
                </a:ext>
              </a:extLst>
            </p:cNvPr>
            <p:cNvSpPr txBox="1"/>
            <p:nvPr/>
          </p:nvSpPr>
          <p:spPr>
            <a:xfrm>
              <a:off x="2057254" y="1778941"/>
              <a:ext cx="1750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12D6A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Solution 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524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CA79-2758-D9EB-C423-39B6C62A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6DED42-DAD0-C049-CF66-599CEF0ED61D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E2D0E3-4C84-CACD-75C2-8E161F0FCA56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99FBCF2E-8120-52BB-11AA-7DB6D36D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1FCA4A90-8CBC-6259-F39A-FBB13A63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8864D4F9-A4FE-A12B-B2FE-92A1D44B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A2996-6ED8-115E-5053-057C1829BE2C}"/>
              </a:ext>
            </a:extLst>
          </p:cNvPr>
          <p:cNvSpPr/>
          <p:nvPr/>
        </p:nvSpPr>
        <p:spPr>
          <a:xfrm>
            <a:off x="3466753" y="6881"/>
            <a:ext cx="5214701" cy="1413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</a:t>
            </a:r>
            <a:b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(CKKS Overview) 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51B73A-8792-FF7B-9860-83BB9E1E6541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4A6C5319-29BF-13D2-B5AD-1FF9414E5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7587EA63-FC2F-A5B6-F00F-389E0504F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8F95B20-82BB-7B9C-6084-5AFDCE75C038}"/>
              </a:ext>
            </a:extLst>
          </p:cNvPr>
          <p:cNvGrpSpPr/>
          <p:nvPr/>
        </p:nvGrpSpPr>
        <p:grpSpPr>
          <a:xfrm>
            <a:off x="1902254" y="1807954"/>
            <a:ext cx="8387492" cy="3242093"/>
            <a:chOff x="2273074" y="1963852"/>
            <a:chExt cx="8387492" cy="32420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C33FBDC-A581-2F86-433F-A375314039CD}"/>
                </a:ext>
              </a:extLst>
            </p:cNvPr>
            <p:cNvSpPr/>
            <p:nvPr/>
          </p:nvSpPr>
          <p:spPr>
            <a:xfrm>
              <a:off x="5681605" y="4840820"/>
              <a:ext cx="4978957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Suitable for FL applications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7E3CD6D-C479-68A5-FDCD-10E46ED33427}"/>
                </a:ext>
              </a:extLst>
            </p:cNvPr>
            <p:cNvSpPr/>
            <p:nvPr/>
          </p:nvSpPr>
          <p:spPr>
            <a:xfrm>
              <a:off x="5681606" y="4127106"/>
              <a:ext cx="4978957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Supports Approximate Computation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D777C5-5A30-2798-EEE0-1BC601D4896D}"/>
                </a:ext>
              </a:extLst>
            </p:cNvPr>
            <p:cNvSpPr/>
            <p:nvPr/>
          </p:nvSpPr>
          <p:spPr>
            <a:xfrm>
              <a:off x="5681607" y="3413392"/>
              <a:ext cx="4978957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Latice</a:t>
              </a:r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-Based HE (based on RLWE)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7023C6-93DE-A73D-0F51-1BE230DEDA29}"/>
                </a:ext>
              </a:extLst>
            </p:cNvPr>
            <p:cNvSpPr/>
            <p:nvPr/>
          </p:nvSpPr>
          <p:spPr>
            <a:xfrm>
              <a:off x="5681608" y="2688622"/>
              <a:ext cx="4978957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Asymmetric Encryption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EDAB4CA-C3D4-7BEE-A782-D48CA33D6084}"/>
                </a:ext>
              </a:extLst>
            </p:cNvPr>
            <p:cNvSpPr/>
            <p:nvPr/>
          </p:nvSpPr>
          <p:spPr>
            <a:xfrm>
              <a:off x="5681609" y="1963852"/>
              <a:ext cx="4978957" cy="365125"/>
            </a:xfrm>
            <a:prstGeom prst="rect">
              <a:avLst/>
            </a:prstGeom>
            <a:solidFill>
              <a:srgbClr val="2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Published in 2017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E0AF313-A939-734D-9F43-5E6B42765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2487" y="3595955"/>
              <a:ext cx="699122" cy="10638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35F16E0-7749-4BE0-5174-E8938FC2B479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4982487" y="2146415"/>
              <a:ext cx="699122" cy="1460178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84D247E-4B52-CA32-4063-A0078301D5BD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4982487" y="2871185"/>
              <a:ext cx="699121" cy="735408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D42F2BD-E3D7-B820-F145-9A59955550F3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4982487" y="3606593"/>
              <a:ext cx="699119" cy="703076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F1197F7-836A-50B9-F40A-DB3280AA8BE4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4982487" y="3606593"/>
              <a:ext cx="699118" cy="1416790"/>
            </a:xfrm>
            <a:prstGeom prst="straightConnector1">
              <a:avLst/>
            </a:prstGeom>
            <a:ln w="12700">
              <a:solidFill>
                <a:srgbClr val="AB1D3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F08263-3DD1-0507-1689-90A2028FFFA2}"/>
                </a:ext>
              </a:extLst>
            </p:cNvPr>
            <p:cNvSpPr txBox="1"/>
            <p:nvPr/>
          </p:nvSpPr>
          <p:spPr>
            <a:xfrm>
              <a:off x="2273074" y="3134289"/>
              <a:ext cx="26166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212D6A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xMK CKKS is modification of the </a:t>
              </a:r>
              <a:r>
                <a:rPr lang="en-US" b="1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CKKS</a:t>
              </a:r>
              <a:r>
                <a:rPr lang="en-US" dirty="0">
                  <a:solidFill>
                    <a:srgbClr val="212D6A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 scheme </a:t>
              </a:r>
              <a:r>
                <a:rPr lang="en-US" dirty="0">
                  <a:solidFill>
                    <a:srgbClr val="212D6A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which is: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8692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4D96-942C-9749-FA64-81123A65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B12600-4A21-84B6-ABD9-D11E303CB411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097737-7040-2361-2732-5276C334D369}"/>
              </a:ext>
            </a:extLst>
          </p:cNvPr>
          <p:cNvSpPr/>
          <p:nvPr/>
        </p:nvSpPr>
        <p:spPr>
          <a:xfrm>
            <a:off x="11179260" y="0"/>
            <a:ext cx="1012740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7A4E63C-BBFE-C46B-21C0-3AF9567B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CFB6701-FEE5-ED94-CC9A-C2360A738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D362060D-6347-ED6E-961D-C139C50C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13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6CB525-02F2-4CDE-AF3D-2DEA3B90672E}"/>
              </a:ext>
            </a:extLst>
          </p:cNvPr>
          <p:cNvSpPr/>
          <p:nvPr/>
        </p:nvSpPr>
        <p:spPr>
          <a:xfrm>
            <a:off x="3466753" y="6881"/>
            <a:ext cx="5214701" cy="1413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(Basic Notations)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4ADB72-9044-3BC0-62DF-44BC8163A2DF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B6B1B8A6-F236-51C6-B0A7-25BE71126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3E6ADB97-C78C-2A05-3901-2C25F13E7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905EE-703F-54B6-0958-BFCF2DC377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6198083"/>
                  </p:ext>
                </p:extLst>
              </p:nvPr>
            </p:nvGraphicFramePr>
            <p:xfrm>
              <a:off x="2032000" y="1690688"/>
              <a:ext cx="8128000" cy="441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0709750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13769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/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/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Notations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1118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Plain text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322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Private key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10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Public key of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355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public keys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6121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Ciphertext of the plain text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:r>
                            <a:rPr lang="en-US" sz="16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(encryption)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eqArr>
                                  <m:eqArr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&amp;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&amp;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eqAr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15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ciphertexts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𝑠𝑢𝑚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𝑠𝑢𝑚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644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Partial</a:t>
                          </a:r>
                          <a:r>
                            <a:rPr lang="en-US" baseline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decryption of</a:t>
                          </a: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device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8577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plain texts </a:t>
                          </a:r>
                          <a:r>
                            <a:rPr lang="en-US" sz="16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(decryption)</a:t>
                          </a:r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≈ 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3287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905EE-703F-54B6-0958-BFCF2DC377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6198083"/>
                  </p:ext>
                </p:extLst>
              </p:nvPr>
            </p:nvGraphicFramePr>
            <p:xfrm>
              <a:off x="2032000" y="1690688"/>
              <a:ext cx="8128000" cy="441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0709750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13769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/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/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Notations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1118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" t="-108197" r="-100300" b="-9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108197" r="-300" b="-9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322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" t="-208197" r="-100300" b="-8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208197" r="-300" b="-8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10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" t="-308197" r="-100300" b="-7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308197" r="-300" b="-7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355984"/>
                      </a:ext>
                    </a:extLst>
                  </a:tr>
                  <a:tr h="6529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public keys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232710" r="-300" b="-3514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6121775"/>
                      </a:ext>
                    </a:extLst>
                  </a:tr>
                  <a:tr h="883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" t="-245517" r="-100300" b="-159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245517" r="-300" b="-1593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15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ciphertexts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821311" r="-300" b="-2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644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0" t="-921311" r="-100300" b="-1786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921311" r="-300" b="-1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857780"/>
                      </a:ext>
                    </a:extLst>
                  </a:tr>
                  <a:tr h="6529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plain texts </a:t>
                          </a:r>
                          <a:r>
                            <a:rPr lang="en-US" sz="16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(decryption)</a:t>
                          </a:r>
                          <a:endParaRPr lang="en-US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50" t="-582243" r="-300" b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3287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E941B0E6-3160-4D85-A29C-BCD75F1A4089}"/>
              </a:ext>
            </a:extLst>
          </p:cNvPr>
          <p:cNvSpPr/>
          <p:nvPr/>
        </p:nvSpPr>
        <p:spPr>
          <a:xfrm>
            <a:off x="6359704" y="3955438"/>
            <a:ext cx="236305" cy="67809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76E9E1-C921-AF3C-95C4-5371C615F7F5}"/>
                  </a:ext>
                </a:extLst>
              </p:cNvPr>
              <p:cNvSpPr txBox="1"/>
              <p:nvPr/>
            </p:nvSpPr>
            <p:spPr>
              <a:xfrm>
                <a:off x="10102920" y="3859403"/>
                <a:ext cx="1226050" cy="661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76E9E1-C921-AF3C-95C4-5371C615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920" y="3859403"/>
                <a:ext cx="1226050" cy="661078"/>
              </a:xfrm>
              <a:prstGeom prst="rect">
                <a:avLst/>
              </a:prstGeom>
              <a:blipFill>
                <a:blip r:embed="rId6"/>
                <a:stretch>
                  <a:fillRect r="-498" b="-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FAC4DCC-DFAA-FBC6-5BFC-1DA3E4FC7B51}"/>
              </a:ext>
            </a:extLst>
          </p:cNvPr>
          <p:cNvSpPr txBox="1"/>
          <p:nvPr/>
        </p:nvSpPr>
        <p:spPr>
          <a:xfrm>
            <a:off x="10160000" y="4525546"/>
            <a:ext cx="165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Homomorphic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273244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9158-5B29-935D-5F44-75EDE046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88A881-4B04-6CA7-4850-22977C5BE246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6477FF-EC6E-DDE2-CB4C-4AFC9E500C36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2CEC0EDE-6A95-5F85-D399-28E0CDCC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B611D3E-E380-4056-F992-9714FD07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7E1E9802-C970-7076-3DA1-4517D4CE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14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5E053-6874-B842-DF61-9E7E6094DD97}"/>
              </a:ext>
            </a:extLst>
          </p:cNvPr>
          <p:cNvSpPr/>
          <p:nvPr/>
        </p:nvSpPr>
        <p:spPr>
          <a:xfrm>
            <a:off x="3016745" y="6881"/>
            <a:ext cx="6158511" cy="1291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(Public Keys Aggregation)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C253CD-EE41-331E-D5FD-A2984FD04AEC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08C0F60D-9961-3BAF-8975-B22A70246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3007AB6F-23A6-E981-A82A-4B8AACFBCC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874622A-4116-8658-3B81-689332500050}"/>
              </a:ext>
            </a:extLst>
          </p:cNvPr>
          <p:cNvSpPr/>
          <p:nvPr/>
        </p:nvSpPr>
        <p:spPr>
          <a:xfrm>
            <a:off x="1824247" y="2368003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CB5793-D4D2-667E-C0E9-29F36AA9E104}"/>
              </a:ext>
            </a:extLst>
          </p:cNvPr>
          <p:cNvSpPr/>
          <p:nvPr/>
        </p:nvSpPr>
        <p:spPr>
          <a:xfrm>
            <a:off x="1824247" y="381033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E175CA-BD25-3B7D-CB7B-7A9DD36E5AA0}"/>
              </a:ext>
            </a:extLst>
          </p:cNvPr>
          <p:cNvCxnSpPr>
            <a:stCxn id="2" idx="6"/>
          </p:cNvCxnSpPr>
          <p:nvPr/>
        </p:nvCxnSpPr>
        <p:spPr>
          <a:xfrm flipV="1">
            <a:off x="3206236" y="2591407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485729-6BE8-98AB-4807-0BFE305401DF}"/>
              </a:ext>
            </a:extLst>
          </p:cNvPr>
          <p:cNvCxnSpPr/>
          <p:nvPr/>
        </p:nvCxnSpPr>
        <p:spPr>
          <a:xfrm flipV="1">
            <a:off x="3206236" y="4033733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E90D06-23F9-3B7E-66B6-E09DAC54CDDD}"/>
                  </a:ext>
                </a:extLst>
              </p:cNvPr>
              <p:cNvSpPr txBox="1"/>
              <p:nvPr/>
            </p:nvSpPr>
            <p:spPr>
              <a:xfrm>
                <a:off x="3982091" y="2399527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E90D06-23F9-3B7E-66B6-E09DAC54C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91" y="2399527"/>
                <a:ext cx="4797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E72704-641B-7B2C-E86A-D6D3A9A0BF4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461805" y="2584193"/>
            <a:ext cx="1071570" cy="847435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ACD0AF-5EE3-A223-A2F7-5F6824F830E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4461805" y="3431628"/>
            <a:ext cx="1071570" cy="56336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C8BB4E-EC9F-BE9A-3FA9-02F54861CA8E}"/>
                  </a:ext>
                </a:extLst>
              </p:cNvPr>
              <p:cNvSpPr txBox="1"/>
              <p:nvPr/>
            </p:nvSpPr>
            <p:spPr>
              <a:xfrm>
                <a:off x="3982091" y="3810330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C8BB4E-EC9F-BE9A-3FA9-02F54861C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91" y="3810330"/>
                <a:ext cx="4797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0C623-AA4E-F676-9AA3-91BF6C7019E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230145" y="3426372"/>
            <a:ext cx="763166" cy="262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B3CC1A-68F6-B6C1-4843-4CFEA2EC54B8}"/>
                  </a:ext>
                </a:extLst>
              </p:cNvPr>
              <p:cNvSpPr txBox="1"/>
              <p:nvPr/>
            </p:nvSpPr>
            <p:spPr>
              <a:xfrm>
                <a:off x="8882396" y="3226357"/>
                <a:ext cx="1879315" cy="38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B3CC1A-68F6-B6C1-4843-4CFEA2EC5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396" y="3226357"/>
                <a:ext cx="1879315" cy="381643"/>
              </a:xfrm>
              <a:prstGeom prst="rect">
                <a:avLst/>
              </a:prstGeom>
              <a:blipFill>
                <a:blip r:embed="rId7"/>
                <a:stretch>
                  <a:fillRect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4CE9FB1-6169-8017-4671-1BE0792CBCBF}"/>
              </a:ext>
            </a:extLst>
          </p:cNvPr>
          <p:cNvSpPr txBox="1"/>
          <p:nvPr/>
        </p:nvSpPr>
        <p:spPr>
          <a:xfrm>
            <a:off x="5533375" y="3241706"/>
            <a:ext cx="269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Aggregated public keys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890C3-49AA-2EA7-08A6-A3E00BA194D7}"/>
              </a:ext>
            </a:extLst>
          </p:cNvPr>
          <p:cNvSpPr txBox="1"/>
          <p:nvPr/>
        </p:nvSpPr>
        <p:spPr>
          <a:xfrm>
            <a:off x="2209800" y="4998473"/>
            <a:ext cx="8592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Aggregated public keys </a:t>
            </a: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from all clients are required to encrypt the message. </a:t>
            </a:r>
          </a:p>
        </p:txBody>
      </p:sp>
    </p:spTree>
    <p:extLst>
      <p:ext uri="{BB962C8B-B14F-4D97-AF65-F5344CB8AC3E}">
        <p14:creationId xmlns:p14="http://schemas.microsoft.com/office/powerpoint/2010/main" val="60988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8286-FD9A-555A-F3C3-F4A09C72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3A16C28-4710-1025-6A96-464444247BFC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AA504B-05DF-A9D1-8CA7-8341A27EB2AE}"/>
              </a:ext>
            </a:extLst>
          </p:cNvPr>
          <p:cNvSpPr/>
          <p:nvPr/>
        </p:nvSpPr>
        <p:spPr>
          <a:xfrm>
            <a:off x="11179260" y="0"/>
            <a:ext cx="1012740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7B4F6A2-FA79-4F84-AC57-2F5890EE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87104686-E03B-639D-41B1-E8A0AF05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00C8F742-CEA6-406F-6056-439A270B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15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E3DB5-5E3E-D564-5355-4A16226345B6}"/>
              </a:ext>
            </a:extLst>
          </p:cNvPr>
          <p:cNvSpPr/>
          <p:nvPr/>
        </p:nvSpPr>
        <p:spPr>
          <a:xfrm>
            <a:off x="3016745" y="6881"/>
            <a:ext cx="6158511" cy="1291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(Ciphertext Aggregation)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011C69-2777-794F-69D1-87037B1A3782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708B03D8-1719-23A4-126A-01E8DA40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D184C0DC-AF1D-CC86-2522-1D587D88B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8310B12-1661-CE4D-C02A-970B2ABE03DC}"/>
              </a:ext>
            </a:extLst>
          </p:cNvPr>
          <p:cNvSpPr/>
          <p:nvPr/>
        </p:nvSpPr>
        <p:spPr>
          <a:xfrm>
            <a:off x="838200" y="2583133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EA37A1-8F21-9D14-BBF5-BADFC236E724}"/>
              </a:ext>
            </a:extLst>
          </p:cNvPr>
          <p:cNvSpPr/>
          <p:nvPr/>
        </p:nvSpPr>
        <p:spPr>
          <a:xfrm>
            <a:off x="838200" y="402546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55722A-92EA-0DFF-330F-4409574FA99C}"/>
              </a:ext>
            </a:extLst>
          </p:cNvPr>
          <p:cNvCxnSpPr>
            <a:stCxn id="3" idx="6"/>
          </p:cNvCxnSpPr>
          <p:nvPr/>
        </p:nvCxnSpPr>
        <p:spPr>
          <a:xfrm flipV="1">
            <a:off x="2220189" y="2806537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0D932A-7222-2509-527E-40409C02F6F3}"/>
              </a:ext>
            </a:extLst>
          </p:cNvPr>
          <p:cNvCxnSpPr/>
          <p:nvPr/>
        </p:nvCxnSpPr>
        <p:spPr>
          <a:xfrm flipV="1">
            <a:off x="2220189" y="4248863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E29C1B-0FFA-8338-9A98-4ACE84BF285B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6130801" y="2838060"/>
            <a:ext cx="1071570" cy="847435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20355D-83BC-77C5-B8FB-4AD846A3FF51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130801" y="3685495"/>
            <a:ext cx="1071570" cy="56336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9C24274-DC27-8A83-D0D7-3547BCAAA0B4}"/>
              </a:ext>
            </a:extLst>
          </p:cNvPr>
          <p:cNvSpPr/>
          <p:nvPr/>
        </p:nvSpPr>
        <p:spPr>
          <a:xfrm>
            <a:off x="7202371" y="346209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DB008B-2917-4D06-F5C3-5F5A68C8D91E}"/>
              </a:ext>
            </a:extLst>
          </p:cNvPr>
          <p:cNvCxnSpPr>
            <a:stCxn id="29" idx="6"/>
          </p:cNvCxnSpPr>
          <p:nvPr/>
        </p:nvCxnSpPr>
        <p:spPr>
          <a:xfrm flipV="1">
            <a:off x="8584360" y="3685494"/>
            <a:ext cx="779980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0224CB-652D-1524-A921-85A6A4C53117}"/>
                  </a:ext>
                </a:extLst>
              </p:cNvPr>
              <p:cNvSpPr txBox="1"/>
              <p:nvPr/>
            </p:nvSpPr>
            <p:spPr>
              <a:xfrm>
                <a:off x="9313584" y="3487747"/>
                <a:ext cx="2551314" cy="672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rgbClr val="212D6A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𝑐𝑡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agg</m:t>
                        </m:r>
                      </m:sub>
                    </m:sSub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𝑐𝑡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𝑐𝑡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rgbClr val="212D6A"/>
                  </a:solidFill>
                </a:endParaRPr>
              </a:p>
              <a:p>
                <a:r>
                  <a:rPr lang="en-US" b="0" dirty="0">
                    <a:solidFill>
                      <a:srgbClr val="212D6A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0224CB-652D-1524-A921-85A6A4C53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584" y="3487747"/>
                <a:ext cx="2551314" cy="672492"/>
              </a:xfrm>
              <a:prstGeom prst="rect">
                <a:avLst/>
              </a:prstGeom>
              <a:blipFill>
                <a:blip r:embed="rId5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DB5953-186A-79F4-D67C-E8FF8394F6F5}"/>
                  </a:ext>
                </a:extLst>
              </p:cNvPr>
              <p:cNvSpPr txBox="1"/>
              <p:nvPr/>
            </p:nvSpPr>
            <p:spPr>
              <a:xfrm>
                <a:off x="2996044" y="2552627"/>
                <a:ext cx="3134757" cy="429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DB5953-186A-79F4-D67C-E8FF8394F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044" y="2552627"/>
                <a:ext cx="3134757" cy="429413"/>
              </a:xfrm>
              <a:prstGeom prst="rect">
                <a:avLst/>
              </a:prstGeom>
              <a:blipFill>
                <a:blip r:embed="rId6"/>
                <a:stretch>
                  <a:fillRect r="-310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C773DA-6AFB-53FE-32CE-8B7675CC3EA8}"/>
                  </a:ext>
                </a:extLst>
              </p:cNvPr>
              <p:cNvSpPr txBox="1"/>
              <p:nvPr/>
            </p:nvSpPr>
            <p:spPr>
              <a:xfrm>
                <a:off x="2961243" y="4025075"/>
                <a:ext cx="3134757" cy="446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C773DA-6AFB-53FE-32CE-8B7675CC3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43" y="4025075"/>
                <a:ext cx="3134757" cy="446020"/>
              </a:xfrm>
              <a:prstGeom prst="rect">
                <a:avLst/>
              </a:prstGeom>
              <a:blipFill>
                <a:blip r:embed="rId7"/>
                <a:stretch>
                  <a:fillRect r="-3307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28A01E-7DF8-309C-05DE-1EFF979F3453}"/>
                  </a:ext>
                </a:extLst>
              </p:cNvPr>
              <p:cNvSpPr txBox="1"/>
              <p:nvPr/>
            </p:nvSpPr>
            <p:spPr>
              <a:xfrm>
                <a:off x="7893365" y="5200906"/>
                <a:ext cx="3080011" cy="3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28A01E-7DF8-309C-05DE-1EFF979F3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365" y="5200906"/>
                <a:ext cx="3080011" cy="369588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BC3821-BEB3-C617-2212-FE9A30444FC7}"/>
                  </a:ext>
                </a:extLst>
              </p:cNvPr>
              <p:cNvSpPr txBox="1"/>
              <p:nvPr/>
            </p:nvSpPr>
            <p:spPr>
              <a:xfrm>
                <a:off x="1012740" y="5180364"/>
                <a:ext cx="822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BC3821-BEB3-C617-2212-FE9A3044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40" y="5180364"/>
                <a:ext cx="82240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5DEBE1C9-4880-86C8-27D1-0E503B37C0FD}"/>
              </a:ext>
            </a:extLst>
          </p:cNvPr>
          <p:cNvSpPr txBox="1"/>
          <p:nvPr/>
        </p:nvSpPr>
        <p:spPr>
          <a:xfrm>
            <a:off x="1832900" y="5212434"/>
            <a:ext cx="632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sent back to the clients to compute their partial decryption </a:t>
            </a:r>
          </a:p>
        </p:txBody>
      </p:sp>
    </p:spTree>
    <p:extLst>
      <p:ext uri="{BB962C8B-B14F-4D97-AF65-F5344CB8AC3E}">
        <p14:creationId xmlns:p14="http://schemas.microsoft.com/office/powerpoint/2010/main" val="52145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103E-B381-895E-A515-264D4558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CC6985-7277-0F7A-1244-BB00FBF9AC39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4C7CEE-DAA4-1FAF-1F25-85BF9A6C3E5B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BDEBD9E-0603-D329-347D-CC47922E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77652657-04F7-E36A-A924-E787BEF2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4E3FC64F-9543-6BFD-4C10-3978F8E6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16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C23694-CD93-C8FA-4EA7-C9CBDCAACDB0}"/>
              </a:ext>
            </a:extLst>
          </p:cNvPr>
          <p:cNvSpPr/>
          <p:nvPr/>
        </p:nvSpPr>
        <p:spPr>
          <a:xfrm>
            <a:off x="3024180" y="6881"/>
            <a:ext cx="6143641" cy="1434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(Collaborative </a:t>
            </a:r>
            <a:r>
              <a:rPr lang="en-US" sz="36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Decryption</a:t>
            </a: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D4401A-BB1E-21D6-0F70-BD7661843227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593F8699-80E5-8FF6-AF4E-FAF155F27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2EC71A3F-A021-88DC-5898-70078EE89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9229682-086B-39B3-61A7-8BA9BD1DC38E}"/>
              </a:ext>
            </a:extLst>
          </p:cNvPr>
          <p:cNvSpPr/>
          <p:nvPr/>
        </p:nvSpPr>
        <p:spPr>
          <a:xfrm>
            <a:off x="2338461" y="246047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7FF716-BD1E-2BE9-338F-9B31D16951D7}"/>
              </a:ext>
            </a:extLst>
          </p:cNvPr>
          <p:cNvSpPr/>
          <p:nvPr/>
        </p:nvSpPr>
        <p:spPr>
          <a:xfrm>
            <a:off x="2338461" y="3902797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8FAEBD-3156-DB5A-841D-81913F73D5F7}"/>
              </a:ext>
            </a:extLst>
          </p:cNvPr>
          <p:cNvCxnSpPr>
            <a:cxnSpLocks/>
            <a:stCxn id="3" idx="6"/>
          </p:cNvCxnSpPr>
          <p:nvPr/>
        </p:nvCxnSpPr>
        <p:spPr>
          <a:xfrm flipV="1">
            <a:off x="3720450" y="2683874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C1B3FC-1351-487F-D7E2-4EDEDF1135A7}"/>
              </a:ext>
            </a:extLst>
          </p:cNvPr>
          <p:cNvCxnSpPr>
            <a:cxnSpLocks/>
          </p:cNvCxnSpPr>
          <p:nvPr/>
        </p:nvCxnSpPr>
        <p:spPr>
          <a:xfrm flipV="1">
            <a:off x="3720450" y="4126200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C8C4EAE-7A1F-31B0-CD00-70F5A86EC2F2}"/>
                  </a:ext>
                </a:extLst>
              </p:cNvPr>
              <p:cNvSpPr txBox="1"/>
              <p:nvPr/>
            </p:nvSpPr>
            <p:spPr>
              <a:xfrm>
                <a:off x="4496305" y="2491994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C8C4EAE-7A1F-31B0-CD00-70F5A86E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305" y="2491994"/>
                <a:ext cx="4797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71119B-9F9F-30AE-6806-EB766AFA7C9E}"/>
              </a:ext>
            </a:extLst>
          </p:cNvPr>
          <p:cNvCxnSpPr>
            <a:cxnSpLocks/>
            <a:stCxn id="27" idx="3"/>
            <a:endCxn id="30" idx="2"/>
          </p:cNvCxnSpPr>
          <p:nvPr/>
        </p:nvCxnSpPr>
        <p:spPr>
          <a:xfrm>
            <a:off x="4976019" y="2676660"/>
            <a:ext cx="1071570" cy="847435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23510B-762C-2BB2-F73A-E54FCCFB3BA6}"/>
              </a:ext>
            </a:extLst>
          </p:cNvPr>
          <p:cNvCxnSpPr>
            <a:cxnSpLocks/>
            <a:stCxn id="31" idx="3"/>
            <a:endCxn id="30" idx="2"/>
          </p:cNvCxnSpPr>
          <p:nvPr/>
        </p:nvCxnSpPr>
        <p:spPr>
          <a:xfrm flipV="1">
            <a:off x="4976019" y="3524095"/>
            <a:ext cx="1071570" cy="56336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0CB4C2D-54BC-116A-BF97-5DD79CB9CF85}"/>
              </a:ext>
            </a:extLst>
          </p:cNvPr>
          <p:cNvSpPr/>
          <p:nvPr/>
        </p:nvSpPr>
        <p:spPr>
          <a:xfrm>
            <a:off x="6047589" y="330069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C49501-F0FE-3EBC-72F8-3A6B1FA7886E}"/>
                  </a:ext>
                </a:extLst>
              </p:cNvPr>
              <p:cNvSpPr txBox="1"/>
              <p:nvPr/>
            </p:nvSpPr>
            <p:spPr>
              <a:xfrm>
                <a:off x="4496305" y="3902797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C49501-F0FE-3EBC-72F8-3A6B1FA7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305" y="3902797"/>
                <a:ext cx="4797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B8CA98-D66B-2556-9B0A-2727EA4768B2}"/>
              </a:ext>
            </a:extLst>
          </p:cNvPr>
          <p:cNvCxnSpPr>
            <a:cxnSpLocks/>
            <a:stCxn id="30" idx="6"/>
          </p:cNvCxnSpPr>
          <p:nvPr/>
        </p:nvCxnSpPr>
        <p:spPr>
          <a:xfrm flipV="1">
            <a:off x="7429578" y="3524094"/>
            <a:ext cx="779980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012381-B2F0-6E7A-2A7B-FC690B84C7E5}"/>
                  </a:ext>
                </a:extLst>
              </p:cNvPr>
              <p:cNvSpPr txBox="1"/>
              <p:nvPr/>
            </p:nvSpPr>
            <p:spPr>
              <a:xfrm>
                <a:off x="7974225" y="3333272"/>
                <a:ext cx="1879315" cy="38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012381-B2F0-6E7A-2A7B-FC690B84C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225" y="3333272"/>
                <a:ext cx="1879315" cy="3816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54F9ADC-9AEE-0B2D-9F1F-74B990165F32}"/>
              </a:ext>
            </a:extLst>
          </p:cNvPr>
          <p:cNvSpPr txBox="1"/>
          <p:nvPr/>
        </p:nvSpPr>
        <p:spPr>
          <a:xfrm>
            <a:off x="2601515" y="4595468"/>
            <a:ext cx="69889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All </a:t>
            </a:r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Partial Decryption</a:t>
            </a:r>
            <a:r>
              <a:rPr lang="en-US" sz="2000" b="1" dirty="0">
                <a:solidFill>
                  <a:srgbClr val="212D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from all clients are required for decryption which solve the mentioned security risks. </a:t>
            </a:r>
            <a:r>
              <a:rPr lang="en-US" sz="2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However, the decryption becomes impossible if one key share is missing.</a:t>
            </a:r>
          </a:p>
        </p:txBody>
      </p:sp>
    </p:spTree>
    <p:extLst>
      <p:ext uri="{BB962C8B-B14F-4D97-AF65-F5344CB8AC3E}">
        <p14:creationId xmlns:p14="http://schemas.microsoft.com/office/powerpoint/2010/main" val="1698087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DB21-9D82-A682-E229-D0B7C10B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8E1BF0-89F6-B721-8874-7DD917103480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F6CB6B-5E24-0604-B639-F4CFAE2FC104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7B102BE3-24E5-5B72-5074-FF645514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64E867D2-4258-E0AE-3557-78217DD5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360B3A69-79B3-39D8-CBA2-0E9BAEAF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17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CFE96-5E1F-53EA-E311-0369DC7627E1}"/>
              </a:ext>
            </a:extLst>
          </p:cNvPr>
          <p:cNvSpPr/>
          <p:nvPr/>
        </p:nvSpPr>
        <p:spPr>
          <a:xfrm>
            <a:off x="3024180" y="6881"/>
            <a:ext cx="6143641" cy="1434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(Collaborative </a:t>
            </a:r>
            <a:r>
              <a:rPr lang="en-US" sz="36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Decryption</a:t>
            </a: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01722C-E24D-CB61-0C98-B575F49A0A43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8F399D4B-A9C0-79FF-E442-AD0FA8250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F6764D4C-CF48-F4EE-7F1A-F9EC4B04E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88153B0-42C8-9E08-0C01-C2896A000756}"/>
              </a:ext>
            </a:extLst>
          </p:cNvPr>
          <p:cNvSpPr/>
          <p:nvPr/>
        </p:nvSpPr>
        <p:spPr>
          <a:xfrm>
            <a:off x="1049988" y="259061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E55570-1D5E-DEA4-2F9C-01F51AA4E082}"/>
              </a:ext>
            </a:extLst>
          </p:cNvPr>
          <p:cNvSpPr/>
          <p:nvPr/>
        </p:nvSpPr>
        <p:spPr>
          <a:xfrm>
            <a:off x="1049988" y="4032937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B2FF41-8FE1-4BD3-4A4A-E39DD0C805AD}"/>
              </a:ext>
            </a:extLst>
          </p:cNvPr>
          <p:cNvCxnSpPr>
            <a:cxnSpLocks/>
            <a:stCxn id="3" idx="6"/>
          </p:cNvCxnSpPr>
          <p:nvPr/>
        </p:nvCxnSpPr>
        <p:spPr>
          <a:xfrm flipV="1">
            <a:off x="2431977" y="2814014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442FA-02EB-2EE8-A507-08B6C30E4058}"/>
              </a:ext>
            </a:extLst>
          </p:cNvPr>
          <p:cNvCxnSpPr>
            <a:cxnSpLocks/>
          </p:cNvCxnSpPr>
          <p:nvPr/>
        </p:nvCxnSpPr>
        <p:spPr>
          <a:xfrm flipV="1">
            <a:off x="2431977" y="4256340"/>
            <a:ext cx="775856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BA0A98-9CA7-082C-5B02-96A246359436}"/>
                  </a:ext>
                </a:extLst>
              </p:cNvPr>
              <p:cNvSpPr txBox="1"/>
              <p:nvPr/>
            </p:nvSpPr>
            <p:spPr>
              <a:xfrm>
                <a:off x="3207832" y="2622134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BA0A98-9CA7-082C-5B02-96A24635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32" y="2622134"/>
                <a:ext cx="4797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C2E44C-7AB1-78C4-D3FE-3783230B5B7B}"/>
              </a:ext>
            </a:extLst>
          </p:cNvPr>
          <p:cNvCxnSpPr>
            <a:cxnSpLocks/>
            <a:stCxn id="27" idx="3"/>
            <a:endCxn id="30" idx="2"/>
          </p:cNvCxnSpPr>
          <p:nvPr/>
        </p:nvCxnSpPr>
        <p:spPr>
          <a:xfrm>
            <a:off x="3687546" y="2806800"/>
            <a:ext cx="1071570" cy="847435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2DD90A-E787-563C-0389-AE3553023CA0}"/>
              </a:ext>
            </a:extLst>
          </p:cNvPr>
          <p:cNvCxnSpPr>
            <a:cxnSpLocks/>
            <a:stCxn id="31" idx="3"/>
            <a:endCxn id="30" idx="2"/>
          </p:cNvCxnSpPr>
          <p:nvPr/>
        </p:nvCxnSpPr>
        <p:spPr>
          <a:xfrm flipV="1">
            <a:off x="3687546" y="3654235"/>
            <a:ext cx="1071570" cy="56336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8908CD5-158A-497B-AAC0-15C9C987C562}"/>
              </a:ext>
            </a:extLst>
          </p:cNvPr>
          <p:cNvSpPr/>
          <p:nvPr/>
        </p:nvSpPr>
        <p:spPr>
          <a:xfrm>
            <a:off x="4759116" y="3430830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9AEB62-75B8-018B-5D97-7E47E893FDAF}"/>
                  </a:ext>
                </a:extLst>
              </p:cNvPr>
              <p:cNvSpPr txBox="1"/>
              <p:nvPr/>
            </p:nvSpPr>
            <p:spPr>
              <a:xfrm>
                <a:off x="3207832" y="4032937"/>
                <a:ext cx="4797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9AEB62-75B8-018B-5D97-7E47E893F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32" y="4032937"/>
                <a:ext cx="4797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FB275D-5C96-0B71-37A2-DBF9993EAA10}"/>
              </a:ext>
            </a:extLst>
          </p:cNvPr>
          <p:cNvCxnSpPr>
            <a:cxnSpLocks/>
            <a:stCxn id="30" idx="6"/>
          </p:cNvCxnSpPr>
          <p:nvPr/>
        </p:nvCxnSpPr>
        <p:spPr>
          <a:xfrm flipV="1">
            <a:off x="6141105" y="3654234"/>
            <a:ext cx="779980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062562-7556-F742-00B8-F1106C8BF0A9}"/>
                  </a:ext>
                </a:extLst>
              </p:cNvPr>
              <p:cNvSpPr txBox="1"/>
              <p:nvPr/>
            </p:nvSpPr>
            <p:spPr>
              <a:xfrm>
                <a:off x="6954102" y="3276636"/>
                <a:ext cx="3872348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062562-7556-F742-00B8-F1106C8BF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102" y="3276636"/>
                <a:ext cx="3872348" cy="6592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619E17F-925C-8CA2-03E0-A45333F54C9F}"/>
              </a:ext>
            </a:extLst>
          </p:cNvPr>
          <p:cNvSpPr txBox="1"/>
          <p:nvPr/>
        </p:nvSpPr>
        <p:spPr>
          <a:xfrm>
            <a:off x="2424718" y="5176896"/>
            <a:ext cx="7027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Decryption is done only on server side; </a:t>
            </a:r>
          </a:p>
          <a:p>
            <a:pPr algn="ctr"/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Clients can’t decrypt the aggregated message independently</a:t>
            </a:r>
            <a:r>
              <a:rPr lang="en-US" sz="2000" dirty="0">
                <a:solidFill>
                  <a:srgbClr val="212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8109ABF-0EFB-C6F4-171C-A6F9946643F0}"/>
              </a:ext>
            </a:extLst>
          </p:cNvPr>
          <p:cNvCxnSpPr>
            <a:cxnSpLocks/>
            <a:stCxn id="43" idx="3"/>
            <a:endCxn id="3" idx="2"/>
          </p:cNvCxnSpPr>
          <p:nvPr/>
        </p:nvCxnSpPr>
        <p:spPr>
          <a:xfrm flipH="1" flipV="1">
            <a:off x="1049988" y="2814015"/>
            <a:ext cx="9776462" cy="792263"/>
          </a:xfrm>
          <a:prstGeom prst="bentConnector5">
            <a:avLst>
              <a:gd name="adj1" fmla="val -2338"/>
              <a:gd name="adj2" fmla="val -164946"/>
              <a:gd name="adj3" fmla="val 103720"/>
            </a:avLst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9B9740-0AE9-EC00-78D9-40D8B962F089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83269" y="4256341"/>
            <a:ext cx="366719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57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087F-B45E-7880-A595-CD8ED327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0ECF79-ACCF-2AF2-19B2-78B693B1EC5E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67BA72-3F78-1FBF-C177-D0E9ABBABDFF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0A48680-4CF6-E433-2009-09619C5E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8B6B5DB0-CF88-6113-4B7B-D25DBAEA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20B8453E-D061-CBCF-23C3-32A75524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18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F8D3DD-DCD1-7540-2963-5C1E7D3A5A7C}"/>
              </a:ext>
            </a:extLst>
          </p:cNvPr>
          <p:cNvSpPr/>
          <p:nvPr/>
        </p:nvSpPr>
        <p:spPr>
          <a:xfrm>
            <a:off x="3024180" y="6881"/>
            <a:ext cx="6143641" cy="1434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xMK CKKS (Problematics) 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AD108E-ADC3-848A-140A-566E31F687D6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075A71E5-15C4-2419-0E15-A6C3A2A37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0A1CAF9B-4E63-6CF4-9CA4-DA09E6AB7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0EECF5-A0F8-B24E-FB52-4D2D7FC3DC70}"/>
              </a:ext>
            </a:extLst>
          </p:cNvPr>
          <p:cNvSpPr/>
          <p:nvPr/>
        </p:nvSpPr>
        <p:spPr>
          <a:xfrm>
            <a:off x="546410" y="3474013"/>
            <a:ext cx="2111462" cy="365125"/>
          </a:xfrm>
          <a:prstGeom prst="rect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xMK CKKS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4CBD2-2011-764D-CC8A-9B7EFB6F62B3}"/>
              </a:ext>
            </a:extLst>
          </p:cNvPr>
          <p:cNvSpPr/>
          <p:nvPr/>
        </p:nvSpPr>
        <p:spPr>
          <a:xfrm>
            <a:off x="3085771" y="4177089"/>
            <a:ext cx="5107696" cy="365125"/>
          </a:xfrm>
          <a:prstGeom prst="rect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All clients required for decryption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9AD88-F90A-7954-D96B-C39489E0375F}"/>
              </a:ext>
            </a:extLst>
          </p:cNvPr>
          <p:cNvSpPr/>
          <p:nvPr/>
        </p:nvSpPr>
        <p:spPr>
          <a:xfrm>
            <a:off x="3085773" y="2738605"/>
            <a:ext cx="5107696" cy="365125"/>
          </a:xfrm>
          <a:prstGeom prst="rect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Decryption happens on server side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528FAA-96ED-DE09-5DAA-5B63F8780A35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2657872" y="2921168"/>
            <a:ext cx="427901" cy="735408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F7EA61-F1D2-F07C-7053-42B6DBF32030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657872" y="3656576"/>
            <a:ext cx="427899" cy="703076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03882A7-3C02-88A1-ACBF-1999A26F85F9}"/>
              </a:ext>
            </a:extLst>
          </p:cNvPr>
          <p:cNvSpPr/>
          <p:nvPr/>
        </p:nvSpPr>
        <p:spPr>
          <a:xfrm>
            <a:off x="8193469" y="2568539"/>
            <a:ext cx="417131" cy="2095928"/>
          </a:xfrm>
          <a:prstGeom prst="rightBrac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27554C-DC54-7005-0AAD-375EB02B417C}"/>
              </a:ext>
            </a:extLst>
          </p:cNvPr>
          <p:cNvSpPr txBox="1"/>
          <p:nvPr/>
        </p:nvSpPr>
        <p:spPr>
          <a:xfrm>
            <a:off x="8771288" y="3103730"/>
            <a:ext cx="2421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 objective </a:t>
            </a:r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of this research is to solve these issues.</a:t>
            </a:r>
          </a:p>
        </p:txBody>
      </p:sp>
    </p:spTree>
    <p:extLst>
      <p:ext uri="{BB962C8B-B14F-4D97-AF65-F5344CB8AC3E}">
        <p14:creationId xmlns:p14="http://schemas.microsoft.com/office/powerpoint/2010/main" val="2857848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8144-0F01-0C80-017E-C3069A61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513875-FC6E-94AE-36C8-F4781837077E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0A732-7F32-91F7-F865-16F2EB99C90E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1995BA3C-3CDD-71C2-E457-E02DF85C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814E0B40-49AD-67E6-783F-764A957A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A369CCE5-57D7-A8E3-5B16-3BA1AF6C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19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81048-9EBD-DB46-7759-95CA2528AD35}"/>
              </a:ext>
            </a:extLst>
          </p:cNvPr>
          <p:cNvSpPr/>
          <p:nvPr/>
        </p:nvSpPr>
        <p:spPr>
          <a:xfrm>
            <a:off x="3024180" y="6881"/>
            <a:ext cx="6143641" cy="1434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(DF)</a:t>
            </a:r>
            <a:endParaRPr lang="en-US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CF09AF-3641-9A41-E8A0-3E43993B2640}"/>
              </a:ext>
            </a:extLst>
          </p:cNvPr>
          <p:cNvCxnSpPr>
            <a:cxnSpLocks/>
          </p:cNvCxnSpPr>
          <p:nvPr/>
        </p:nvCxnSpPr>
        <p:spPr>
          <a:xfrm flipH="1">
            <a:off x="4478873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CC652666-3057-7AFA-A72A-96C7A5C1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200D000A-4255-BAAA-CE81-7FD343925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237B28A-5C4A-8EFD-AA4F-5AB5F46229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1899967"/>
                  </p:ext>
                </p:extLst>
              </p:nvPr>
            </p:nvGraphicFramePr>
            <p:xfrm>
              <a:off x="2032000" y="2316480"/>
              <a:ext cx="8128000" cy="239179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Private modulus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Public modulus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l-GR" sz="2000" b="0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Ciphertext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Secret element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237B28A-5C4A-8EFD-AA4F-5AB5F46229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1899967"/>
                  </p:ext>
                </p:extLst>
              </p:nvPr>
            </p:nvGraphicFramePr>
            <p:xfrm>
              <a:off x="2032000" y="2316480"/>
              <a:ext cx="8128000" cy="239179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50" t="-109231" r="-2249" b="-4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Private modulus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50" t="-209231" r="-2249" b="-3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41059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Public modulus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50" t="-295588" r="-2249" b="-216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Ciphertext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50" t="-413846" r="-2249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Secret element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50" t="-513846" r="-2249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3090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62AC-04F5-3B20-04CE-7DD7536B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8A13D1-7637-946A-642A-C802A5A2B947}"/>
                  </a:ext>
                </a:extLst>
              </p:cNvPr>
              <p:cNvSpPr/>
              <p:nvPr/>
            </p:nvSpPr>
            <p:spPr>
              <a:xfrm>
                <a:off x="0" y="8467"/>
                <a:ext cx="12192000" cy="68580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  <a:effectLst>
                <a:outerShdw blurRad="3810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rgbClr val="D1D1D1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8A13D1-7637-946A-642A-C802A5A2B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467"/>
                <a:ext cx="12192000" cy="685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381000" dist="38100" algn="l" rotWithShape="0">
                  <a:prstClr val="black">
                    <a:alpha val="3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E58D276-11E5-7E72-5828-69AFCA587390}"/>
              </a:ext>
            </a:extLst>
          </p:cNvPr>
          <p:cNvSpPr/>
          <p:nvPr/>
        </p:nvSpPr>
        <p:spPr>
          <a:xfrm>
            <a:off x="11179260" y="0"/>
            <a:ext cx="1012740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2301F1DC-660A-D015-FEE7-5E75BCD2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370A8A30-E979-11C9-BE81-F45CC8A5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9BCCA33F-67CF-FEF0-1158-F77996F6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20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2674B-7103-F9F4-0F8F-AC98EBD7E209}"/>
              </a:ext>
            </a:extLst>
          </p:cNvPr>
          <p:cNvSpPr/>
          <p:nvPr/>
        </p:nvSpPr>
        <p:spPr>
          <a:xfrm>
            <a:off x="2760968" y="6881"/>
            <a:ext cx="4114800" cy="1434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(DF)</a:t>
            </a:r>
            <a:endParaRPr lang="en-US" sz="36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A5AE6F-8CEE-DF5D-D90D-EC8460C56753}"/>
              </a:ext>
            </a:extLst>
          </p:cNvPr>
          <p:cNvCxnSpPr>
            <a:cxnSpLocks/>
          </p:cNvCxnSpPr>
          <p:nvPr/>
        </p:nvCxnSpPr>
        <p:spPr>
          <a:xfrm flipH="1">
            <a:off x="3302006" y="1435285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B3A6C280-7DB4-259F-81BC-265C92BF0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3D000526-EF9F-A3AB-8FC7-F23082836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34F6A5-AB7E-0707-D65A-4EA906A2D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8895851"/>
                  </p:ext>
                </p:extLst>
              </p:nvPr>
            </p:nvGraphicFramePr>
            <p:xfrm>
              <a:off x="6993829" y="133448"/>
              <a:ext cx="4381776" cy="165455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90888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2190888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254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254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oMath>
                            </m:oMathPara>
                          </a14:m>
                          <a:endParaRPr lang="en-US" sz="1200" b="0" dirty="0">
                            <a:solidFill>
                              <a:srgbClr val="212D6A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254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Private modulus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212D6A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262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Public modulus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l-GR" sz="1200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212D6A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254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Ciphertext dimension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212D6A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254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Secret element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212D6A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34F6A5-AB7E-0707-D65A-4EA906A2D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8895851"/>
                  </p:ext>
                </p:extLst>
              </p:nvPr>
            </p:nvGraphicFramePr>
            <p:xfrm>
              <a:off x="6993829" y="133448"/>
              <a:ext cx="4381776" cy="165455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90888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2190888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Security 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389" t="-108696" r="-3889" b="-42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Private modulus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389" t="-213333" r="-3889" b="-33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28295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Public modulus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389" t="-306522" r="-3889" b="-230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Ciphertext dimension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389" t="-406522" r="-3889" b="-130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rgbClr val="212D6A"/>
                              </a:solidFill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Secret element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1389" t="-517778" r="-3889" b="-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ED698F7-53FC-B59E-2D77-88ECAA59A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407093"/>
                  </p:ext>
                </p:extLst>
              </p:nvPr>
            </p:nvGraphicFramePr>
            <p:xfrm>
              <a:off x="2032000" y="1880656"/>
              <a:ext cx="8128000" cy="454475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Symbol/formula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Plain 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212D6A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Decomposition of the Plain 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12D6A"/>
                              </a:solidFill>
                              <a:effectLst/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rgbClr val="212D6A"/>
                              </a:solidFill>
                              <a:effectLst/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]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solidFill>
                                <a:srgbClr val="212D6A"/>
                              </a:solidFill>
                              <a:effectLst/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Secret key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  <m:r>
                                <a:rPr lang="en-US" sz="1800" b="0" i="1" smtClean="0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=[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212D6A"/>
                              </a:solidFill>
                              <a:effectLst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212D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212D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212D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solidFill>
                                <a:srgbClr val="212D6A"/>
                              </a:solidFill>
                              <a:effectLst/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Ciphertext </a:t>
                          </a:r>
                          <a:r>
                            <a:rPr lang="en-US" sz="1600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(encryption)</a:t>
                          </a: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𝑐𝑡</m:t>
                                </m:r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Inverse secret key </a:t>
                          </a:r>
                          <a:r>
                            <a:rPr lang="en-US" sz="1600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(decryption)</a:t>
                          </a: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𝑖𝑛𝑣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=[</m:t>
                                </m:r>
                                <m:sSubSup>
                                  <m:sSubSupPr>
                                    <m:ctrlPr>
                                      <a:rPr lang="en-US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𝑛𝑣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𝑐𝑡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nary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ciphertext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𝑐𝑡</m:t>
                                </m:r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0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0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0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0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0">
                                                    <a:solidFill>
                                                      <a:srgbClr val="212D6A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212D6A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212D6A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𝑚𝑜𝑑</m:t>
                                    </m:r>
                                    <m:r>
                                      <a:rPr lang="en-US" i="0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solidFill>
                                          <a:srgbClr val="212D6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504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ED698F7-53FC-B59E-2D77-88ECAA59A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407093"/>
                  </p:ext>
                </p:extLst>
              </p:nvPr>
            </p:nvGraphicFramePr>
            <p:xfrm>
              <a:off x="2032000" y="1880656"/>
              <a:ext cx="8128000" cy="454475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44626622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6447556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Symbol/formula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7183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Plain 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108197" r="-2249" b="-1142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599393"/>
                      </a:ext>
                    </a:extLst>
                  </a:tr>
                  <a:tr h="938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Decomposition of the Plain 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82468" r="-2249" b="-35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79250"/>
                      </a:ext>
                    </a:extLst>
                  </a:tr>
                  <a:tr h="3709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Secret key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460656" r="-2249" b="-7901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164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Ciphertext </a:t>
                          </a:r>
                          <a:r>
                            <a:rPr lang="en-US" sz="1600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(encryption)</a:t>
                          </a: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560656" r="-2249" b="-6901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5231358"/>
                      </a:ext>
                    </a:extLst>
                  </a:tr>
                  <a:tr h="9471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Inverse secret key </a:t>
                          </a:r>
                          <a:r>
                            <a:rPr lang="en-US" sz="1600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(decryption)</a:t>
                          </a:r>
                          <a:endParaRPr lang="en-US" dirty="0">
                            <a:solidFill>
                              <a:srgbClr val="212D6A"/>
                            </a:solidFill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258333" r="-2249" b="-169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777124"/>
                      </a:ext>
                    </a:extLst>
                  </a:tr>
                  <a:tr h="11761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212D6A"/>
                              </a:solidFill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Aggregated ciphertext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750" t="-289637" r="-2249" b="-373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504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9F0E67-7EBD-3F21-593B-F0890E7D619E}"/>
              </a:ext>
            </a:extLst>
          </p:cNvPr>
          <p:cNvSpPr txBox="1"/>
          <p:nvPr/>
        </p:nvSpPr>
        <p:spPr>
          <a:xfrm>
            <a:off x="10160000" y="5372989"/>
            <a:ext cx="1697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Homomorphic</a:t>
            </a:r>
          </a:p>
          <a:p>
            <a:r>
              <a:rPr lang="en-US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3770A-8DD9-5CC0-ECE1-75688E2A1A42}"/>
                  </a:ext>
                </a:extLst>
              </p:cNvPr>
              <p:cNvSpPr txBox="1"/>
              <p:nvPr/>
            </p:nvSpPr>
            <p:spPr>
              <a:xfrm>
                <a:off x="10160000" y="3513565"/>
                <a:ext cx="144068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 defTabSz="9144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must have and inverse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3770A-8DD9-5CC0-ECE1-75688E2A1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3513565"/>
                <a:ext cx="1440686" cy="923330"/>
              </a:xfrm>
              <a:prstGeom prst="rect">
                <a:avLst/>
              </a:prstGeom>
              <a:blipFill>
                <a:blip r:embed="rId8"/>
                <a:stretch>
                  <a:fillRect l="-3814" t="-3289" r="-3390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90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AC75E-105F-3789-B4C6-98127ADE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B2A1FC-3C9D-5B07-C91E-657A9A4390FE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B1BCCC-1BB3-5AB7-AA9A-3F8B5E9F3AC0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E661285-E046-8AD5-79FB-B7008042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670FF3E-12FB-F103-0637-504DF7F3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83B078A1-C534-6A6E-10F5-14C7AD07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21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C8EAC-99CF-84BA-7C8D-D91392622BF7}"/>
              </a:ext>
            </a:extLst>
          </p:cNvPr>
          <p:cNvSpPr/>
          <p:nvPr/>
        </p:nvSpPr>
        <p:spPr>
          <a:xfrm>
            <a:off x="3131959" y="3789"/>
            <a:ext cx="5928082" cy="12364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 (KS)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C4059E-8DBD-77E4-4C55-C82E257E315E}"/>
              </a:ext>
            </a:extLst>
          </p:cNvPr>
          <p:cNvCxnSpPr>
            <a:cxnSpLocks/>
          </p:cNvCxnSpPr>
          <p:nvPr/>
        </p:nvCxnSpPr>
        <p:spPr>
          <a:xfrm flipH="1">
            <a:off x="4478873" y="1240234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2CF3411C-A3D4-96EE-C448-DCB059237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BFC69E13-BFE2-1382-808F-1E5760564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B79A90-4F73-FA4E-A4AC-571D1977A63B}"/>
              </a:ext>
            </a:extLst>
          </p:cNvPr>
          <p:cNvSpPr txBox="1"/>
          <p:nvPr/>
        </p:nvSpPr>
        <p:spPr>
          <a:xfrm>
            <a:off x="2268564" y="1868632"/>
            <a:ext cx="8301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Switching (KS)</a:t>
            </a:r>
            <a:r>
              <a:rPr lang="en-US" dirty="0">
                <a:solidFill>
                  <a:srgbClr val="212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is a technique that transforms data encrypted under one key into an equivalent ciphertext under another key without decrypting it.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6FB84-6151-E4B3-F1B2-BFB97CB18667}"/>
              </a:ext>
            </a:extLst>
          </p:cNvPr>
          <p:cNvSpPr txBox="1"/>
          <p:nvPr/>
        </p:nvSpPr>
        <p:spPr>
          <a:xfrm>
            <a:off x="2268564" y="2644317"/>
            <a:ext cx="8301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Switched key</a:t>
            </a:r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remains secure due to the Hardness of Learning with Error (LWE)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A191FE-D80B-B98A-5164-0EC414E11EDF}"/>
                  </a:ext>
                </a:extLst>
              </p:cNvPr>
              <p:cNvSpPr txBox="1"/>
              <p:nvPr/>
            </p:nvSpPr>
            <p:spPr>
              <a:xfrm>
                <a:off x="950048" y="3951011"/>
                <a:ext cx="2444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A191FE-D80B-B98A-5164-0EC414E11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48" y="3951011"/>
                <a:ext cx="244449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321950-7ED3-84ED-94B0-376294BC4E78}"/>
                  </a:ext>
                </a:extLst>
              </p:cNvPr>
              <p:cNvSpPr txBox="1"/>
              <p:nvPr/>
            </p:nvSpPr>
            <p:spPr>
              <a:xfrm>
                <a:off x="5176762" y="3968208"/>
                <a:ext cx="13225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321950-7ED3-84ED-94B0-376294BC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762" y="3968208"/>
                <a:ext cx="132259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222C29-361D-32A3-B4B0-8F2E1A50D172}"/>
                  </a:ext>
                </a:extLst>
              </p:cNvPr>
              <p:cNvSpPr txBox="1"/>
              <p:nvPr/>
            </p:nvSpPr>
            <p:spPr>
              <a:xfrm>
                <a:off x="8700268" y="3756238"/>
                <a:ext cx="1173341" cy="557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222C29-361D-32A3-B4B0-8F2E1A50D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268" y="3756238"/>
                <a:ext cx="1173341" cy="5579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A4E41E-2D90-625B-4335-7A29BBAE49BA}"/>
                  </a:ext>
                </a:extLst>
              </p:cNvPr>
              <p:cNvSpPr txBox="1"/>
              <p:nvPr/>
            </p:nvSpPr>
            <p:spPr>
              <a:xfrm>
                <a:off x="8323077" y="4436750"/>
                <a:ext cx="2918876" cy="3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𝑖𝑛𝑣𝑒𝑟𝑠𝑒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A4E41E-2D90-625B-4335-7A29BBAE4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077" y="4436750"/>
                <a:ext cx="2918876" cy="369588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54F085-5C0C-E14C-7929-8F1A7202E1C9}"/>
              </a:ext>
            </a:extLst>
          </p:cNvPr>
          <p:cNvCxnSpPr>
            <a:cxnSpLocks/>
          </p:cNvCxnSpPr>
          <p:nvPr/>
        </p:nvCxnSpPr>
        <p:spPr>
          <a:xfrm>
            <a:off x="6175522" y="4257281"/>
            <a:ext cx="0" cy="666707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3F8CE32-EAE3-FF49-952B-E3F58B52362A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4432514" y="4152873"/>
            <a:ext cx="744249" cy="883725"/>
          </a:xfrm>
          <a:prstGeom prst="bentConnector2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0E749DD-DB14-E57E-2A4E-0542D59C31C7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7862872" y="4035224"/>
            <a:ext cx="837396" cy="1253055"/>
          </a:xfrm>
          <a:prstGeom prst="bentConnector2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225B0C6-A3D4-07FB-02F2-E67A53EBFFC3}"/>
              </a:ext>
            </a:extLst>
          </p:cNvPr>
          <p:cNvSpPr txBox="1"/>
          <p:nvPr/>
        </p:nvSpPr>
        <p:spPr>
          <a:xfrm>
            <a:off x="3525841" y="5036598"/>
            <a:ext cx="129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New</a:t>
            </a:r>
          </a:p>
          <a:p>
            <a:pPr algn="ctr"/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cipher 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CFBCEF-C97A-1239-37EF-A62FAE1F1BB5}"/>
              </a:ext>
            </a:extLst>
          </p:cNvPr>
          <p:cNvSpPr txBox="1"/>
          <p:nvPr/>
        </p:nvSpPr>
        <p:spPr>
          <a:xfrm>
            <a:off x="5558575" y="5036598"/>
            <a:ext cx="129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Old </a:t>
            </a:r>
          </a:p>
          <a:p>
            <a:pPr algn="ctr"/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cipher 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58FB88-05CA-42D5-EAF1-E86721A03ED5}"/>
              </a:ext>
            </a:extLst>
          </p:cNvPr>
          <p:cNvSpPr txBox="1"/>
          <p:nvPr/>
        </p:nvSpPr>
        <p:spPr>
          <a:xfrm>
            <a:off x="7114372" y="5281751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Public matrix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ECBC31-6770-18B0-6D06-5AAC62BDCA62}"/>
              </a:ext>
            </a:extLst>
          </p:cNvPr>
          <p:cNvCxnSpPr>
            <a:cxnSpLocks/>
          </p:cNvCxnSpPr>
          <p:nvPr/>
        </p:nvCxnSpPr>
        <p:spPr>
          <a:xfrm flipV="1">
            <a:off x="7005347" y="3676449"/>
            <a:ext cx="0" cy="2146835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A2631DF-F8D9-8D3B-F0B7-72ECC732A128}"/>
              </a:ext>
            </a:extLst>
          </p:cNvPr>
          <p:cNvCxnSpPr>
            <a:cxnSpLocks/>
          </p:cNvCxnSpPr>
          <p:nvPr/>
        </p:nvCxnSpPr>
        <p:spPr>
          <a:xfrm flipV="1">
            <a:off x="3455290" y="3676449"/>
            <a:ext cx="0" cy="2146835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295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DB8B-DFFF-F7DC-E849-D06AF77C1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F31AAE-D7D9-84B8-8540-4E15A2CE0E87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28BF42-DD5E-29CF-71F9-1DD725421579}"/>
              </a:ext>
            </a:extLst>
          </p:cNvPr>
          <p:cNvSpPr/>
          <p:nvPr/>
        </p:nvSpPr>
        <p:spPr>
          <a:xfrm>
            <a:off x="11179260" y="0"/>
            <a:ext cx="1012740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C44E775-36CD-6A60-E79B-0F5AF28C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10C2556-AC3B-9560-C008-9E64D992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1F67E678-7176-A451-06D4-53761AB0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22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00525-665C-F567-829D-C8FD02802DEC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(Network)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6EED34-CF31-9156-71A9-134CA0842E0A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21C25D9D-E703-C5B2-DEBF-8C4F5773D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7BC04A11-55F6-2920-8188-03886BCAA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EB8D7F-E4B7-7C7A-105B-FE4D263E0909}"/>
                  </a:ext>
                </a:extLst>
              </p:cNvPr>
              <p:cNvSpPr txBox="1"/>
              <p:nvPr/>
            </p:nvSpPr>
            <p:spPr>
              <a:xfrm>
                <a:off x="2321891" y="5295098"/>
                <a:ext cx="6861607" cy="945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AB1D38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Compromising one key won’t affect the whole network</a:t>
                </a:r>
              </a:p>
              <a:p>
                <a:pPr marL="342900" indent="-342900">
                  <a:buClr>
                    <a:srgbClr val="AB1D38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If one client is missing, the network continue to work normally</a:t>
                </a:r>
              </a:p>
              <a:p>
                <a:pPr marL="342900" indent="-342900">
                  <a:buClr>
                    <a:srgbClr val="AB1D38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Decryption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rPr>
                          <m:t>𝑎𝑔𝑔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Happens on Client side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EB8D7F-E4B7-7C7A-105B-FE4D263E0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891" y="5295098"/>
                <a:ext cx="6861607" cy="945900"/>
              </a:xfrm>
              <a:prstGeom prst="rect">
                <a:avLst/>
              </a:prstGeom>
              <a:blipFill>
                <a:blip r:embed="rId5"/>
                <a:stretch>
                  <a:fillRect l="-800" t="-3871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15259271-35CD-D8CF-8379-1DBD62A2A2D7}"/>
              </a:ext>
            </a:extLst>
          </p:cNvPr>
          <p:cNvSpPr/>
          <p:nvPr/>
        </p:nvSpPr>
        <p:spPr>
          <a:xfrm>
            <a:off x="638698" y="1939998"/>
            <a:ext cx="1381989" cy="847435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14B9D9-8A13-7DE1-96AB-8B96C78ABD9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536344" y="2564028"/>
            <a:ext cx="1273958" cy="689464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CC58067-FD6F-CC7C-AB24-CEE1B555CF5E}"/>
              </a:ext>
            </a:extLst>
          </p:cNvPr>
          <p:cNvSpPr/>
          <p:nvPr/>
        </p:nvSpPr>
        <p:spPr>
          <a:xfrm>
            <a:off x="5607914" y="3188058"/>
            <a:ext cx="1381989" cy="446809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Server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E8FBB1-D9A1-FA01-153B-F7E199961496}"/>
              </a:ext>
            </a:extLst>
          </p:cNvPr>
          <p:cNvCxnSpPr>
            <a:stCxn id="5" idx="6"/>
          </p:cNvCxnSpPr>
          <p:nvPr/>
        </p:nvCxnSpPr>
        <p:spPr>
          <a:xfrm flipV="1">
            <a:off x="6989903" y="3411462"/>
            <a:ext cx="779980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78242CFB-D4F1-CA34-3D62-457894A7AA86}"/>
              </a:ext>
            </a:extLst>
          </p:cNvPr>
          <p:cNvSpPr/>
          <p:nvPr/>
        </p:nvSpPr>
        <p:spPr>
          <a:xfrm>
            <a:off x="7769883" y="2362682"/>
            <a:ext cx="359093" cy="2097559"/>
          </a:xfrm>
          <a:prstGeom prst="leftBrac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83A62B-85A0-07F2-DB67-7C8235BEDEED}"/>
                  </a:ext>
                </a:extLst>
              </p:cNvPr>
              <p:cNvSpPr txBox="1"/>
              <p:nvPr/>
            </p:nvSpPr>
            <p:spPr>
              <a:xfrm>
                <a:off x="7952415" y="2413337"/>
                <a:ext cx="313163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212D6A"/>
                    </a:solidFill>
                  </a:rPr>
                  <a:t>Perform KS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12D6A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dirty="0">
                  <a:solidFill>
                    <a:srgbClr val="212D6A"/>
                  </a:solidFill>
                </a:endParaRPr>
              </a:p>
              <a:p>
                <a:endParaRPr lang="en-US" dirty="0">
                  <a:solidFill>
                    <a:srgbClr val="212D6A"/>
                  </a:solidFill>
                </a:endParaRPr>
              </a:p>
              <a:p>
                <a:endParaRPr lang="en-US" dirty="0">
                  <a:solidFill>
                    <a:srgbClr val="212D6A"/>
                  </a:solidFill>
                </a:endParaRPr>
              </a:p>
              <a:p>
                <a:r>
                  <a:rPr lang="en-US" dirty="0">
                    <a:solidFill>
                      <a:srgbClr val="212D6A"/>
                    </a:solidFill>
                  </a:rPr>
                  <a:t>Aggregate the new ciphertexts </a:t>
                </a:r>
              </a:p>
              <a:p>
                <a:endParaRPr lang="en-US" dirty="0">
                  <a:solidFill>
                    <a:srgbClr val="212D6A"/>
                  </a:solidFill>
                </a:endParaRPr>
              </a:p>
              <a:p>
                <a:endParaRPr lang="en-US" dirty="0">
                  <a:solidFill>
                    <a:srgbClr val="212D6A"/>
                  </a:solidFill>
                </a:endParaRPr>
              </a:p>
              <a:p>
                <a:r>
                  <a:rPr lang="en-US" dirty="0">
                    <a:solidFill>
                      <a:srgbClr val="212D6A"/>
                    </a:solidFill>
                  </a:rPr>
                  <a:t>Performs KS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12D6A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2D6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83A62B-85A0-07F2-DB67-7C8235BED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2415" y="2413337"/>
                <a:ext cx="3131634" cy="2031325"/>
              </a:xfrm>
              <a:prstGeom prst="rect">
                <a:avLst/>
              </a:prstGeom>
              <a:blipFill>
                <a:blip r:embed="rId6"/>
                <a:stretch>
                  <a:fillRect l="-1754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B73D2B-94B1-875F-31AA-980AFBDEF631}"/>
                  </a:ext>
                </a:extLst>
              </p:cNvPr>
              <p:cNvSpPr txBox="1"/>
              <p:nvPr/>
            </p:nvSpPr>
            <p:spPr>
              <a:xfrm>
                <a:off x="8019322" y="3572370"/>
                <a:ext cx="3533981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𝐴𝑔𝑔𝑟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B73D2B-94B1-875F-31AA-980AFBDEF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322" y="3572370"/>
                <a:ext cx="3533981" cy="299569"/>
              </a:xfrm>
              <a:prstGeom prst="rect">
                <a:avLst/>
              </a:prstGeom>
              <a:blipFill>
                <a:blip r:embed="rId7"/>
                <a:stretch>
                  <a:fillRect l="-1209" r="-207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9E5DECB-2695-CB19-2C7D-44C9B7E27ACB}"/>
              </a:ext>
            </a:extLst>
          </p:cNvPr>
          <p:cNvSpPr/>
          <p:nvPr/>
        </p:nvSpPr>
        <p:spPr>
          <a:xfrm>
            <a:off x="638698" y="4081289"/>
            <a:ext cx="1381989" cy="847435"/>
          </a:xfrm>
          <a:prstGeom prst="ellipse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Client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E5262A-C1BA-0BA4-DF97-C5AB188FE712}"/>
                  </a:ext>
                </a:extLst>
              </p:cNvPr>
              <p:cNvSpPr txBox="1"/>
              <p:nvPr/>
            </p:nvSpPr>
            <p:spPr>
              <a:xfrm>
                <a:off x="1943631" y="2626317"/>
                <a:ext cx="2786789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E5262A-C1BA-0BA4-DF97-C5AB188FE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31" y="2626317"/>
                <a:ext cx="2786789" cy="300788"/>
              </a:xfrm>
              <a:prstGeom prst="rect">
                <a:avLst/>
              </a:prstGeom>
              <a:blipFill>
                <a:blip r:embed="rId8"/>
                <a:stretch>
                  <a:fillRect l="-219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D811CF-F5D9-D9B6-B448-E9C7B5D7C100}"/>
              </a:ext>
            </a:extLst>
          </p:cNvPr>
          <p:cNvCxnSpPr/>
          <p:nvPr/>
        </p:nvCxnSpPr>
        <p:spPr>
          <a:xfrm flipH="1">
            <a:off x="1943631" y="2564028"/>
            <a:ext cx="2592713" cy="0"/>
          </a:xfrm>
          <a:prstGeom prst="lin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EEBF5D-338B-8E5F-39D7-75F9E1C8F50C}"/>
                  </a:ext>
                </a:extLst>
              </p:cNvPr>
              <p:cNvSpPr txBox="1"/>
              <p:nvPr/>
            </p:nvSpPr>
            <p:spPr>
              <a:xfrm>
                <a:off x="1919254" y="4098962"/>
                <a:ext cx="2875112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EEBF5D-338B-8E5F-39D7-75F9E1C8F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254" y="4098962"/>
                <a:ext cx="2875112" cy="3931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3DA18C-FB48-831C-42A7-0946DF525C00}"/>
              </a:ext>
            </a:extLst>
          </p:cNvPr>
          <p:cNvCxnSpPr>
            <a:cxnSpLocks/>
          </p:cNvCxnSpPr>
          <p:nvPr/>
        </p:nvCxnSpPr>
        <p:spPr>
          <a:xfrm>
            <a:off x="2020687" y="4444662"/>
            <a:ext cx="2807247" cy="0"/>
          </a:xfrm>
          <a:prstGeom prst="lin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8ED11C9-B3C3-CE6B-C241-05631A802C9C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4827934" y="3569433"/>
            <a:ext cx="982368" cy="875229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B68C5E-197A-0DA9-4F78-E8EC37A702C1}"/>
              </a:ext>
            </a:extLst>
          </p:cNvPr>
          <p:cNvCxnSpPr/>
          <p:nvPr/>
        </p:nvCxnSpPr>
        <p:spPr>
          <a:xfrm flipH="1">
            <a:off x="4917424" y="3634867"/>
            <a:ext cx="1159727" cy="1115553"/>
          </a:xfrm>
          <a:prstGeom prst="lin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9DF599-F3FD-4745-09CE-ADEF2F118E73}"/>
              </a:ext>
            </a:extLst>
          </p:cNvPr>
          <p:cNvCxnSpPr/>
          <p:nvPr/>
        </p:nvCxnSpPr>
        <p:spPr>
          <a:xfrm flipH="1" flipV="1">
            <a:off x="4536344" y="2274849"/>
            <a:ext cx="1540807" cy="913209"/>
          </a:xfrm>
          <a:prstGeom prst="line">
            <a:avLst/>
          </a:prstGeom>
          <a:ln w="127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7209B9-5DEA-C163-F7A6-FF97725C39AD}"/>
              </a:ext>
            </a:extLst>
          </p:cNvPr>
          <p:cNvCxnSpPr>
            <a:cxnSpLocks/>
          </p:cNvCxnSpPr>
          <p:nvPr/>
        </p:nvCxnSpPr>
        <p:spPr>
          <a:xfrm flipH="1">
            <a:off x="2020687" y="2274849"/>
            <a:ext cx="2515657" cy="0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9B629F-9334-04C1-9A1C-AE4419DFB580}"/>
              </a:ext>
            </a:extLst>
          </p:cNvPr>
          <p:cNvCxnSpPr/>
          <p:nvPr/>
        </p:nvCxnSpPr>
        <p:spPr>
          <a:xfrm flipH="1">
            <a:off x="1919254" y="4750420"/>
            <a:ext cx="2998170" cy="0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580D14-543C-3A78-9F0B-006532950604}"/>
                  </a:ext>
                </a:extLst>
              </p:cNvPr>
              <p:cNvSpPr txBox="1"/>
              <p:nvPr/>
            </p:nvSpPr>
            <p:spPr>
              <a:xfrm>
                <a:off x="2205040" y="1949025"/>
                <a:ext cx="2395271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580D14-543C-3A78-9F0B-006532950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040" y="1949025"/>
                <a:ext cx="2395271" cy="299569"/>
              </a:xfrm>
              <a:prstGeom prst="rect">
                <a:avLst/>
              </a:prstGeom>
              <a:blipFill>
                <a:blip r:embed="rId10"/>
                <a:stretch>
                  <a:fillRect l="-2290" t="-2041" r="-3308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2F19172-21DA-C7BA-C0BA-376F275A8965}"/>
                  </a:ext>
                </a:extLst>
              </p:cNvPr>
              <p:cNvSpPr txBox="1"/>
              <p:nvPr/>
            </p:nvSpPr>
            <p:spPr>
              <a:xfrm>
                <a:off x="2080879" y="4756609"/>
                <a:ext cx="2476768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𝐸𝑛𝑐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2F19172-21DA-C7BA-C0BA-376F275A8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879" y="4756609"/>
                <a:ext cx="2476768" cy="299569"/>
              </a:xfrm>
              <a:prstGeom prst="rect">
                <a:avLst/>
              </a:prstGeom>
              <a:blipFill>
                <a:blip r:embed="rId11"/>
                <a:stretch>
                  <a:fillRect l="-737" r="-147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48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5CF2-3CC3-85F3-A2A4-9F397549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4C4674-EEF4-23BB-A11F-EA2240559AE1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0E89B6-DE76-1D60-9D62-B0D5AE1DB14D}"/>
              </a:ext>
            </a:extLst>
          </p:cNvPr>
          <p:cNvSpPr/>
          <p:nvPr/>
        </p:nvSpPr>
        <p:spPr>
          <a:xfrm>
            <a:off x="11179260" y="0"/>
            <a:ext cx="1012740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89D340E-8B43-7B13-35E1-5E26C3BD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1891DE55-0301-C0AE-2E4D-001686D4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AF462D95-2BA3-B70C-ED29-C2BAC6C6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23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40EA7-1900-803E-D6C5-8E986322D134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(KS crypt analysis)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46C2FE-3BCD-44C7-99BB-31B3DE5563B1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9E7AECAF-7CBB-44AD-FAED-6DB64A61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5626F318-E91F-0201-DF50-DB6DA64E8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D2CC40-0BC9-DB18-206D-67F7DA112A98}"/>
              </a:ext>
            </a:extLst>
          </p:cNvPr>
          <p:cNvSpPr txBox="1"/>
          <p:nvPr/>
        </p:nvSpPr>
        <p:spPr>
          <a:xfrm>
            <a:off x="441200" y="1931860"/>
            <a:ext cx="1314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 Clients: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C18900-334A-8335-A60E-BBE0446EA8AC}"/>
                  </a:ext>
                </a:extLst>
              </p:cNvPr>
              <p:cNvSpPr txBox="1"/>
              <p:nvPr/>
            </p:nvSpPr>
            <p:spPr>
              <a:xfrm>
                <a:off x="2114269" y="1931860"/>
                <a:ext cx="7963462" cy="412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C18900-334A-8335-A60E-BBE0446EA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69" y="1931860"/>
                <a:ext cx="7963462" cy="412485"/>
              </a:xfrm>
              <a:prstGeom prst="rect">
                <a:avLst/>
              </a:prstGeom>
              <a:blipFill>
                <a:blip r:embed="rId5"/>
                <a:stretch>
                  <a:fillRect l="-230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E88F09-DA89-5579-E551-77CC621973F0}"/>
                  </a:ext>
                </a:extLst>
              </p:cNvPr>
              <p:cNvSpPr txBox="1"/>
              <p:nvPr/>
            </p:nvSpPr>
            <p:spPr>
              <a:xfrm>
                <a:off x="2024062" y="2585518"/>
                <a:ext cx="8143876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E88F09-DA89-5579-E551-77CC6219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62" y="2585518"/>
                <a:ext cx="8143876" cy="504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E60F85-5045-A7B6-7ACA-DAAD372ABDBD}"/>
                  </a:ext>
                </a:extLst>
              </p:cNvPr>
              <p:cNvSpPr txBox="1"/>
              <p:nvPr/>
            </p:nvSpPr>
            <p:spPr>
              <a:xfrm>
                <a:off x="1532329" y="3239176"/>
                <a:ext cx="9127343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AB1D38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AB1D3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AB1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E60F85-5045-A7B6-7ACA-DAAD372AB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329" y="3239176"/>
                <a:ext cx="9127343" cy="5048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A60536-4DFB-B0A6-B1FE-FD670DD4CAFC}"/>
                  </a:ext>
                </a:extLst>
              </p:cNvPr>
              <p:cNvSpPr txBox="1"/>
              <p:nvPr/>
            </p:nvSpPr>
            <p:spPr>
              <a:xfrm>
                <a:off x="1532329" y="3892834"/>
                <a:ext cx="9127343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𝑖𝑛𝑣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A60536-4DFB-B0A6-B1FE-FD670DD4C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329" y="3892834"/>
                <a:ext cx="9127343" cy="504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CFAF57-F2F6-A786-41CD-7FBFD3043F90}"/>
                  </a:ext>
                </a:extLst>
              </p:cNvPr>
              <p:cNvSpPr txBox="1"/>
              <p:nvPr/>
            </p:nvSpPr>
            <p:spPr>
              <a:xfrm>
                <a:off x="3044427" y="4473821"/>
                <a:ext cx="61031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𝑐𝑙𝑖𝑒𝑛𝑡𝑠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𝑢𝑛𝑘𝑛𝑜𝑤𝑛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𝑠𝑎𝑓𝑒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CFAF57-F2F6-A786-41CD-7FBFD304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27" y="4473821"/>
                <a:ext cx="6103146" cy="276999"/>
              </a:xfrm>
              <a:prstGeom prst="rect">
                <a:avLst/>
              </a:prstGeom>
              <a:blipFill>
                <a:blip r:embed="rId9"/>
                <a:stretch>
                  <a:fillRect l="-898" t="-2222" r="-898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FC06CB-8A4C-D619-0B52-6E4565F3011C}"/>
                  </a:ext>
                </a:extLst>
              </p:cNvPr>
              <p:cNvSpPr txBox="1"/>
              <p:nvPr/>
            </p:nvSpPr>
            <p:spPr>
              <a:xfrm>
                <a:off x="2508672" y="5049034"/>
                <a:ext cx="7174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𝑐𝑙𝑖𝑒𝑛𝑡𝑠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→(2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𝑢𝑛𝑘𝑛𝑜𝑤𝑛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𝑠𝑎𝑓𝑒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FC06CB-8A4C-D619-0B52-6E4565F30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672" y="5049034"/>
                <a:ext cx="7174656" cy="276999"/>
              </a:xfrm>
              <a:prstGeom prst="rect">
                <a:avLst/>
              </a:prstGeom>
              <a:blipFill>
                <a:blip r:embed="rId10"/>
                <a:stretch>
                  <a:fillRect l="-680" t="-2174" r="-76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ED2522-459C-507A-F37D-0EEFDD65A763}"/>
                  </a:ext>
                </a:extLst>
              </p:cNvPr>
              <p:cNvSpPr txBox="1"/>
              <p:nvPr/>
            </p:nvSpPr>
            <p:spPr>
              <a:xfrm>
                <a:off x="9747645" y="5070790"/>
                <a:ext cx="13672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𝑖𝑛𝑑𝑢𝑐𝑡𝑖𝑜𝑛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ED2522-459C-507A-F37D-0EEFDD65A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645" y="5070790"/>
                <a:ext cx="1367297" cy="276999"/>
              </a:xfrm>
              <a:prstGeom prst="rect">
                <a:avLst/>
              </a:prstGeom>
              <a:blipFill>
                <a:blip r:embed="rId11"/>
                <a:stretch>
                  <a:fillRect l="-5804" t="-2222" r="-4018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9C1E64-427C-4BFF-2E3D-7B49FCA7DA69}"/>
                  </a:ext>
                </a:extLst>
              </p:cNvPr>
              <p:cNvSpPr txBox="1"/>
              <p:nvPr/>
            </p:nvSpPr>
            <p:spPr>
              <a:xfrm>
                <a:off x="8812115" y="186345"/>
                <a:ext cx="1173341" cy="557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212D6A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9C1E64-427C-4BFF-2E3D-7B49FCA7D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115" y="186345"/>
                <a:ext cx="1173341" cy="5579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F40B09-D7B3-B539-DF90-6657AFEF6FAE}"/>
                  </a:ext>
                </a:extLst>
              </p:cNvPr>
              <p:cNvSpPr txBox="1"/>
              <p:nvPr/>
            </p:nvSpPr>
            <p:spPr>
              <a:xfrm>
                <a:off x="8434924" y="866857"/>
                <a:ext cx="2918876" cy="3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𝑖𝑛𝑣𝑒𝑟𝑠𝑒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F40B09-D7B3-B539-DF90-6657AFEF6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924" y="866857"/>
                <a:ext cx="2918876" cy="369588"/>
              </a:xfrm>
              <a:prstGeom prst="rect">
                <a:avLst/>
              </a:prstGeom>
              <a:blipFill>
                <a:blip r:embed="rId13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877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436B-8F18-1A48-E14F-50ECF55C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737F04-6B5E-2957-A2A3-50AA2BCCEF82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91D922-BE26-D2FB-1B06-0D9C308BC234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DA6B0E6-2AA0-6407-24D5-A7CEE9A3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17CFDA0-0BF1-7873-05A3-B3D303E8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06550782-C175-293F-5146-391284D5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24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99CAA-90E0-19F7-51A7-38F574CC3A5E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 (Issue)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82ACF5-8662-DC14-15FD-A6162D2CF1AD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440BCAC0-BF0F-38A8-9E43-35D625CC4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4A1C2CBF-8BD6-BCC0-DF9B-5207F6A180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A8EBA4-7B25-811E-E3AB-44A02BB8A242}"/>
                  </a:ext>
                </a:extLst>
              </p:cNvPr>
              <p:cNvSpPr txBox="1"/>
              <p:nvPr/>
            </p:nvSpPr>
            <p:spPr>
              <a:xfrm>
                <a:off x="3567926" y="2157121"/>
                <a:ext cx="34094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000" b="1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b="1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𝒑𝒐𝒍𝒚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r>
                        <a:rPr lang="en-US" sz="2000" b="1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000" b="1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A8EBA4-7B25-811E-E3AB-44A02BB8A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926" y="2157121"/>
                <a:ext cx="3409485" cy="400110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BBF1B1-3F27-CC80-6BB2-7EABF96997A4}"/>
                  </a:ext>
                </a:extLst>
              </p:cNvPr>
              <p:cNvSpPr txBox="1"/>
              <p:nvPr/>
            </p:nvSpPr>
            <p:spPr>
              <a:xfrm>
                <a:off x="1618786" y="3154331"/>
                <a:ext cx="6094140" cy="950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360045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:"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𝑜𝑏𝑡𝑎𝑖𝑛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𝑎𝑡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𝑙𝑒𝑎𝑠𝑡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𝑜𝑛𝑒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′"</m:t>
                    </m:r>
                  </m:oMath>
                </a14:m>
                <a:r>
                  <a:rPr lang="en-US" sz="1800" dirty="0">
                    <a:solidFill>
                      <a:srgbClr val="212D6A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indent="360045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:"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𝑓𝑖𝑛𝑑𝑖𝑛𝑔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𝑎𝑛𝑑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𝑖𝑛𝑣𝑒𝑟𝑡𝑖𝑏𝑙𝑒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𝑚𝑎𝑡𝑟𝑖𝑥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(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×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𝑖𝑛</m:t>
                    </m:r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</m:t>
                        </m:r>
                        <m:r>
                          <a:rPr lang="en-US" sz="1800" i="1">
                            <a:solidFill>
                              <a:srgbClr val="212D6A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</m:t>
                        </m:r>
                      </m:sub>
                    </m:sSub>
                    <m:r>
                      <a:rPr lang="en-US" sz="1800" i="1">
                        <a:solidFill>
                          <a:srgbClr val="212D6A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"</m:t>
                    </m:r>
                  </m:oMath>
                </a14:m>
                <a:r>
                  <a:rPr lang="en-US" sz="1800" dirty="0">
                    <a:solidFill>
                      <a:srgbClr val="212D6A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BBF1B1-3F27-CC80-6BB2-7EABF9699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786" y="3154331"/>
                <a:ext cx="6094140" cy="950517"/>
              </a:xfrm>
              <a:prstGeom prst="rect">
                <a:avLst/>
              </a:prstGeom>
              <a:blipFill>
                <a:blip r:embed="rId6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77534DD-7C57-1F7A-FD59-CCF39CD362E1}"/>
              </a:ext>
            </a:extLst>
          </p:cNvPr>
          <p:cNvSpPr txBox="1"/>
          <p:nvPr/>
        </p:nvSpPr>
        <p:spPr>
          <a:xfrm>
            <a:off x="1764680" y="2168861"/>
            <a:ext cx="203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If an attacker have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054104-03C6-2CBE-248C-93E748747089}"/>
              </a:ext>
            </a:extLst>
          </p:cNvPr>
          <p:cNvSpPr txBox="1"/>
          <p:nvPr/>
        </p:nvSpPr>
        <p:spPr>
          <a:xfrm>
            <a:off x="6871009" y="2197492"/>
            <a:ext cx="34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Couples of plaintext/ciphertext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2D0EA5-FD96-30AD-8DE2-29E24E81E10A}"/>
                  </a:ext>
                </a:extLst>
              </p:cNvPr>
              <p:cNvSpPr txBox="1"/>
              <p:nvPr/>
            </p:nvSpPr>
            <p:spPr>
              <a:xfrm>
                <a:off x="1764680" y="2720712"/>
                <a:ext cx="82816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He can recover the secret key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if these two independent events are satisfied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2D0EA5-FD96-30AD-8DE2-29E24E81E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0" y="2720712"/>
                <a:ext cx="8281638" cy="369332"/>
              </a:xfrm>
              <a:prstGeom prst="rect">
                <a:avLst/>
              </a:prstGeom>
              <a:blipFill>
                <a:blip r:embed="rId7"/>
                <a:stretch>
                  <a:fillRect l="-58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>
            <a:extLst>
              <a:ext uri="{FF2B5EF4-FFF2-40B4-BE49-F238E27FC236}">
                <a16:creationId xmlns:a16="http://schemas.microsoft.com/office/drawing/2014/main" id="{36B06E69-7655-2790-BD8F-B2C1373DBABF}"/>
              </a:ext>
            </a:extLst>
          </p:cNvPr>
          <p:cNvSpPr/>
          <p:nvPr/>
        </p:nvSpPr>
        <p:spPr>
          <a:xfrm>
            <a:off x="1764680" y="3235145"/>
            <a:ext cx="223025" cy="8697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2D6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B25E4F-BD46-8CBC-F12D-D1F1E7F4DCBC}"/>
                  </a:ext>
                </a:extLst>
              </p:cNvPr>
              <p:cNvSpPr txBox="1"/>
              <p:nvPr/>
            </p:nvSpPr>
            <p:spPr>
              <a:xfrm>
                <a:off x="2393794" y="4555874"/>
                <a:ext cx="74044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𝑘𝑒𝑦</m:t>
                          </m:r>
                          <m:r>
                            <a:rPr lang="en-US" sz="24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𝑟𝑒𝑐𝑜𝑣𝑒𝑟𝑦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B25E4F-BD46-8CBC-F12D-D1F1E7F4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794" y="4555874"/>
                <a:ext cx="7404412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24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6B54-3AA8-886E-AFF2-1AF68DAD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0458AB-9F29-B263-6B8C-CA4FA89365E1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29DB30-33A0-7609-F993-1F6B85317C8D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9EDCA2EB-B540-0C5F-CCF3-2A55748A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A916A2C-E2B6-3DE3-3661-2D15FB3D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85F4CA23-6C33-E326-0F12-8697F0E2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25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A44F1B-458C-72AE-B537-D9B52DA71306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DF-KS Scheme (Issue)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33F4E1-C423-8B76-0F5A-E65B1C70941D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F84EB0EF-9C4B-D1F5-162C-1836E860D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883DDF88-9D0D-6A50-6F23-F488CF475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79D1FA2-24AE-C82C-5470-DA61A28966B1}"/>
              </a:ext>
            </a:extLst>
          </p:cNvPr>
          <p:cNvSpPr/>
          <p:nvPr/>
        </p:nvSpPr>
        <p:spPr>
          <a:xfrm>
            <a:off x="2815903" y="5329546"/>
            <a:ext cx="7142230" cy="365125"/>
          </a:xfrm>
          <a:prstGeom prst="rect">
            <a:avLst/>
          </a:prstGeom>
          <a:solidFill>
            <a:srgbClr val="AB1D38"/>
          </a:solidFill>
          <a:ln>
            <a:solidFill>
              <a:srgbClr val="212D6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E6E6E6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Vulnerable to couple plaintext/ciphertext attack 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9AF1FF-30FB-3AA7-92BB-93408290D430}"/>
                  </a:ext>
                </a:extLst>
              </p:cNvPr>
              <p:cNvSpPr txBox="1"/>
              <p:nvPr/>
            </p:nvSpPr>
            <p:spPr>
              <a:xfrm>
                <a:off x="6547424" y="2060877"/>
                <a:ext cx="3955894" cy="66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29%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9AF1FF-30FB-3AA7-92BB-93408290D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424" y="2060877"/>
                <a:ext cx="3955894" cy="6648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E5E66DD-54DE-6A89-D714-755C058B13FB}"/>
                  </a:ext>
                </a:extLst>
              </p:cNvPr>
              <p:cNvSpPr txBox="1"/>
              <p:nvPr/>
            </p:nvSpPr>
            <p:spPr>
              <a:xfrm>
                <a:off x="1688683" y="1934225"/>
                <a:ext cx="4045104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212D6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212D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0">
                                          <a:solidFill>
                                            <a:srgbClr val="212D6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212D6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212D6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i="0">
                                              <a:solidFill>
                                                <a:srgbClr val="212D6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rgbClr val="212D6A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E5E66DD-54DE-6A89-D714-755C058B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683" y="1934225"/>
                <a:ext cx="4045104" cy="972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92BD96-34CD-1868-5A3C-BD7A0D228C1E}"/>
              </a:ext>
            </a:extLst>
          </p:cNvPr>
          <p:cNvCxnSpPr>
            <a:cxnSpLocks/>
          </p:cNvCxnSpPr>
          <p:nvPr/>
        </p:nvCxnSpPr>
        <p:spPr>
          <a:xfrm flipV="1">
            <a:off x="3711235" y="2829967"/>
            <a:ext cx="0" cy="816482"/>
          </a:xfrm>
          <a:prstGeom prst="straightConnector1">
            <a:avLst/>
          </a:prstGeom>
          <a:ln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D01029-B80A-73B5-EE4C-E21BAE1B5B84}"/>
              </a:ext>
            </a:extLst>
          </p:cNvPr>
          <p:cNvCxnSpPr>
            <a:cxnSpLocks/>
          </p:cNvCxnSpPr>
          <p:nvPr/>
        </p:nvCxnSpPr>
        <p:spPr>
          <a:xfrm flipV="1">
            <a:off x="8525371" y="2725739"/>
            <a:ext cx="0" cy="893442"/>
          </a:xfrm>
          <a:prstGeom prst="straightConnector1">
            <a:avLst/>
          </a:prstGeom>
          <a:ln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0D9E9D-9C0E-655E-CA34-2368ABF78C94}"/>
                  </a:ext>
                </a:extLst>
              </p:cNvPr>
              <p:cNvSpPr txBox="1"/>
              <p:nvPr/>
            </p:nvSpPr>
            <p:spPr>
              <a:xfrm>
                <a:off x="1688683" y="3674732"/>
                <a:ext cx="42087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This formula is reference (Vogel, 2010), </a:t>
                </a:r>
              </a:p>
              <a:p>
                <a:pPr algn="ctr"/>
                <a:r>
                  <a:rPr lang="en-US" dirty="0">
                    <a:solidFill>
                      <a:srgbClr val="212D6A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take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solidFill>
                          <a:srgbClr val="212D6A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solidFill>
                    <a:srgbClr val="212D6A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0D9E9D-9C0E-655E-CA34-2368ABF7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683" y="3674732"/>
                <a:ext cx="4208718" cy="646331"/>
              </a:xfrm>
              <a:prstGeom prst="rect">
                <a:avLst/>
              </a:prstGeom>
              <a:blipFill>
                <a:blip r:embed="rId7"/>
                <a:stretch>
                  <a:fillRect t="-5660" r="-101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92824BA-56C0-AE6C-8261-F77B822682B8}"/>
              </a:ext>
            </a:extLst>
          </p:cNvPr>
          <p:cNvSpPr txBox="1"/>
          <p:nvPr/>
        </p:nvSpPr>
        <p:spPr>
          <a:xfrm>
            <a:off x="6917445" y="3705159"/>
            <a:ext cx="288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Ask me after presentation if interested why </a:t>
            </a:r>
            <a:r>
              <a:rPr lang="en-US" dirty="0">
                <a:solidFill>
                  <a:srgbClr val="AB1D38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Wingdings" panose="05000000000000000000" pitchFamily="2" charset="2"/>
              </a:rPr>
              <a:t> </a:t>
            </a:r>
            <a:endParaRPr lang="en-US" dirty="0">
              <a:solidFill>
                <a:srgbClr val="AB1D38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D94242-E5BA-D92C-030B-0AD6CEBE16C3}"/>
                  </a:ext>
                </a:extLst>
              </p:cNvPr>
              <p:cNvSpPr txBox="1"/>
              <p:nvPr/>
            </p:nvSpPr>
            <p:spPr>
              <a:xfrm>
                <a:off x="4655635" y="4469207"/>
                <a:ext cx="28807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𝑘𝑒𝑦</m:t>
                          </m:r>
                          <m:r>
                            <a:rPr lang="en-US" sz="18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solidFill>
                                <a:srgbClr val="212D6A"/>
                              </a:solidFill>
                              <a:latin typeface="Cambria Math" panose="02040503050406030204" pitchFamily="18" charset="0"/>
                            </a:rPr>
                            <m:t>𝑟𝑒𝑐𝑜𝑣𝑒𝑟𝑦</m:t>
                          </m:r>
                        </m:e>
                      </m:d>
                      <m:r>
                        <a:rPr lang="en-US" i="1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212D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29%</m:t>
                      </m:r>
                    </m:oMath>
                  </m:oMathPara>
                </a14:m>
                <a:endParaRPr lang="en-US" dirty="0">
                  <a:solidFill>
                    <a:srgbClr val="212D6A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D94242-E5BA-D92C-030B-0AD6CEBE1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635" y="4469207"/>
                <a:ext cx="288073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326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73DD-778F-A9EE-537D-AB048A4C5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2495D3-07C4-40E3-FA08-CB2DF16EFD16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30C073-3326-EA68-09E2-256265CB2DBF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0C8D87B-B7DB-6412-295B-1E60F2EE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1E0189B-CBF8-72AB-33C8-1411477C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3D10A2F6-A204-E4B6-EF03-2E8D8866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26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3007C1-0A39-F3C1-2A86-AF887CA8EBDB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8. Implementation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(FL Setup)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2213AD-684C-EE8B-168D-0A44EAF582C5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D5E85FDF-A7E6-1B83-98E6-610A1869E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D9C54110-D113-176E-E9EE-7824602B7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A5D74F-D410-9033-9BB2-60847576D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106937"/>
              </p:ext>
            </p:extLst>
          </p:nvPr>
        </p:nvGraphicFramePr>
        <p:xfrm>
          <a:off x="2032000" y="2223960"/>
          <a:ext cx="8128000" cy="3053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3519420797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34844363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FL Setup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85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PIMA Indian diabetes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74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of data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900 samples (8 features)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66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Server model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FedAVG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26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Local Model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Logistic regression with 10 epoch/client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1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Rounds 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4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 split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40% (client 1), 40% (client 2), 20% (testing data) 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72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Planned improvements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Larger dataset with Neural Network model</a:t>
                      </a:r>
                    </a:p>
                  </a:txBody>
                  <a:tcPr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28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70579-B914-70F9-6D80-D347D8D8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DB7679-318F-DC1C-807B-F465973E127F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0627F8-CFB5-B14D-9ABB-FFFB645F7A54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D5BFCD1A-8CAC-6FB0-F0FB-3DB6CF8F60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0D9255DF-CA4B-43D0-87EE-46CFC2A1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1FDE743C-5081-227F-C6B1-6901D0FF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27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66415F-6F3B-BB36-7A80-4822B66AAB1A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8. Implementation (DF-KS Setup)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F57871-7790-F0BA-52DC-D7E5E63A963B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E5084FAB-F987-6634-60F4-49F809C90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DD53372E-BCEA-F0DA-2196-263424F05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A110DA7-5F8F-19B9-858C-A4BE104ED8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416554"/>
                  </p:ext>
                </p:extLst>
              </p:nvPr>
            </p:nvGraphicFramePr>
            <p:xfrm>
              <a:off x="3323683" y="2350536"/>
              <a:ext cx="5544633" cy="318427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509488">
                      <a:extLst>
                        <a:ext uri="{9D8B030D-6E8A-4147-A177-3AD203B41FA5}">
                          <a16:colId xmlns:a16="http://schemas.microsoft.com/office/drawing/2014/main" val="3519420797"/>
                        </a:ext>
                      </a:extLst>
                    </a:gridCol>
                    <a:gridCol w="3035145">
                      <a:extLst>
                        <a:ext uri="{9D8B030D-6E8A-4147-A177-3AD203B41FA5}">
                          <a16:colId xmlns:a16="http://schemas.microsoft.com/office/drawing/2014/main" val="3484436357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DF-KS setup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985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Lato Black" panose="020F0502020204030203" pitchFamily="34" charset="0"/>
                                      <a:cs typeface="Lato Black" panose="020F050202020403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000" b="1" i="1" smtClean="0">
                                      <a:latin typeface="Cambria Math" panose="02040503050406030204" pitchFamily="18" charset="0"/>
                                      <a:ea typeface="Lato Black" panose="020F0502020204030203" pitchFamily="34" charset="0"/>
                                      <a:cs typeface="Lato Black" panose="020F0502020204030203" pitchFamily="34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Lato Black" panose="020F0502020204030203" pitchFamily="34" charset="0"/>
                                      <a:cs typeface="Lato Black" panose="020F0502020204030203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10</m:t>
                              </m:r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574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Bits number of</a:t>
                          </a:r>
                          <a:r>
                            <a:rPr lang="en-US" sz="2000" baseline="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baseline="0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𝒎</m:t>
                              </m:r>
                              <m:r>
                                <a:rPr lang="en-US" sz="2000" b="1" i="1" baseline="0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80</m:t>
                              </m:r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166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80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2635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baseline="0" dirty="0"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𝒎</m:t>
                              </m:r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𝑚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l-GR" sz="2000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λ</m:t>
                                  </m:r>
                                </m:sup>
                              </m:s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ato Light" panose="020F0502020204030203" pitchFamily="34" charset="0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Lato Light" panose="020F050202020403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Lato Light" panose="020F0502020204030203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Lato Light" panose="020F0502020204030203" pitchFamily="34" charset="0"/>
                                    </a:rPr>
                                    <m:t>200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0511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Scaling 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10</m:t>
                              </m:r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246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𝒅</m:t>
                              </m:r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[5,10,15,…,50]</m:t>
                              </m:r>
                            </m:oMath>
                          </a14:m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727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Reference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𝐷𝑜𝑚𝑖𝑛𝑔𝑜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𝐹𝑒𝑟𝑟𝑒𝑟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Lato Light" panose="020F0502020204030203" pitchFamily="34" charset="0"/>
                                  <a:cs typeface="Lato Light" panose="020F0502020204030203" pitchFamily="34" charset="0"/>
                                </a:rPr>
                                <m:t> 2002</m:t>
                              </m:r>
                            </m:oMath>
                          </a14:m>
                          <a:endParaRPr lang="en-US" sz="2000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6944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A110DA7-5F8F-19B9-858C-A4BE104ED8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416554"/>
                  </p:ext>
                </p:extLst>
              </p:nvPr>
            </p:nvGraphicFramePr>
            <p:xfrm>
              <a:off x="3323683" y="2350536"/>
              <a:ext cx="5544633" cy="318427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509488">
                      <a:extLst>
                        <a:ext uri="{9D8B030D-6E8A-4147-A177-3AD203B41FA5}">
                          <a16:colId xmlns:a16="http://schemas.microsoft.com/office/drawing/2014/main" val="3519420797"/>
                        </a:ext>
                      </a:extLst>
                    </a:gridCol>
                    <a:gridCol w="3035145">
                      <a:extLst>
                        <a:ext uri="{9D8B030D-6E8A-4147-A177-3AD203B41FA5}">
                          <a16:colId xmlns:a16="http://schemas.microsoft.com/office/drawing/2014/main" val="3484436357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DF-KS setup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98559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" t="-107692" r="-124515" b="-6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107692" r="-3012" b="-63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5740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" t="-207692" r="-124515" b="-5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207692" r="-3012" b="-53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1667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" t="-307692" r="-124515" b="-43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307692" r="-3012" b="-43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263583"/>
                      </a:ext>
                    </a:extLst>
                  </a:tr>
                  <a:tr h="4105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" t="-389706" r="-124515" b="-3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389706" r="-3012" b="-313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05114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Scaling factor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512308" r="-3012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2460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14" t="-612308" r="-124515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612308" r="-3012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72706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Reference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735" t="-712308" r="-3012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69446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5390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EF98-1740-BF92-5F46-72421D91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0E29CE-8427-1621-D2E0-8AF1527024F8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018A75-333E-AABF-8B7A-98540D35D9AD}"/>
              </a:ext>
            </a:extLst>
          </p:cNvPr>
          <p:cNvSpPr/>
          <p:nvPr/>
        </p:nvSpPr>
        <p:spPr>
          <a:xfrm>
            <a:off x="9980818" y="0"/>
            <a:ext cx="2211182" cy="6874934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845FD48-34D2-ADE4-D965-73593A92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D9EAF87-6204-1B7F-E519-69E35ADC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E5B66DE1-D321-1F30-E44D-B5E2034D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28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A3BF0-45FD-DC53-4741-F443A754D029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8. 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Implementation</a:t>
            </a: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(xMK CKKS Setup)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84A8AC-0D82-48FF-5699-5F53BEB12A42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C9531112-2515-56E9-F5D5-F8E20FA2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341BBE13-0FBA-5E72-116D-A2ED63ED5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0B749B-ABB7-1910-8202-711A506F0D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440993"/>
                  </p:ext>
                </p:extLst>
              </p:nvPr>
            </p:nvGraphicFramePr>
            <p:xfrm>
              <a:off x="3430644" y="2438400"/>
              <a:ext cx="528691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2277">
                      <a:extLst>
                        <a:ext uri="{9D8B030D-6E8A-4147-A177-3AD203B41FA5}">
                          <a16:colId xmlns:a16="http://schemas.microsoft.com/office/drawing/2014/main" val="3519420797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3484436357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1215637596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1065368310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xMK CKKS setup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985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Lato Black" panose="020F0502020204030203" pitchFamily="34" charset="0"/>
                                  <a:cs typeface="Lato Black" panose="020F0502020204030203" pitchFamily="34" charset="0"/>
                                </a:rPr>
                                <m:t>𝒏</m:t>
                              </m:r>
                            </m:oMath>
                          </a14:m>
                          <a:endParaRPr lang="en-US" sz="2000" b="1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𝐥𝐨𝐠</m:t>
                                  </m:r>
                                </m:fName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Lato Light" panose="020F0502020204030203" pitchFamily="34" charset="0"/>
                                      <a:cs typeface="Lato Light" panose="020F0502020204030203" pitchFamily="34" charset="0"/>
                                    </a:rPr>
                                    <m:t>𝒒</m:t>
                                  </m:r>
                                </m:e>
                              </m:func>
                            </m:oMath>
                          </a14:m>
                          <a:endParaRPr lang="en-US" sz="2000" b="1" dirty="0">
                            <a:latin typeface="Lato Light" panose="020F0502020204030203" pitchFamily="34" charset="0"/>
                            <a:ea typeface="Lato Light" panose="020F0502020204030203" pitchFamily="34" charset="0"/>
                            <a:cs typeface="Lato Light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Noise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574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2048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166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8256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8192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218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87091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0B749B-ABB7-1910-8202-711A506F0D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440993"/>
                  </p:ext>
                </p:extLst>
              </p:nvPr>
            </p:nvGraphicFramePr>
            <p:xfrm>
              <a:off x="3430644" y="2438400"/>
              <a:ext cx="528691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2277">
                      <a:extLst>
                        <a:ext uri="{9D8B030D-6E8A-4147-A177-3AD203B41FA5}">
                          <a16:colId xmlns:a16="http://schemas.microsoft.com/office/drawing/2014/main" val="3519420797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3484436357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1215637596"/>
                        </a:ext>
                      </a:extLst>
                    </a:gridCol>
                    <a:gridCol w="1381547">
                      <a:extLst>
                        <a:ext uri="{9D8B030D-6E8A-4147-A177-3AD203B41FA5}">
                          <a16:colId xmlns:a16="http://schemas.microsoft.com/office/drawing/2014/main" val="1065368310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xMK CKKS setup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Lato Black" panose="020F0502020204030203" pitchFamily="34" charset="0"/>
                            <a:ea typeface="Lato Black" panose="020F0502020204030203" pitchFamily="34" charset="0"/>
                            <a:cs typeface="Lato Black" panose="020F0502020204030203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B1D3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98559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2" t="-107692" r="-363298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260" t="-107692" r="-200881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Lato Black" panose="020F0502020204030203" pitchFamily="34" charset="0"/>
                              <a:ea typeface="Lato Black" panose="020F0502020204030203" pitchFamily="34" charset="0"/>
                              <a:cs typeface="Lato Black" panose="020F0502020204030203" pitchFamily="34" charset="0"/>
                            </a:rPr>
                            <a:t>Noise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5740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2048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1667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180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82560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8192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218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1048576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Lato Light" panose="020F0502020204030203" pitchFamily="34" charset="0"/>
                              <a:ea typeface="Lato Light" panose="020F0502020204030203" pitchFamily="34" charset="0"/>
                              <a:cs typeface="Lato Light" panose="020F0502020204030203" pitchFamily="34" charset="0"/>
                            </a:rPr>
                            <a:t>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12D6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87091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A7ECEF-B80E-1FD8-7F2C-0B8F3A8730A9}"/>
              </a:ext>
            </a:extLst>
          </p:cNvPr>
          <p:cNvSpPr txBox="1"/>
          <p:nvPr/>
        </p:nvSpPr>
        <p:spPr>
          <a:xfrm>
            <a:off x="3258169" y="5063576"/>
            <a:ext cx="5675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Choice of parameters reference: </a:t>
            </a:r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Microsoft SEAL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0DCCF-6EAF-8473-9823-1474453866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87" y="7008769"/>
            <a:ext cx="8662825" cy="4257488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933065E-F939-D25C-2025-58840130E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87" y="7000302"/>
            <a:ext cx="8662825" cy="42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06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A2B1-0DE4-C7E7-2829-81AD5915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C79E8-E3DE-474D-FDAD-6F64E307D6E2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42A257-4A39-999C-7CFD-C6B5A4D7D104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72F674FC-D99F-FD9D-5039-D85BAE0C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3964E3E3-F6B9-9DE3-D268-4602F2EA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6F1BF3FC-AC61-2A48-B899-0D08E540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29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C87316-0BBC-3E59-6423-0A7197A20134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9. 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Results</a:t>
            </a:r>
            <a:endParaRPr lang="fr-FR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Execution</a:t>
            </a: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Time)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0DEAD0-60F5-5D79-DDE9-E5D3FA167907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C5175A8D-5018-02F7-A7B3-ABB162D34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8C9AD0C4-D25A-4720-0B87-31038BC79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E5B1C7-17C7-BB43-5527-8092D6CDB9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87" y="1671295"/>
            <a:ext cx="8662825" cy="4257488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7F426-A980-C21F-F166-B9E572BC7F2A}"/>
              </a:ext>
            </a:extLst>
          </p:cNvPr>
          <p:cNvSpPr txBox="1"/>
          <p:nvPr/>
        </p:nvSpPr>
        <p:spPr>
          <a:xfrm>
            <a:off x="3487892" y="6016813"/>
            <a:ext cx="521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Encryption execution time for both schemes</a:t>
            </a:r>
          </a:p>
        </p:txBody>
      </p:sp>
      <p:pic>
        <p:nvPicPr>
          <p:cNvPr id="7" name="Picture 6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2D5E22EF-D883-44A7-716F-BB37FAEF78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5" y="-4520518"/>
            <a:ext cx="8690090" cy="4310523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1192C3-D3C8-649C-347F-DF966734F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955" y="-4520518"/>
            <a:ext cx="8676457" cy="4310523"/>
          </a:xfrm>
          <a:prstGeom prst="rect">
            <a:avLst/>
          </a:prstGeom>
        </p:spPr>
      </p:pic>
      <p:pic>
        <p:nvPicPr>
          <p:cNvPr id="5" name="Picture 4" descr="A graph of a graph of a number of individuals&#10;&#10;AI-generated content may be incorrect.">
            <a:extLst>
              <a:ext uri="{FF2B5EF4-FFF2-40B4-BE49-F238E27FC236}">
                <a16:creationId xmlns:a16="http://schemas.microsoft.com/office/drawing/2014/main" id="{61916339-89B5-8D9E-D842-2B2C2BD8CA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978" y="-4520518"/>
            <a:ext cx="8676067" cy="4310523"/>
          </a:xfrm>
          <a:prstGeom prst="rect">
            <a:avLst/>
          </a:prstGeom>
        </p:spPr>
      </p:pic>
      <p:pic>
        <p:nvPicPr>
          <p:cNvPr id="10" name="Picture 9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D731CD0-1C94-C850-2E5A-A7DCB3DEBA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5" y="1671296"/>
            <a:ext cx="8690090" cy="425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95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E2CC-AFCB-FCA2-C6A0-1E7DAB27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FE017C-C411-88FA-2FC2-C0A9F0977E89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5E48A4-7C3C-AAAD-3BEB-4FF0B3E4188F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62BEA3D-D4A7-2E91-A638-BB734BB1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17C0FF7-C57C-659C-B09D-F3E26FF3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AFDD22BB-C7B1-13CE-013E-59D87F7C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30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F544B-F730-2D24-B871-290D8D5DFA73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9. 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Results</a:t>
            </a:r>
            <a:endParaRPr lang="fr-FR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Execution</a:t>
            </a: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Time)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87ED6-1C95-1AD0-5FD6-50F1DDB68247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9C4775E3-A5BF-E3FF-1727-B2367FD0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885688E9-8DC9-82EC-7B45-9E66912C6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38694B-4885-0A70-26D1-77B4EFA4A40A}"/>
              </a:ext>
            </a:extLst>
          </p:cNvPr>
          <p:cNvSpPr txBox="1"/>
          <p:nvPr/>
        </p:nvSpPr>
        <p:spPr>
          <a:xfrm>
            <a:off x="3407646" y="6016813"/>
            <a:ext cx="5376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Aggregation Execution time for both schemes</a:t>
            </a:r>
          </a:p>
        </p:txBody>
      </p:sp>
      <p:pic>
        <p:nvPicPr>
          <p:cNvPr id="4" name="Picture 3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4C153B85-EBDF-1E06-8892-BE6957AF4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5" y="1706290"/>
            <a:ext cx="8690090" cy="4310523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7127EA-F0E3-912B-8D71-BBC0A87B5A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87" y="7061012"/>
            <a:ext cx="8662825" cy="4257488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7170F-D572-3F40-8064-D84B23C17D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22" y="1706291"/>
            <a:ext cx="8690090" cy="4302056"/>
          </a:xfrm>
          <a:prstGeom prst="rect">
            <a:avLst/>
          </a:prstGeom>
        </p:spPr>
      </p:pic>
      <p:pic>
        <p:nvPicPr>
          <p:cNvPr id="7" name="Picture 6" descr="A graph of a graph of a number of individuals&#10;&#10;AI-generated content may be incorrect.">
            <a:extLst>
              <a:ext uri="{FF2B5EF4-FFF2-40B4-BE49-F238E27FC236}">
                <a16:creationId xmlns:a16="http://schemas.microsoft.com/office/drawing/2014/main" id="{668B4C9C-8EF2-4FE3-8335-85050E8577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22" y="1706289"/>
            <a:ext cx="8703723" cy="4310523"/>
          </a:xfrm>
          <a:prstGeom prst="rect">
            <a:avLst/>
          </a:prstGeom>
        </p:spPr>
      </p:pic>
      <p:pic>
        <p:nvPicPr>
          <p:cNvPr id="10" name="Picture 9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E922AB1E-A8AA-7DFF-AAA3-77A28D2DF8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87" y="7069479"/>
            <a:ext cx="8676458" cy="425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1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24D9-4CF3-58DC-A88A-63ABE378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22D529-779A-448F-33CC-43E5E6FB8ADE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0E0947-20BF-CCD1-4A87-915C4D53EE62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2F499E99-5501-9168-CFFF-48154586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D17F107-2960-6B6A-D918-31DDA58A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38FAC597-4736-E4C7-7F01-FD1750B8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31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1E149-8421-4A8E-7FB7-9445D0DBC085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9. 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Results</a:t>
            </a:r>
            <a:endParaRPr lang="fr-FR" sz="44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(Memory Allocation)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8E511D-DF5D-71A7-A72C-709295DB3297}"/>
              </a:ext>
            </a:extLst>
          </p:cNvPr>
          <p:cNvCxnSpPr>
            <a:cxnSpLocks/>
          </p:cNvCxnSpPr>
          <p:nvPr/>
        </p:nvCxnSpPr>
        <p:spPr>
          <a:xfrm flipH="1">
            <a:off x="4478873" y="15289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264D8EA3-54D3-FD87-ED93-E9843C306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5AD09A87-7E84-9848-21B8-AFD942066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pic>
        <p:nvPicPr>
          <p:cNvPr id="4" name="Picture 3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188031BE-E1FD-EF20-8D45-33EF0770F3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5" y="-4480292"/>
            <a:ext cx="8690090" cy="4310523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127361-BC8E-4FE1-A4E0-363B121E0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924183"/>
              </p:ext>
            </p:extLst>
          </p:nvPr>
        </p:nvGraphicFramePr>
        <p:xfrm>
          <a:off x="1422787" y="2668270"/>
          <a:ext cx="9346426" cy="1901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5028">
                  <a:extLst>
                    <a:ext uri="{9D8B030D-6E8A-4147-A177-3AD203B41FA5}">
                      <a16:colId xmlns:a16="http://schemas.microsoft.com/office/drawing/2014/main" val="2149675174"/>
                    </a:ext>
                  </a:extLst>
                </a:gridCol>
                <a:gridCol w="1559512">
                  <a:extLst>
                    <a:ext uri="{9D8B030D-6E8A-4147-A177-3AD203B41FA5}">
                      <a16:colId xmlns:a16="http://schemas.microsoft.com/office/drawing/2014/main" val="2229069217"/>
                    </a:ext>
                  </a:extLst>
                </a:gridCol>
                <a:gridCol w="1773044">
                  <a:extLst>
                    <a:ext uri="{9D8B030D-6E8A-4147-A177-3AD203B41FA5}">
                      <a16:colId xmlns:a16="http://schemas.microsoft.com/office/drawing/2014/main" val="2536371819"/>
                    </a:ext>
                  </a:extLst>
                </a:gridCol>
                <a:gridCol w="1859388">
                  <a:extLst>
                    <a:ext uri="{9D8B030D-6E8A-4147-A177-3AD203B41FA5}">
                      <a16:colId xmlns:a16="http://schemas.microsoft.com/office/drawing/2014/main" val="2187698452"/>
                    </a:ext>
                  </a:extLst>
                </a:gridCol>
                <a:gridCol w="2319454">
                  <a:extLst>
                    <a:ext uri="{9D8B030D-6E8A-4147-A177-3AD203B41FA5}">
                      <a16:colId xmlns:a16="http://schemas.microsoft.com/office/drawing/2014/main" val="155017962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DF_KS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XMK_CKKS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19863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bit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byte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bits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Bytes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98537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plain text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512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64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640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80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0852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cipher text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1152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144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5056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632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10890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overhead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1.25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1.25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6.9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6.9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63863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4BBA983-1173-2F09-877A-8DB8D41A3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0956" y="-4472214"/>
            <a:ext cx="8690090" cy="4302445"/>
          </a:xfrm>
          <a:prstGeom prst="rect">
            <a:avLst/>
          </a:prstGeom>
        </p:spPr>
      </p:pic>
      <p:pic>
        <p:nvPicPr>
          <p:cNvPr id="6" name="Picture 5" descr="A graph of a graph of a number of individuals&#10;&#10;AI-generated content may be incorrect.">
            <a:extLst>
              <a:ext uri="{FF2B5EF4-FFF2-40B4-BE49-F238E27FC236}">
                <a16:creationId xmlns:a16="http://schemas.microsoft.com/office/drawing/2014/main" id="{57E11853-A489-45A9-50E5-B673919321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4" y="-4480292"/>
            <a:ext cx="8690090" cy="430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21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5F20-152C-521C-26FB-E4404582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F2B7C0-89A2-437E-33D3-55B0F2D3F7DB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5FC775-94F5-6662-53AF-791A5CD7BEF5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EC88AA4-2618-A7FF-3E73-C7896D31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3CD9DF50-8CB8-4769-9367-66BAA211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E57B4F30-C200-12A4-A461-A120C35E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32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40619B-4CCB-B655-CE51-89BD94C5AFE1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10. Conclusion (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Summary</a:t>
            </a: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878E6F-4A5B-A509-6095-0743D3224628}"/>
              </a:ext>
            </a:extLst>
          </p:cNvPr>
          <p:cNvCxnSpPr>
            <a:cxnSpLocks/>
          </p:cNvCxnSpPr>
          <p:nvPr/>
        </p:nvCxnSpPr>
        <p:spPr>
          <a:xfrm flipH="1">
            <a:off x="4500770" y="15924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0B060998-2734-E5C7-085C-85E76E942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A7072391-C7F1-1C2C-295F-0AEE892DE1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867A3B9-07F2-F1D0-953F-6136E6FBF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55405"/>
              </p:ext>
            </p:extLst>
          </p:nvPr>
        </p:nvGraphicFramePr>
        <p:xfrm>
          <a:off x="709089" y="1943099"/>
          <a:ext cx="10773822" cy="348052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3459">
                  <a:extLst>
                    <a:ext uri="{9D8B030D-6E8A-4147-A177-3AD203B41FA5}">
                      <a16:colId xmlns:a16="http://schemas.microsoft.com/office/drawing/2014/main" val="2502290087"/>
                    </a:ext>
                  </a:extLst>
                </a:gridCol>
                <a:gridCol w="4144686">
                  <a:extLst>
                    <a:ext uri="{9D8B030D-6E8A-4147-A177-3AD203B41FA5}">
                      <a16:colId xmlns:a16="http://schemas.microsoft.com/office/drawing/2014/main" val="3172256330"/>
                    </a:ext>
                  </a:extLst>
                </a:gridCol>
                <a:gridCol w="4375677">
                  <a:extLst>
                    <a:ext uri="{9D8B030D-6E8A-4147-A177-3AD203B41FA5}">
                      <a16:colId xmlns:a16="http://schemas.microsoft.com/office/drawing/2014/main" val="2774425675"/>
                    </a:ext>
                  </a:extLst>
                </a:gridCol>
              </a:tblGrid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Feature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DF-KS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 CKKS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92185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Adversarial Model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Protects against honest-but-curious clients. If one client is compromised, the network remains secure.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Protects against honest-but-curious clients. If one client is compromised, the network remains secure.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40308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Server Decryption Ability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Server cannot decrypt.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Server is allowed to decrypt.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02776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Homomorphism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Supports homomorphic operations.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Supports homomorphic operations.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054393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Decryption Requirement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Each client can decrypt independently (no need for all clients to be present).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All clients must be present to decrypt the weighted average.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29161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Resistance to Attacks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Not resistant to known plaintext–ciphertext attacks.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Immune against known plaintext–ciphertext attacks.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450423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Encryption Execution Time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More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Less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203341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Storage &amp; Communication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Lower overhead.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Higher overhead.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028539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Aggregation Execution Time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More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Less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158647"/>
                  </a:ext>
                </a:extLst>
              </a:tr>
              <a:tr h="57877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Client Participation Dependency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Each client decrypts independently; if one client is missing, encryption, decryption, and aggregation proceed normally.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Requires all clients’ key shares for decryption; if one client is missing, the scheme fails to function normally.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619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195AE50-F27F-0048-1968-6890BB2BA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837098"/>
              </p:ext>
            </p:extLst>
          </p:nvPr>
        </p:nvGraphicFramePr>
        <p:xfrm>
          <a:off x="1422787" y="-2171563"/>
          <a:ext cx="9346426" cy="1901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5028">
                  <a:extLst>
                    <a:ext uri="{9D8B030D-6E8A-4147-A177-3AD203B41FA5}">
                      <a16:colId xmlns:a16="http://schemas.microsoft.com/office/drawing/2014/main" val="2149675174"/>
                    </a:ext>
                  </a:extLst>
                </a:gridCol>
                <a:gridCol w="1559512">
                  <a:extLst>
                    <a:ext uri="{9D8B030D-6E8A-4147-A177-3AD203B41FA5}">
                      <a16:colId xmlns:a16="http://schemas.microsoft.com/office/drawing/2014/main" val="2229069217"/>
                    </a:ext>
                  </a:extLst>
                </a:gridCol>
                <a:gridCol w="1773044">
                  <a:extLst>
                    <a:ext uri="{9D8B030D-6E8A-4147-A177-3AD203B41FA5}">
                      <a16:colId xmlns:a16="http://schemas.microsoft.com/office/drawing/2014/main" val="2536371819"/>
                    </a:ext>
                  </a:extLst>
                </a:gridCol>
                <a:gridCol w="1859388">
                  <a:extLst>
                    <a:ext uri="{9D8B030D-6E8A-4147-A177-3AD203B41FA5}">
                      <a16:colId xmlns:a16="http://schemas.microsoft.com/office/drawing/2014/main" val="2187698452"/>
                    </a:ext>
                  </a:extLst>
                </a:gridCol>
                <a:gridCol w="2319454">
                  <a:extLst>
                    <a:ext uri="{9D8B030D-6E8A-4147-A177-3AD203B41FA5}">
                      <a16:colId xmlns:a16="http://schemas.microsoft.com/office/drawing/2014/main" val="155017962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DF_KS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XMK_CKKS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19863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bit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byte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bits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Size in Bytes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98537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plain text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512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64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640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80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0852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cipher text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1152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144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5056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632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10890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overhead</a:t>
                      </a:r>
                      <a:endParaRPr lang="en-US" sz="1600" dirty="0"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1.25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1.25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6.9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6.9</a:t>
                      </a:r>
                      <a:endParaRPr lang="en-US" sz="1600" dirty="0"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63863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C16197F-ACBB-FAA2-72BB-C2F9144F5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89704"/>
              </p:ext>
            </p:extLst>
          </p:nvPr>
        </p:nvGraphicFramePr>
        <p:xfrm>
          <a:off x="1475798" y="7063802"/>
          <a:ext cx="9240405" cy="28178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46382">
                  <a:extLst>
                    <a:ext uri="{9D8B030D-6E8A-4147-A177-3AD203B41FA5}">
                      <a16:colId xmlns:a16="http://schemas.microsoft.com/office/drawing/2014/main" val="2385199005"/>
                    </a:ext>
                  </a:extLst>
                </a:gridCol>
                <a:gridCol w="3517323">
                  <a:extLst>
                    <a:ext uri="{9D8B030D-6E8A-4147-A177-3AD203B41FA5}">
                      <a16:colId xmlns:a16="http://schemas.microsoft.com/office/drawing/2014/main" val="813551274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126014200"/>
                    </a:ext>
                  </a:extLst>
                </a:gridCol>
              </a:tblGrid>
              <a:tr h="5018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Scheme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16887"/>
                  </a:ext>
                </a:extLst>
              </a:tr>
              <a:tr h="11580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</a:t>
                      </a:r>
                      <a:r>
                        <a:rPr lang="en-US" sz="2000" b="1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CKKS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on server side only</a:t>
                      </a:r>
                    </a:p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is not possible if one client is missing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Immune to plaintext/ciphertext couple attack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19863"/>
                  </a:ext>
                </a:extLst>
              </a:tr>
              <a:tr h="11580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DF-KS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Vulnerable</a:t>
                      </a: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to plaintext/ciphertext couple attack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happens on client side</a:t>
                      </a:r>
                    </a:p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If one client goes missing decryption remains possible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68473"/>
                  </a:ext>
                </a:extLst>
              </a:tr>
            </a:tbl>
          </a:graphicData>
        </a:graphic>
      </p:graphicFrame>
      <p:sp>
        <p:nvSpPr>
          <p:cNvPr id="23" name="Oval 22">
            <a:extLst>
              <a:ext uri="{FF2B5EF4-FFF2-40B4-BE49-F238E27FC236}">
                <a16:creationId xmlns:a16="http://schemas.microsoft.com/office/drawing/2014/main" id="{1D96E93C-24D8-695E-F733-2345A83327A2}"/>
              </a:ext>
            </a:extLst>
          </p:cNvPr>
          <p:cNvSpPr/>
          <p:nvPr/>
        </p:nvSpPr>
        <p:spPr>
          <a:xfrm>
            <a:off x="6639791" y="8647828"/>
            <a:ext cx="4076411" cy="1233849"/>
          </a:xfrm>
          <a:prstGeom prst="ellipse">
            <a:avLst/>
          </a:prstGeom>
          <a:noFill/>
          <a:ln>
            <a:solidFill>
              <a:srgbClr val="AB1D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59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24BF-7721-A2E1-9A27-1A10134A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10B91-68CA-A656-B51A-47FD87F5544B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C043F1-37D4-5BA6-C010-31D4413EB699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915DD2E2-FB99-3F62-98D8-6718A5FA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8C45BE81-F818-CD95-5F2D-1AA5AD22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79E533FA-811F-F895-C16E-5889577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33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407CF9-9993-5CC7-BB1E-BC077150A0A1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10. Conclusion (</a:t>
            </a:r>
            <a:r>
              <a:rPr lang="fr-FR" sz="4400" b="1" dirty="0" err="1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Summary</a:t>
            </a: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025A1-8794-360C-93F3-7FA96171FD71}"/>
              </a:ext>
            </a:extLst>
          </p:cNvPr>
          <p:cNvCxnSpPr>
            <a:cxnSpLocks/>
          </p:cNvCxnSpPr>
          <p:nvPr/>
        </p:nvCxnSpPr>
        <p:spPr>
          <a:xfrm flipH="1">
            <a:off x="4500770" y="15924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2A05CDFF-45EC-38AA-AD90-050260388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06F70A63-ABBE-C404-B0CC-D60234910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422B37-26A9-59B1-F338-177216153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05822"/>
              </p:ext>
            </p:extLst>
          </p:nvPr>
        </p:nvGraphicFramePr>
        <p:xfrm>
          <a:off x="1475798" y="2020063"/>
          <a:ext cx="9240405" cy="28178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46382">
                  <a:extLst>
                    <a:ext uri="{9D8B030D-6E8A-4147-A177-3AD203B41FA5}">
                      <a16:colId xmlns:a16="http://schemas.microsoft.com/office/drawing/2014/main" val="2385199005"/>
                    </a:ext>
                  </a:extLst>
                </a:gridCol>
                <a:gridCol w="3517323">
                  <a:extLst>
                    <a:ext uri="{9D8B030D-6E8A-4147-A177-3AD203B41FA5}">
                      <a16:colId xmlns:a16="http://schemas.microsoft.com/office/drawing/2014/main" val="813551274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126014200"/>
                    </a:ext>
                  </a:extLst>
                </a:gridCol>
              </a:tblGrid>
              <a:tr h="5018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Scheme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16887"/>
                  </a:ext>
                </a:extLst>
              </a:tr>
              <a:tr h="11580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</a:t>
                      </a:r>
                      <a:r>
                        <a:rPr lang="en-US" sz="2000" b="1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CKKS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on server side only</a:t>
                      </a:r>
                    </a:p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is not possible if one client is missing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Immune to plaintext/ciphertext couple attack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19863"/>
                  </a:ext>
                </a:extLst>
              </a:tr>
              <a:tr h="11580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DF-KS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Vulnerable</a:t>
                      </a: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to plaintext/ciphertext couple attack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Decryption happens on client side</a:t>
                      </a:r>
                    </a:p>
                    <a:p>
                      <a:pPr marL="285750" indent="-285750" algn="ctr">
                        <a:buClr>
                          <a:srgbClr val="AB1D38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If one client goes missing decryption remains possible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684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0B08DAF-9898-B27A-8FC1-DA383546D5CD}"/>
              </a:ext>
            </a:extLst>
          </p:cNvPr>
          <p:cNvSpPr txBox="1"/>
          <p:nvPr/>
        </p:nvSpPr>
        <p:spPr>
          <a:xfrm>
            <a:off x="2805770" y="5043146"/>
            <a:ext cx="658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DF-KS has in addition lower overhead and lower execution time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F40DFE-485A-23A5-B630-9A3C85903EBE}"/>
              </a:ext>
            </a:extLst>
          </p:cNvPr>
          <p:cNvSpPr/>
          <p:nvPr/>
        </p:nvSpPr>
        <p:spPr>
          <a:xfrm>
            <a:off x="6639791" y="3604089"/>
            <a:ext cx="4076411" cy="1233849"/>
          </a:xfrm>
          <a:prstGeom prst="ellipse">
            <a:avLst/>
          </a:prstGeom>
          <a:noFill/>
          <a:ln>
            <a:solidFill>
              <a:srgbClr val="AB1D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BC4D98-545D-137A-80C4-A4E004994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24876"/>
              </p:ext>
            </p:extLst>
          </p:nvPr>
        </p:nvGraphicFramePr>
        <p:xfrm>
          <a:off x="709089" y="-3694309"/>
          <a:ext cx="10773822" cy="3480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3459">
                  <a:extLst>
                    <a:ext uri="{9D8B030D-6E8A-4147-A177-3AD203B41FA5}">
                      <a16:colId xmlns:a16="http://schemas.microsoft.com/office/drawing/2014/main" val="2502290087"/>
                    </a:ext>
                  </a:extLst>
                </a:gridCol>
                <a:gridCol w="4144686">
                  <a:extLst>
                    <a:ext uri="{9D8B030D-6E8A-4147-A177-3AD203B41FA5}">
                      <a16:colId xmlns:a16="http://schemas.microsoft.com/office/drawing/2014/main" val="3172256330"/>
                    </a:ext>
                  </a:extLst>
                </a:gridCol>
                <a:gridCol w="4375677">
                  <a:extLst>
                    <a:ext uri="{9D8B030D-6E8A-4147-A177-3AD203B41FA5}">
                      <a16:colId xmlns:a16="http://schemas.microsoft.com/office/drawing/2014/main" val="2774425675"/>
                    </a:ext>
                  </a:extLst>
                </a:gridCol>
              </a:tblGrid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Feature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DF-KS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xMK CKKS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1D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92185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Adversarial Model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Protects against honest-but-curious clients. If one client is compromised, the network remains secure.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Protects against honest-but-curious clients. If one client is compromised, the network remains secure.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540308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Server Decryption Ability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Server cannot decrypt.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Server is allowed to decrypt.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4702776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Homomorphism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Supports homomorphic operations.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Supports homomorphic operations.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7054393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Decryption Requirement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Each client can decrypt independently (no need for all clients to be present).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All clients must be present to decrypt the weighted average.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829161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Resistance to Attacks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Not resistant to known plaintext–ciphertext attacks.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Immune against known plaintext–ciphertext attacks.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9450423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Encryption Execution Time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More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Less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1203341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Storage &amp; Communication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Lower overhead.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Higher overhead.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1028539"/>
                  </a:ext>
                </a:extLst>
              </a:tr>
              <a:tr h="29530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Aggregation Execution Time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More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Less efficient.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158647"/>
                  </a:ext>
                </a:extLst>
              </a:tr>
              <a:tr h="578772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Client Participation Dependency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Each client decrypts independently; if one client is missing, encryption, decryption, and aggregation proceed normally.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Requires all clients’ key shares for decryption; if one client is missing, the scheme fails to function normally.</a:t>
                      </a:r>
                    </a:p>
                  </a:txBody>
                  <a:tcPr marL="4367" marR="4367" marT="4367" marB="0" anchor="ctr">
                    <a:lnL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35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087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6552-46A5-AC6F-5835-F571DA74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EF3104-75F6-DF58-9D10-521E3E841C99}"/>
              </a:ext>
            </a:extLst>
          </p:cNvPr>
          <p:cNvSpPr/>
          <p:nvPr/>
        </p:nvSpPr>
        <p:spPr>
          <a:xfrm>
            <a:off x="0" y="8467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AA8F66-D386-F777-A632-52FA8EBA874D}"/>
              </a:ext>
            </a:extLst>
          </p:cNvPr>
          <p:cNvSpPr/>
          <p:nvPr/>
        </p:nvSpPr>
        <p:spPr>
          <a:xfrm>
            <a:off x="9980818" y="0"/>
            <a:ext cx="2211182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70DEDCBB-2360-1083-AED5-44634CDC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4357449-F097-C09F-AB6E-7FA987AA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7" name="Slide Number Placeholder 11">
            <a:extLst>
              <a:ext uri="{FF2B5EF4-FFF2-40B4-BE49-F238E27FC236}">
                <a16:creationId xmlns:a16="http://schemas.microsoft.com/office/drawing/2014/main" id="{77587AC1-6698-C75B-1CAD-2010AF3B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34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6EE7CE-0599-9E68-6F77-17D661BFF9E9}"/>
              </a:ext>
            </a:extLst>
          </p:cNvPr>
          <p:cNvSpPr/>
          <p:nvPr/>
        </p:nvSpPr>
        <p:spPr>
          <a:xfrm>
            <a:off x="3131959" y="3789"/>
            <a:ext cx="5928082" cy="138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10. Conclusion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400" b="1" dirty="0">
                <a:solidFill>
                  <a:srgbClr val="212D6A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(Future Works)</a:t>
            </a:r>
            <a:endParaRPr lang="en-US" sz="4800" b="1" dirty="0">
              <a:solidFill>
                <a:srgbClr val="212D6A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A5EBCD-3420-757E-87D7-35615D84670F}"/>
              </a:ext>
            </a:extLst>
          </p:cNvPr>
          <p:cNvCxnSpPr>
            <a:cxnSpLocks/>
          </p:cNvCxnSpPr>
          <p:nvPr/>
        </p:nvCxnSpPr>
        <p:spPr>
          <a:xfrm flipH="1">
            <a:off x="4500770" y="1592492"/>
            <a:ext cx="3190460" cy="0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undefined">
            <a:extLst>
              <a:ext uri="{FF2B5EF4-FFF2-40B4-BE49-F238E27FC236}">
                <a16:creationId xmlns:a16="http://schemas.microsoft.com/office/drawing/2014/main" id="{84E7C4D5-D86B-6708-7859-56A268558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98" y="143605"/>
            <a:ext cx="1099570" cy="57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8E8D14D1-19C9-F970-F0F8-10A3DA32D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0654" cy="7140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F88C90-1C2E-5778-A37F-6C63D392C0B7}"/>
              </a:ext>
            </a:extLst>
          </p:cNvPr>
          <p:cNvSpPr/>
          <p:nvPr/>
        </p:nvSpPr>
        <p:spPr>
          <a:xfrm>
            <a:off x="1228617" y="3893103"/>
            <a:ext cx="6666445" cy="365125"/>
          </a:xfrm>
          <a:prstGeom prst="rect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Study and implement CKKS with KS scheme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5473C-E973-DDAE-64E9-0798BA799EC9}"/>
              </a:ext>
            </a:extLst>
          </p:cNvPr>
          <p:cNvSpPr/>
          <p:nvPr/>
        </p:nvSpPr>
        <p:spPr>
          <a:xfrm>
            <a:off x="1228617" y="2417210"/>
            <a:ext cx="6666445" cy="365125"/>
          </a:xfrm>
          <a:prstGeom prst="rect">
            <a:avLst/>
          </a:prstGeom>
          <a:solidFill>
            <a:srgbClr val="212D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Use larger dataset with a neural network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A55A54-B25E-0E92-0276-3CE4C493F11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895062" y="2599772"/>
            <a:ext cx="385908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601BAB-50C7-E486-69A6-769AE81F2E7F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7895062" y="4075665"/>
            <a:ext cx="385908" cy="1"/>
          </a:xfrm>
          <a:prstGeom prst="straightConnector1">
            <a:avLst/>
          </a:prstGeom>
          <a:ln w="12700">
            <a:solidFill>
              <a:srgbClr val="AB1D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7A9B4B-042E-E55A-D7D3-ED2815614B9F}"/>
              </a:ext>
            </a:extLst>
          </p:cNvPr>
          <p:cNvSpPr txBox="1"/>
          <p:nvPr/>
        </p:nvSpPr>
        <p:spPr>
          <a:xfrm>
            <a:off x="8280970" y="2138107"/>
            <a:ext cx="1944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Instead of logistic regression with PIMA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1C4CC-9A28-0114-109A-2E3788A7FD7E}"/>
              </a:ext>
            </a:extLst>
          </p:cNvPr>
          <p:cNvSpPr txBox="1"/>
          <p:nvPr/>
        </p:nvSpPr>
        <p:spPr>
          <a:xfrm>
            <a:off x="8280970" y="3752499"/>
            <a:ext cx="1944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2D6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Instead of DF-KS scheme</a:t>
            </a:r>
          </a:p>
        </p:txBody>
      </p:sp>
    </p:spTree>
    <p:extLst>
      <p:ext uri="{BB962C8B-B14F-4D97-AF65-F5344CB8AC3E}">
        <p14:creationId xmlns:p14="http://schemas.microsoft.com/office/powerpoint/2010/main" val="3951605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F58D-079B-1027-037A-E732BE89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88E2C5-99FC-C1D0-254B-0FB320D0A9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3810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GB" dirty="0">
              <a:solidFill>
                <a:srgbClr val="D1D1D1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EA9D71-31AF-E00B-8FDF-DDAB48BBB529}"/>
              </a:ext>
            </a:extLst>
          </p:cNvPr>
          <p:cNvSpPr/>
          <p:nvPr/>
        </p:nvSpPr>
        <p:spPr>
          <a:xfrm>
            <a:off x="9260847" y="0"/>
            <a:ext cx="2931153" cy="6858000"/>
          </a:xfrm>
          <a:prstGeom prst="rect">
            <a:avLst/>
          </a:prstGeom>
          <a:gradFill>
            <a:gsLst>
              <a:gs pos="0">
                <a:srgbClr val="E6E6E6"/>
              </a:gs>
              <a:gs pos="100000">
                <a:srgbClr val="212D6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0BB14-4332-69F4-6898-CBDE973E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6204-28F5-444C-8154-E002A576A420}" type="datetime1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12/21/2025</a:t>
            </a:fld>
            <a:endParaRPr lang="en-GB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C5A2D-741A-9DC3-4554-07AC3F5B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AB1D38"/>
                </a:solidFill>
                <a:latin typeface="Lato ExtraBold" panose="020F0502020204030204" pitchFamily="34" charset="0"/>
                <a:ea typeface="Lato ExtraBold" panose="020F0502020204030204" pitchFamily="34" charset="0"/>
                <a:cs typeface="Lato ExtraBold" panose="020F0502020204030204" pitchFamily="34" charset="0"/>
              </a:rPr>
              <a:t>Key switchable HE for FL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8F08BBB-8FAB-D8D3-C9DC-C328FCE9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9E849-A344-4026-A8F6-1F4993DF7FB9}" type="slidenum">
              <a:rPr lang="en-US" smtClean="0">
                <a:solidFill>
                  <a:srgbClr val="AB1D38"/>
                </a:solidFill>
                <a:latin typeface="Lato ExtraBold" panose="020F0502020204030203" pitchFamily="34" charset="0"/>
                <a:ea typeface="Lato ExtraBold" panose="020F0502020204030203" pitchFamily="34" charset="0"/>
                <a:cs typeface="Lato ExtraBold" panose="020F0502020204030203" pitchFamily="34" charset="0"/>
              </a:rPr>
              <a:t>35</a:t>
            </a:fld>
            <a:endParaRPr lang="en-US" dirty="0">
              <a:solidFill>
                <a:srgbClr val="AB1D38"/>
              </a:solidFill>
              <a:latin typeface="Lato ExtraBold" panose="020F0502020204030203" pitchFamily="34" charset="0"/>
              <a:ea typeface="Lato ExtraBold" panose="020F0502020204030203" pitchFamily="34" charset="0"/>
              <a:cs typeface="Lato ExtraBold" panose="020F0502020204030203" pitchFamily="34" charset="0"/>
            </a:endParaRPr>
          </a:p>
        </p:txBody>
      </p:sp>
      <p:pic>
        <p:nvPicPr>
          <p:cNvPr id="14" name="Picture 13" descr="Logo, company name&#10;&#10;Description automatically generated">
            <a:extLst>
              <a:ext uri="{FF2B5EF4-FFF2-40B4-BE49-F238E27FC236}">
                <a16:creationId xmlns:a16="http://schemas.microsoft.com/office/drawing/2014/main" id="{1CCA2FAC-DF8C-5880-03F6-8102D3C9B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15064" cy="905151"/>
          </a:xfrm>
          <a:prstGeom prst="rect">
            <a:avLst/>
          </a:prstGeom>
        </p:spPr>
      </p:pic>
      <p:pic>
        <p:nvPicPr>
          <p:cNvPr id="17" name="Picture 2" descr="undefined">
            <a:extLst>
              <a:ext uri="{FF2B5EF4-FFF2-40B4-BE49-F238E27FC236}">
                <a16:creationId xmlns:a16="http://schemas.microsoft.com/office/drawing/2014/main" id="{D7390871-4C2C-8007-2F86-2A88936A6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49" y="143605"/>
            <a:ext cx="1510654" cy="78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E0E881-B025-D3B8-CBDC-C3AF6C730D59}"/>
              </a:ext>
            </a:extLst>
          </p:cNvPr>
          <p:cNvSpPr txBox="1"/>
          <p:nvPr/>
        </p:nvSpPr>
        <p:spPr>
          <a:xfrm>
            <a:off x="-7" y="3050578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kumimoji="0" lang="en-GB" sz="4800" b="1" i="0" u="none" strike="noStrike" kern="1200" cap="none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212D6A"/>
              </a:solidFill>
              <a:effectLst/>
              <a:uLnTx/>
              <a:uFillTx/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91A084-F825-1D97-36C3-A6BD07AEDC8A}"/>
              </a:ext>
            </a:extLst>
          </p:cNvPr>
          <p:cNvCxnSpPr>
            <a:cxnSpLocks/>
          </p:cNvCxnSpPr>
          <p:nvPr/>
        </p:nvCxnSpPr>
        <p:spPr>
          <a:xfrm flipV="1">
            <a:off x="6095997" y="1984513"/>
            <a:ext cx="0" cy="3008245"/>
          </a:xfrm>
          <a:prstGeom prst="line">
            <a:avLst/>
          </a:prstGeom>
          <a:ln w="38100">
            <a:solidFill>
              <a:srgbClr val="AB1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F813AC-1FD2-F2E7-B322-ADE079706903}"/>
              </a:ext>
            </a:extLst>
          </p:cNvPr>
          <p:cNvSpPr txBox="1"/>
          <p:nvPr/>
        </p:nvSpPr>
        <p:spPr>
          <a:xfrm>
            <a:off x="6096001" y="3013501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kumimoji="0" lang="en-GB" sz="4800" b="1" i="0" u="none" strike="noStrike" kern="1200" cap="none" normalizeH="0" baseline="0" noProof="0" dirty="0">
                <a:ln>
                  <a:noFill/>
                </a:ln>
                <a:solidFill>
                  <a:srgbClr val="212D6A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Q&amp;A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212D6A"/>
              </a:solidFill>
              <a:effectLst/>
              <a:uLnTx/>
              <a:uFillTx/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208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3230</TotalTime>
  <Words>2823</Words>
  <Application>Microsoft Office PowerPoint</Application>
  <PresentationFormat>Widescreen</PresentationFormat>
  <Paragraphs>702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Cambria Math</vt:lpstr>
      <vt:lpstr>Lato Black</vt:lpstr>
      <vt:lpstr>Lato ExtraBold</vt:lpstr>
      <vt:lpstr>Lato Light</vt:lpstr>
      <vt:lpstr>Open Sans Light</vt:lpstr>
      <vt:lpstr>Tahoma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Strengthening Privacy in Federated Learning via Key-Switchable Homomorphic Encryption</dc:title>
  <dc:creator>Mohamad Ibrahim</dc:creator>
  <cp:lastModifiedBy>Mohamad Ibrahim</cp:lastModifiedBy>
  <cp:revision>125</cp:revision>
  <dcterms:created xsi:type="dcterms:W3CDTF">2025-11-17T08:12:27Z</dcterms:created>
  <dcterms:modified xsi:type="dcterms:W3CDTF">2025-12-21T21:00:23Z</dcterms:modified>
</cp:coreProperties>
</file>